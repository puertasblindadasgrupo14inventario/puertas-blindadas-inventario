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MgnA+SQST4JRuUm9zKltAADG/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5" name="Google Shape;145;p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47" name="Google Shape;147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7" name="Google Shape;167;p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69" name="Google Shape;169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d24f3253_0_2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8d24f3253_0_2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7" name="Google Shape;187;g3f8d24f3253_0_29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f8d24f3253_0_2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89" name="Google Shape;189;g3f8d24f3253_0_2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8d24f3253_0_2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6" name="Google Shape;206;p5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08" name="Google Shape;208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6" name="Google Shape;226;p6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28" name="Google Shape;228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8d24f3253_0_7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8d24f3253_0_7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5" name="Google Shape;245;g3f8d24f3253_0_76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f8d24f3253_0_7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47" name="Google Shape;247;g3f8d24f3253_0_7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8d24f3253_0_7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4" name="Google Shape;264;p7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66" name="Google Shape;266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7" name="Google Shape;287;p8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89" name="Google Shape;289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9" name="Google Shape;309;p10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11" name="Google Shape;311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8d270b6c3_0_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f8d270b6c3_0_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1" name="Google Shape;331;g3f8d270b6c3_0_3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f8d270b6c3_0_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33" name="Google Shape;333;g3f8d270b6c3_0_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8d270b6c3_0_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51" name="Google Shape;351;p1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53" name="Google Shape;353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4" name="Google Shape;374;p1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76" name="Google Shape;376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96" name="Google Shape;396;p1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98" name="Google Shape;398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h4323cbb8aa639dca_0_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h4323cbb8aa639dca_0_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8" name="Google Shape;418;h4323cbb8aa639dca_0_6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h4323cbb8aa639dca_0_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20" name="Google Shape;420;h4323cbb8aa639dca_0_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h4323cbb8aa639dca_0_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40" name="Google Shape;440;p1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42" name="Google Shape;442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63" name="Google Shape;463;p15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65" name="Google Shape;465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8d270b6c3_0_3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f8d270b6c3_0_3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85" name="Google Shape;485;g3f8d270b6c3_0_35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f8d270b6c3_0_3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87" name="Google Shape;487;g3f8d270b6c3_0_3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f8d270b6c3_0_3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h4323cbb8aa639dca_0_3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h4323cbb8aa639dca_0_3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07" name="Google Shape;507;h4323cbb8aa639dca_0_30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h4323cbb8aa639dca_0_3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509" name="Google Shape;509;h4323cbb8aa639dca_0_3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h4323cbb8aa639dca_0_3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29" name="Google Shape;529;p2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531" name="Google Shape;531;p2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-22222" y="-22222"/>
            <a:ext cx="373666" cy="10331483"/>
          </a:xfrm>
          <a:custGeom>
            <a:rect b="b" l="l" r="r" t="t"/>
            <a:pathLst>
              <a:path extrusionOk="0" h="13775310" w="498221">
                <a:moveTo>
                  <a:pt x="0" y="0"/>
                </a:moveTo>
                <a:lnTo>
                  <a:pt x="498221" y="0"/>
                </a:lnTo>
                <a:lnTo>
                  <a:pt x="498221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914400" y="1005840"/>
            <a:ext cx="14264640" cy="640080"/>
          </a:xfrm>
          <a:custGeom>
            <a:rect b="b" l="l" r="r" t="t"/>
            <a:pathLst>
              <a:path extrusionOk="0" h="853440" w="19019520">
                <a:moveTo>
                  <a:pt x="0" y="0"/>
                </a:moveTo>
                <a:lnTo>
                  <a:pt x="19019520" y="0"/>
                </a:lnTo>
                <a:lnTo>
                  <a:pt x="19019520" y="853440"/>
                </a:lnTo>
                <a:lnTo>
                  <a:pt x="0" y="8534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83952" l="0" r="0" t="-38395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914400" y="934402"/>
            <a:ext cx="14264640" cy="711518"/>
            <a:chOff x="0" y="-47625"/>
            <a:chExt cx="19019520" cy="948690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9019520" cy="901065"/>
            </a:xfrm>
            <a:custGeom>
              <a:rect b="b" l="l" r="r" t="t"/>
              <a:pathLst>
                <a:path extrusionOk="0" h="90106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01065"/>
                  </a:lnTo>
                  <a:lnTo>
                    <a:pt x="0" y="9010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61320" l="0" r="0" t="-36132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19019520" cy="948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SISTEMA DE INVENTARIO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1"/>
          <p:cNvSpPr/>
          <p:nvPr/>
        </p:nvSpPr>
        <p:spPr>
          <a:xfrm>
            <a:off x="914400" y="1828800"/>
            <a:ext cx="14264640" cy="4389120"/>
          </a:xfrm>
          <a:custGeom>
            <a:rect b="b" l="l" r="r" t="t"/>
            <a:pathLst>
              <a:path extrusionOk="0" h="5852160" w="19019520">
                <a:moveTo>
                  <a:pt x="0" y="0"/>
                </a:moveTo>
                <a:lnTo>
                  <a:pt x="19019520" y="0"/>
                </a:lnTo>
                <a:lnTo>
                  <a:pt x="19019520" y="5852160"/>
                </a:lnTo>
                <a:lnTo>
                  <a:pt x="0" y="585216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3282" l="0" r="0" t="-132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914400" y="1585912"/>
            <a:ext cx="14264640" cy="4632008"/>
            <a:chOff x="0" y="-161925"/>
            <a:chExt cx="19019520" cy="6176010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19019520" cy="6014085"/>
            </a:xfrm>
            <a:custGeom>
              <a:rect b="b" l="l" r="r" t="t"/>
              <a:pathLst>
                <a:path extrusionOk="0" h="601408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014085"/>
                  </a:lnTo>
                  <a:lnTo>
                    <a:pt x="0" y="601408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620" l="0" r="0" t="-1162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161925"/>
              <a:ext cx="19019520" cy="61760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PROYECTO INGENIERÍA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 SOFTWARE II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INCREMENTO </a:t>
              </a:r>
              <a:r>
                <a:rPr b="1" lang="en-US" sz="8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GRUPO 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1"/>
          <p:cNvSpPr/>
          <p:nvPr/>
        </p:nvSpPr>
        <p:spPr>
          <a:xfrm>
            <a:off x="917581" y="5916235"/>
            <a:ext cx="8274082" cy="117634"/>
          </a:xfrm>
          <a:custGeom>
            <a:rect b="b" l="l" r="r" t="t"/>
            <a:pathLst>
              <a:path extrusionOk="0" h="156845" w="11032109">
                <a:moveTo>
                  <a:pt x="0" y="0"/>
                </a:moveTo>
                <a:lnTo>
                  <a:pt x="11032109" y="0"/>
                </a:lnTo>
                <a:lnTo>
                  <a:pt x="11032109" y="156845"/>
                </a:lnTo>
                <a:lnTo>
                  <a:pt x="0" y="156845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914400" y="6583680"/>
            <a:ext cx="8229600" cy="548640"/>
          </a:xfrm>
          <a:custGeom>
            <a:rect b="b" l="l" r="r" t="t"/>
            <a:pathLst>
              <a:path extrusionOk="0" h="731520" w="10972800">
                <a:moveTo>
                  <a:pt x="0" y="0"/>
                </a:moveTo>
                <a:lnTo>
                  <a:pt x="10972800" y="0"/>
                </a:lnTo>
                <a:lnTo>
                  <a:pt x="1097280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42070" l="0" r="0" t="-2420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1"/>
          <p:cNvGrpSpPr/>
          <p:nvPr/>
        </p:nvGrpSpPr>
        <p:grpSpPr>
          <a:xfrm>
            <a:off x="914400" y="6512242"/>
            <a:ext cx="8229600" cy="620078"/>
            <a:chOff x="0" y="-47625"/>
            <a:chExt cx="10972800" cy="82677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0972800" cy="779145"/>
            </a:xfrm>
            <a:custGeom>
              <a:rect b="b" l="l" r="r" t="t"/>
              <a:pathLst>
                <a:path extrusionOk="0" h="7791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9145"/>
                  </a:lnTo>
                  <a:lnTo>
                    <a:pt x="0" y="7791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24424" l="0" r="0" t="-2244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0972800" cy="826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Autores: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1"/>
          <p:cNvSpPr/>
          <p:nvPr/>
        </p:nvSpPr>
        <p:spPr>
          <a:xfrm>
            <a:off x="914400" y="7132320"/>
            <a:ext cx="8229600" cy="2377440"/>
          </a:xfrm>
          <a:custGeom>
            <a:rect b="b" l="l" r="r" t="t"/>
            <a:pathLst>
              <a:path extrusionOk="0" h="3169920" w="10972800">
                <a:moveTo>
                  <a:pt x="0" y="0"/>
                </a:moveTo>
                <a:lnTo>
                  <a:pt x="10972800" y="0"/>
                </a:lnTo>
                <a:lnTo>
                  <a:pt x="10972800" y="3169920"/>
                </a:lnTo>
                <a:lnTo>
                  <a:pt x="0" y="31699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7402" l="0" r="0" t="-174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1"/>
          <p:cNvGrpSpPr/>
          <p:nvPr/>
        </p:nvGrpSpPr>
        <p:grpSpPr>
          <a:xfrm>
            <a:off x="914400" y="7060882"/>
            <a:ext cx="8229600" cy="2448878"/>
            <a:chOff x="0" y="-47625"/>
            <a:chExt cx="10972800" cy="3265170"/>
          </a:xfrm>
        </p:grpSpPr>
        <p:sp>
          <p:nvSpPr>
            <p:cNvPr id="108" name="Google Shape;108;p1"/>
            <p:cNvSpPr/>
            <p:nvPr/>
          </p:nvSpPr>
          <p:spPr>
            <a:xfrm>
              <a:off x="0" y="0"/>
              <a:ext cx="10972800" cy="3217545"/>
            </a:xfrm>
            <a:custGeom>
              <a:rect b="b" l="l" r="r" t="t"/>
              <a:pathLst>
                <a:path extrusionOk="0" h="32175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17545"/>
                  </a:lnTo>
                  <a:lnTo>
                    <a:pt x="0" y="32175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449" l="0" r="0" t="-1644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0" y="-47625"/>
              <a:ext cx="10972800" cy="3265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Sofia Isidora Cariñe Valenzuela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Jhoe Eduardo Castillo Barrios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Karla Aylin Curín Navarro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Omar Adolfo Olmos Hernández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Lenin Andrés Reyes Gómez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Silvio Alberto Villagra Labbé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"/>
          <p:cNvSpPr/>
          <p:nvPr/>
        </p:nvSpPr>
        <p:spPr>
          <a:xfrm>
            <a:off x="10058400" y="6583680"/>
            <a:ext cx="7680960" cy="1280160"/>
          </a:xfrm>
          <a:custGeom>
            <a:rect b="b" l="l" r="r" t="t"/>
            <a:pathLst>
              <a:path extrusionOk="0" h="1706880" w="10241280">
                <a:moveTo>
                  <a:pt x="0" y="0"/>
                </a:moveTo>
                <a:lnTo>
                  <a:pt x="10241280" y="0"/>
                </a:lnTo>
                <a:lnTo>
                  <a:pt x="10241280" y="1706880"/>
                </a:lnTo>
                <a:lnTo>
                  <a:pt x="0" y="17068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66828" l="0" r="0" t="-668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1"/>
          <p:cNvGrpSpPr/>
          <p:nvPr/>
        </p:nvGrpSpPr>
        <p:grpSpPr>
          <a:xfrm>
            <a:off x="10058400" y="6512242"/>
            <a:ext cx="7680960" cy="1351598"/>
            <a:chOff x="0" y="-47625"/>
            <a:chExt cx="10241280" cy="1802130"/>
          </a:xfrm>
        </p:grpSpPr>
        <p:sp>
          <p:nvSpPr>
            <p:cNvPr id="112" name="Google Shape;112;p1"/>
            <p:cNvSpPr/>
            <p:nvPr/>
          </p:nvSpPr>
          <p:spPr>
            <a:xfrm>
              <a:off x="0" y="0"/>
              <a:ext cx="10241280" cy="1754505"/>
            </a:xfrm>
            <a:custGeom>
              <a:rect b="b" l="l" r="r" t="t"/>
              <a:pathLst>
                <a:path extrusionOk="0" h="175450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4505"/>
                  </a:lnTo>
                  <a:lnTo>
                    <a:pt x="0" y="17545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3735" l="0" r="0" t="-6373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"/>
            <p:cNvSpPr txBox="1"/>
            <p:nvPr/>
          </p:nvSpPr>
          <p:spPr>
            <a:xfrm>
              <a:off x="0" y="-47625"/>
              <a:ext cx="10241280" cy="1802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Facultad de Ingeniería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Ingeniería de Software II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10058400" y="7955280"/>
            <a:ext cx="7680960" cy="640080"/>
          </a:xfrm>
          <a:custGeom>
            <a:rect b="b" l="l" r="r" t="t"/>
            <a:pathLst>
              <a:path extrusionOk="0" h="853440" w="10241280">
                <a:moveTo>
                  <a:pt x="0" y="0"/>
                </a:moveTo>
                <a:lnTo>
                  <a:pt x="10241280" y="0"/>
                </a:lnTo>
                <a:lnTo>
                  <a:pt x="10241280" y="853440"/>
                </a:lnTo>
                <a:lnTo>
                  <a:pt x="0" y="8534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83667" l="0" r="0" t="-1836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"/>
          <p:cNvGrpSpPr/>
          <p:nvPr/>
        </p:nvGrpSpPr>
        <p:grpSpPr>
          <a:xfrm>
            <a:off x="10058400" y="7883842"/>
            <a:ext cx="7680960" cy="711518"/>
            <a:chOff x="0" y="-47625"/>
            <a:chExt cx="10241280" cy="948690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10241280" cy="901065"/>
            </a:xfrm>
            <a:custGeom>
              <a:rect b="b" l="l" r="r" t="t"/>
              <a:pathLst>
                <a:path extrusionOk="0" h="90106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01065"/>
                  </a:lnTo>
                  <a:lnTo>
                    <a:pt x="0" y="9010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1454" l="0" r="0" t="-17145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0" y="-47625"/>
              <a:ext cx="10241280" cy="948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Profesor: </a:t>
              </a:r>
              <a:r>
                <a:rPr b="0" i="0" lang="en-US" sz="22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Paulo Quinsacara Jofré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1"/>
          <p:cNvSpPr/>
          <p:nvPr/>
        </p:nvSpPr>
        <p:spPr>
          <a:xfrm>
            <a:off x="10058400" y="8686800"/>
            <a:ext cx="7680960" cy="548640"/>
          </a:xfrm>
          <a:custGeom>
            <a:rect b="b" l="l" r="r" t="t"/>
            <a:pathLst>
              <a:path extrusionOk="0" h="731520" w="10241280">
                <a:moveTo>
                  <a:pt x="0" y="0"/>
                </a:moveTo>
                <a:lnTo>
                  <a:pt x="10241280" y="0"/>
                </a:lnTo>
                <a:lnTo>
                  <a:pt x="1024128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22598" l="0" r="0" t="-2225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"/>
          <p:cNvGrpSpPr/>
          <p:nvPr/>
        </p:nvGrpSpPr>
        <p:grpSpPr>
          <a:xfrm>
            <a:off x="10058400" y="8629650"/>
            <a:ext cx="7680960" cy="605790"/>
            <a:chOff x="0" y="-38100"/>
            <a:chExt cx="10241280" cy="807720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10241280" cy="769620"/>
            </a:xfrm>
            <a:custGeom>
              <a:rect b="b" l="l" r="r" t="t"/>
              <a:pathLst>
                <a:path extrusionOk="0" h="7696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69620"/>
                  </a:lnTo>
                  <a:lnTo>
                    <a:pt x="0" y="7696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9282" l="0" r="0" t="-2092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38100"/>
              <a:ext cx="10241280" cy="807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Santiago, Chile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1"/>
          <p:cNvSpPr/>
          <p:nvPr/>
        </p:nvSpPr>
        <p:spPr>
          <a:xfrm>
            <a:off x="927106" y="1572768"/>
            <a:ext cx="4102132" cy="619506"/>
          </a:xfrm>
          <a:custGeom>
            <a:rect b="b" l="l" r="r" t="t"/>
            <a:pathLst>
              <a:path extrusionOk="0" h="826008" w="5469509">
                <a:moveTo>
                  <a:pt x="0" y="0"/>
                </a:moveTo>
                <a:lnTo>
                  <a:pt x="5469509" y="0"/>
                </a:lnTo>
                <a:lnTo>
                  <a:pt x="5469509" y="826008"/>
                </a:lnTo>
                <a:lnTo>
                  <a:pt x="0" y="82600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8935" l="0" r="0" t="-789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927106" y="1472756"/>
            <a:ext cx="4102099" cy="719566"/>
            <a:chOff x="0" y="-66675"/>
            <a:chExt cx="5469464" cy="959421"/>
          </a:xfrm>
        </p:grpSpPr>
        <p:sp>
          <p:nvSpPr>
            <p:cNvPr id="124" name="Google Shape;124;p1"/>
            <p:cNvSpPr/>
            <p:nvPr/>
          </p:nvSpPr>
          <p:spPr>
            <a:xfrm>
              <a:off x="0" y="0"/>
              <a:ext cx="5469464" cy="892743"/>
            </a:xfrm>
            <a:custGeom>
              <a:rect b="b" l="l" r="r" t="t"/>
              <a:pathLst>
                <a:path extrusionOk="0" h="892743" w="5469464">
                  <a:moveTo>
                    <a:pt x="0" y="0"/>
                  </a:moveTo>
                  <a:lnTo>
                    <a:pt x="5469464" y="0"/>
                  </a:lnTo>
                  <a:lnTo>
                    <a:pt x="5469464" y="892743"/>
                  </a:lnTo>
                  <a:lnTo>
                    <a:pt x="0" y="89274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9377" l="0" r="0" t="-6937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"/>
            <p:cNvSpPr txBox="1"/>
            <p:nvPr/>
          </p:nvSpPr>
          <p:spPr>
            <a:xfrm>
              <a:off x="0" y="-66675"/>
              <a:ext cx="5469458" cy="9594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b="0" i="0" lang="en-US" sz="3099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Universidad Andrés Bello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"/>
          <p:cNvSpPr/>
          <p:nvPr/>
        </p:nvSpPr>
        <p:spPr>
          <a:xfrm>
            <a:off x="15760065" y="91430"/>
            <a:ext cx="2228278" cy="1874520"/>
          </a:xfrm>
          <a:custGeom>
            <a:rect b="b" l="l" r="r" t="t"/>
            <a:pathLst>
              <a:path extrusionOk="0" h="2499360" w="2971038">
                <a:moveTo>
                  <a:pt x="0" y="0"/>
                </a:moveTo>
                <a:lnTo>
                  <a:pt x="2971038" y="0"/>
                </a:lnTo>
                <a:lnTo>
                  <a:pt x="2971038" y="2499360"/>
                </a:lnTo>
                <a:lnTo>
                  <a:pt x="0" y="2499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49" l="0" r="0" t="-1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/>
          <p:nvPr/>
        </p:nvSpPr>
        <p:spPr>
          <a:xfrm>
            <a:off x="8208264" y="3715779"/>
            <a:ext cx="1871472" cy="1005840"/>
          </a:xfrm>
          <a:custGeom>
            <a:rect b="b" l="l" r="r" t="t"/>
            <a:pathLst>
              <a:path extrusionOk="0" h="1341120" w="2495296">
                <a:moveTo>
                  <a:pt x="0" y="0"/>
                </a:moveTo>
                <a:lnTo>
                  <a:pt x="2495296" y="0"/>
                </a:lnTo>
                <a:lnTo>
                  <a:pt x="2495296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0" l="-19005" r="-1900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2"/>
          <p:cNvGrpSpPr/>
          <p:nvPr/>
        </p:nvGrpSpPr>
        <p:grpSpPr>
          <a:xfrm>
            <a:off x="8208264" y="3601479"/>
            <a:ext cx="1871463" cy="1120140"/>
            <a:chOff x="0" y="-76200"/>
            <a:chExt cx="2495284" cy="1493520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2495284" cy="1417320"/>
            </a:xfrm>
            <a:custGeom>
              <a:rect b="b" l="l" r="r" t="t"/>
              <a:pathLst>
                <a:path extrusionOk="0" h="1417320" w="2495284">
                  <a:moveTo>
                    <a:pt x="0" y="0"/>
                  </a:moveTo>
                  <a:lnTo>
                    <a:pt x="2495284" y="0"/>
                  </a:lnTo>
                  <a:lnTo>
                    <a:pt x="2495284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22876" r="-2287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76200"/>
              <a:ext cx="2495283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Anexos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7955023" y="4593146"/>
            <a:ext cx="2378011" cy="148209"/>
          </a:xfrm>
          <a:custGeom>
            <a:rect b="b" l="l" r="r" t="t"/>
            <a:pathLst>
              <a:path extrusionOk="0" h="197612" w="3170682">
                <a:moveTo>
                  <a:pt x="0" y="0"/>
                </a:moveTo>
                <a:lnTo>
                  <a:pt x="3170682" y="0"/>
                </a:lnTo>
                <a:lnTo>
                  <a:pt x="3170682" y="197612"/>
                </a:lnTo>
                <a:lnTo>
                  <a:pt x="0" y="197612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" name="Google Shape;139;p2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40080" y="219456"/>
            <a:ext cx="17007840" cy="1005840"/>
          </a:xfrm>
          <a:custGeom>
            <a:rect b="b" l="l" r="r" t="t"/>
            <a:pathLst>
              <a:path extrusionOk="0" h="1341120" w="22677120">
                <a:moveTo>
                  <a:pt x="0" y="0"/>
                </a:moveTo>
                <a:lnTo>
                  <a:pt x="22677120" y="0"/>
                </a:lnTo>
                <a:lnTo>
                  <a:pt x="22677120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79251" l="0" r="0" t="-2792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3"/>
          <p:cNvGrpSpPr/>
          <p:nvPr/>
        </p:nvGrpSpPr>
        <p:grpSpPr>
          <a:xfrm>
            <a:off x="640080" y="105156"/>
            <a:ext cx="17007840" cy="1120140"/>
            <a:chOff x="0" y="-76200"/>
            <a:chExt cx="22677120" cy="1493520"/>
          </a:xfrm>
        </p:grpSpPr>
        <p:sp>
          <p:nvSpPr>
            <p:cNvPr id="154" name="Google Shape;154;p3"/>
            <p:cNvSpPr/>
            <p:nvPr/>
          </p:nvSpPr>
          <p:spPr>
            <a:xfrm>
              <a:off x="0" y="0"/>
              <a:ext cx="22677120" cy="1417320"/>
            </a:xfrm>
            <a:custGeom>
              <a:rect b="b" l="l" r="r" t="t"/>
              <a:pathLst>
                <a:path extrusionOk="0" h="14173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0" y="-76200"/>
              <a:ext cx="22677120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SQL-Tabla MATERIAL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3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3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158" name="Google Shape;158;p3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3"/>
          <p:cNvSpPr/>
          <p:nvPr/>
        </p:nvSpPr>
        <p:spPr>
          <a:xfrm>
            <a:off x="1014400" y="1148125"/>
            <a:ext cx="17074515" cy="8120063"/>
          </a:xfrm>
          <a:custGeom>
            <a:rect b="b" l="l" r="r" t="t"/>
            <a:pathLst>
              <a:path extrusionOk="0" h="9842500" w="22766020">
                <a:moveTo>
                  <a:pt x="0" y="0"/>
                </a:moveTo>
                <a:lnTo>
                  <a:pt x="22766020" y="0"/>
                </a:lnTo>
                <a:lnTo>
                  <a:pt x="22766020" y="9842500"/>
                </a:lnTo>
                <a:lnTo>
                  <a:pt x="0" y="9842500"/>
                </a:lnTo>
                <a:close/>
              </a:path>
            </a:pathLst>
          </a:custGeom>
          <a:solidFill>
            <a:srgbClr val="1E1E1E"/>
          </a:solidFill>
          <a:ln cap="sq" cmpd="sng" w="381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1608230" y="1399118"/>
            <a:ext cx="6308893" cy="6448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00BF63"/>
                </a:solidFill>
                <a:latin typeface="Calibri"/>
                <a:ea typeface="Calibri"/>
                <a:cs typeface="Calibri"/>
                <a:sym typeface="Calibri"/>
              </a:rPr>
              <a:t>-- Entidad central del inventario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38B6FF"/>
                </a:solidFill>
                <a:latin typeface="Calibri"/>
                <a:ea typeface="Calibri"/>
                <a:cs typeface="Calibri"/>
                <a:sym typeface="Calibri"/>
              </a:rPr>
              <a:t>CREATE TABLE material 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material_sku VARCHAR(16) NOT NULL,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-- SKU: 4-16 chars, único → satisface FR-01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material_nombre_material VARCHAR(200) NOT NULL,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material_descripcion TEXT,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material_material_critico BOOLEAN NOT NULL DEFAULT FALSE,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material_presentacion VARCHAR(150),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material_stock_critico NUMERIC(12,4),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material_stock_maximo NUMERIC(12,4),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material_stock_minimo NUMERIC(12,4),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material_es_rotativo BOOLEAN NOT NULL DEFAULT TRUE,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material_estado VARCHAR(50) NOT NULL,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8"/>
              <a:buFont typeface="Arial"/>
              <a:buNone/>
            </a:pPr>
            <a:r>
              <a:t/>
            </a:r>
            <a:endParaRPr b="1" i="0" sz="183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00BF63"/>
                </a:solidFill>
                <a:latin typeface="Calibri"/>
                <a:ea typeface="Calibri"/>
                <a:cs typeface="Calibri"/>
                <a:sym typeface="Calibri"/>
              </a:rPr>
              <a:t> -- FKs hacia catálogos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material_categoria_general_id_cat BIGINT,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material_categoria_funcional_id_cat BIGINT,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material_clasificacion_nivel_esp_id BIGINT,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material_unidad_medida_id BIGINT NOT NULL,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DE59"/>
                </a:solidFill>
                <a:latin typeface="Calibri"/>
                <a:ea typeface="Calibri"/>
                <a:cs typeface="Calibri"/>
                <a:sym typeface="Calibri"/>
              </a:rPr>
              <a:t> CONSTRAINT pk_material PRIMARY KEY (material_sku),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DE59"/>
                </a:solidFill>
                <a:latin typeface="Calibri"/>
                <a:ea typeface="Calibri"/>
                <a:cs typeface="Calibri"/>
                <a:sym typeface="Calibri"/>
              </a:rPr>
              <a:t> CONSTRAINT ck_material_sku_len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DE59"/>
                </a:solidFill>
                <a:latin typeface="Calibri"/>
                <a:ea typeface="Calibri"/>
                <a:cs typeface="Calibri"/>
                <a:sym typeface="Calibri"/>
              </a:rPr>
              <a:t> CHECK (length(material_sku) BETWEEN 4 AND 16)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7"/>
              <a:buFont typeface="Arial"/>
              <a:buNone/>
            </a:pPr>
            <a:r>
              <a:rPr b="1" i="0" lang="en-US" sz="1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11188132" y="1418168"/>
            <a:ext cx="4210764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00BF63"/>
                </a:solidFill>
                <a:latin typeface="Calibri"/>
                <a:ea typeface="Calibri"/>
                <a:cs typeface="Calibri"/>
                <a:sym typeface="Calibri"/>
              </a:rPr>
              <a:t>-- Claves foráneas de material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38B6FF"/>
                </a:solidFill>
                <a:latin typeface="Calibri"/>
                <a:ea typeface="Calibri"/>
                <a:cs typeface="Calibri"/>
                <a:sym typeface="Calibri"/>
              </a:rPr>
              <a:t>ALTER TABLE material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ADD CONSTRAINT fk_mat_cat_gen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FOREIGN KEY (...)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REFERENCES material_categoria_general,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ADD CONSTRAINT fk_mat_cat_func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FOREIGN KEY (...)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REFERENCES material_categoria_funcional,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ADD CONSTRAINT fk_mat_unidad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FOREIGN KEY (material_unidad_medida_id)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REFERENCES material_unidad_medida;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11152537" y="5385940"/>
            <a:ext cx="4245893" cy="200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b="1" i="0" lang="en-US" sz="1822" u="none" cap="none" strike="noStrike">
                <a:solidFill>
                  <a:srgbClr val="00BF63"/>
                </a:solidFill>
                <a:latin typeface="Calibri"/>
                <a:ea typeface="Calibri"/>
                <a:cs typeface="Calibri"/>
                <a:sym typeface="Calibri"/>
              </a:rPr>
              <a:t>-- Índices de material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b="1" i="0" lang="en-US" sz="182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INDEX idx_material_estado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b="1" i="0" lang="en-US" sz="182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ON material(material_estado);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b="1" i="0" lang="en-US" sz="182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INDEX idx_material_cat_gen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b="1" i="0" lang="en-US" sz="182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ON material(material_categoria_general...);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b="1" i="0" lang="en-US" sz="182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INDEX idx_material_unidad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b="1" i="0" lang="en-US" sz="182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ON material(material_unidad_medida...);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40080" y="219456"/>
            <a:ext cx="17007840" cy="1005840"/>
          </a:xfrm>
          <a:custGeom>
            <a:rect b="b" l="l" r="r" t="t"/>
            <a:pathLst>
              <a:path extrusionOk="0" h="1341120" w="22677120">
                <a:moveTo>
                  <a:pt x="0" y="0"/>
                </a:moveTo>
                <a:lnTo>
                  <a:pt x="22677120" y="0"/>
                </a:lnTo>
                <a:lnTo>
                  <a:pt x="22677120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79251" l="0" r="0" t="-2792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4"/>
          <p:cNvGrpSpPr/>
          <p:nvPr/>
        </p:nvGrpSpPr>
        <p:grpSpPr>
          <a:xfrm>
            <a:off x="640080" y="105156"/>
            <a:ext cx="17007840" cy="1120140"/>
            <a:chOff x="0" y="-76200"/>
            <a:chExt cx="22677120" cy="1493520"/>
          </a:xfrm>
        </p:grpSpPr>
        <p:sp>
          <p:nvSpPr>
            <p:cNvPr id="176" name="Google Shape;176;p4"/>
            <p:cNvSpPr/>
            <p:nvPr/>
          </p:nvSpPr>
          <p:spPr>
            <a:xfrm>
              <a:off x="0" y="0"/>
              <a:ext cx="22677120" cy="1417320"/>
            </a:xfrm>
            <a:custGeom>
              <a:rect b="b" l="l" r="r" t="t"/>
              <a:pathLst>
                <a:path extrusionOk="0" h="14173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0" y="-76200"/>
              <a:ext cx="22677120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SQL-Tabla alerta_faltante_pedido y inventario.alerta_inventario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4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4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180" name="Google Shape;180;p4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4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p4"/>
          <p:cNvSpPr txBox="1"/>
          <p:nvPr/>
        </p:nvSpPr>
        <p:spPr>
          <a:xfrm>
            <a:off x="423500" y="1955950"/>
            <a:ext cx="100140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CREATE TABLE inventario.material_codigo_barras (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material_sku character varying(16)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material_codigo_barras character varying(100)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FFDE59"/>
                </a:solidFill>
                <a:highlight>
                  <a:srgbClr val="1F1F1F"/>
                </a:highlight>
              </a:rPr>
              <a:t>CONSTRAINT pk_mat_cod_bar PRIMARY KEY (material_sku, material_codigo_barras),</a:t>
            </a:r>
            <a:endParaRPr sz="2050">
              <a:solidFill>
                <a:srgbClr val="FFDE59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FFDE59"/>
                </a:solidFill>
                <a:highlight>
                  <a:srgbClr val="1F1F1F"/>
                </a:highlight>
              </a:rPr>
              <a:t>CONSTRAINT uk_mat_cod_bar_valor UNIQUE (material_codigo_barras),</a:t>
            </a:r>
            <a:endParaRPr sz="2050">
              <a:solidFill>
                <a:srgbClr val="FFDE59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FFDE59"/>
                </a:solidFill>
                <a:highlight>
                  <a:srgbClr val="1F1F1F"/>
                </a:highlight>
              </a:rPr>
              <a:t>CONSTRAINT fk_cod_bar_mat FOREIGN KEY (material_sku) REFERENCES inventario.material(material_sku)</a:t>
            </a:r>
            <a:endParaRPr sz="2050">
              <a:solidFill>
                <a:srgbClr val="FFDE59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38B6FF"/>
                </a:solidFill>
                <a:highlight>
                  <a:srgbClr val="1F1F1F"/>
                </a:highlight>
              </a:rPr>
              <a:t>);</a:t>
            </a:r>
            <a:endParaRPr sz="2050">
              <a:solidFill>
                <a:srgbClr val="38B6FF"/>
              </a:solidFill>
              <a:highlight>
                <a:srgbClr val="1F1F1F"/>
              </a:highlight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9695950" y="1955950"/>
            <a:ext cx="88908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CREATE TABLE inventario.material_producto_terminado (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material_sku character varying(16)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producto_terminado_id_producto bigint CONSTRAINT material_producto_terminado_producto_terminado_id_prod_not_null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material_producto_terminado_cantidad_estimada numeric(12,4),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material_producto_terminado_merma_estimada numeric(12,4),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area_trabajo_id_area bigint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FFFF00"/>
                </a:solidFill>
                <a:highlight>
                  <a:srgbClr val="1F1F1F"/>
                </a:highlight>
              </a:rPr>
              <a:t>CONSTRAINT ck_mat_prod_cant CHECK ((material_producto_terminado_cantidad_estimada &gt;= (0)::numeric)),</a:t>
            </a:r>
            <a:endParaRPr sz="2050">
              <a:solidFill>
                <a:srgbClr val="FFFF00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FFFF00"/>
                </a:solidFill>
                <a:highlight>
                  <a:srgbClr val="1F1F1F"/>
                </a:highlight>
              </a:rPr>
              <a:t>CONSTRAINT ck_mat_prod_merma CHECK ((material_producto_terminado_merma_estimada &gt;= (0)::numeric))</a:t>
            </a:r>
            <a:endParaRPr sz="2050">
              <a:solidFill>
                <a:srgbClr val="FFFF00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);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t/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d24f3253_0_29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8d24f3253_0_29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8d24f3253_0_29"/>
          <p:cNvSpPr/>
          <p:nvPr/>
        </p:nvSpPr>
        <p:spPr>
          <a:xfrm>
            <a:off x="640080" y="219456"/>
            <a:ext cx="17007840" cy="1005840"/>
          </a:xfrm>
          <a:custGeom>
            <a:rect b="b" l="l" r="r" t="t"/>
            <a:pathLst>
              <a:path extrusionOk="0" h="1341120" w="22677120">
                <a:moveTo>
                  <a:pt x="0" y="0"/>
                </a:moveTo>
                <a:lnTo>
                  <a:pt x="22677120" y="0"/>
                </a:lnTo>
                <a:lnTo>
                  <a:pt x="22677120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79251" l="0" r="0" t="-2792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g3f8d24f3253_0_29"/>
          <p:cNvGrpSpPr/>
          <p:nvPr/>
        </p:nvGrpSpPr>
        <p:grpSpPr>
          <a:xfrm>
            <a:off x="640080" y="105156"/>
            <a:ext cx="17007840" cy="1120140"/>
            <a:chOff x="0" y="-76200"/>
            <a:chExt cx="22677120" cy="1493520"/>
          </a:xfrm>
        </p:grpSpPr>
        <p:sp>
          <p:nvSpPr>
            <p:cNvPr id="196" name="Google Shape;196;g3f8d24f3253_0_29"/>
            <p:cNvSpPr/>
            <p:nvPr/>
          </p:nvSpPr>
          <p:spPr>
            <a:xfrm>
              <a:off x="0" y="0"/>
              <a:ext cx="22677120" cy="1417320"/>
            </a:xfrm>
            <a:custGeom>
              <a:rect b="b" l="l" r="r" t="t"/>
              <a:pathLst>
                <a:path extrusionOk="0" h="14173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f8d24f3253_0_29"/>
            <p:cNvSpPr txBox="1"/>
            <p:nvPr/>
          </p:nvSpPr>
          <p:spPr>
            <a:xfrm>
              <a:off x="0" y="-76200"/>
              <a:ext cx="22677000" cy="14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SQL-Tabla inventario.orden_trabajo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g3f8d24f3253_0_29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g3f8d24f3253_0_29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00" name="Google Shape;200;g3f8d24f3253_0_29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g3f8d24f3253_0_29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" name="Google Shape;202;g3f8d24f3253_0_29"/>
          <p:cNvSpPr txBox="1"/>
          <p:nvPr/>
        </p:nvSpPr>
        <p:spPr>
          <a:xfrm>
            <a:off x="973575" y="1166325"/>
            <a:ext cx="16195800" cy="9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CREATE TABLE inventario.producto_terminado (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producto_terminado_id_producto bigint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producto_terminado_tipo_producto character varying(150),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producto_terminado_nombre_producto character varying(200)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producto_terminado_codigo_producto character varying(80)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producto_terminado_requerimientos_certificacion text,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producto_terminado_requerimientos_medidas text,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producto_terminado_requerimientos_produccion text,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producto_terminado_requerimientos_instalacion text,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producto_terminado_activo boolean DEFAULT true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producto_terminado_fecha_creacion timestamp with time zone DEFAULT now()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producto_terminado_reemplazada_por bigint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);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ALTER TABLE inventario.producto_terminado ALTER COLUMN producto_terminado_id_producto ADD GENERATED ALWAYS AS IDENTITY (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    SEQUENCE NAME inventario.producto_terminado_producto_terminado_id_producto_seq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    START WITH 1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    INCREMENT BY 1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    NO MINVALUE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    NO MAXVALUE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    CACHE 1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);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t/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t/>
            </a:r>
            <a:endParaRPr sz="2050">
              <a:solidFill>
                <a:srgbClr val="38B6FF"/>
              </a:solidFill>
              <a:highlight>
                <a:srgbClr val="1F1F1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640080" y="221952"/>
            <a:ext cx="4385881" cy="1005840"/>
          </a:xfrm>
          <a:custGeom>
            <a:rect b="b" l="l" r="r" t="t"/>
            <a:pathLst>
              <a:path extrusionOk="0" h="1341120" w="5847842">
                <a:moveTo>
                  <a:pt x="0" y="0"/>
                </a:moveTo>
                <a:lnTo>
                  <a:pt x="5847842" y="0"/>
                </a:lnTo>
                <a:lnTo>
                  <a:pt x="5847842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4904" l="0" r="0" t="-349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5"/>
          <p:cNvGrpSpPr/>
          <p:nvPr/>
        </p:nvGrpSpPr>
        <p:grpSpPr>
          <a:xfrm>
            <a:off x="640080" y="107652"/>
            <a:ext cx="4385862" cy="1120140"/>
            <a:chOff x="0" y="-76200"/>
            <a:chExt cx="5847817" cy="1493520"/>
          </a:xfrm>
        </p:grpSpPr>
        <p:sp>
          <p:nvSpPr>
            <p:cNvPr id="215" name="Google Shape;215;p5"/>
            <p:cNvSpPr/>
            <p:nvPr/>
          </p:nvSpPr>
          <p:spPr>
            <a:xfrm>
              <a:off x="0" y="0"/>
              <a:ext cx="5847815" cy="1417320"/>
            </a:xfrm>
            <a:custGeom>
              <a:rect b="b" l="l" r="r" t="t"/>
              <a:pathLst>
                <a:path extrusionOk="0" h="14173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0394" l="0" r="0" t="-3039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5"/>
            <p:cNvSpPr txBox="1"/>
            <p:nvPr/>
          </p:nvSpPr>
          <p:spPr>
            <a:xfrm>
              <a:off x="0" y="-76200"/>
              <a:ext cx="5847817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5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5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19" name="Google Shape;219;p5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5"/>
          <p:cNvSpPr/>
          <p:nvPr/>
        </p:nvSpPr>
        <p:spPr>
          <a:xfrm>
            <a:off x="4149138" y="665636"/>
            <a:ext cx="9989725" cy="8575263"/>
          </a:xfrm>
          <a:custGeom>
            <a:rect b="b" l="l" r="r" t="t"/>
            <a:pathLst>
              <a:path extrusionOk="0" h="11433683" w="13319633">
                <a:moveTo>
                  <a:pt x="0" y="0"/>
                </a:moveTo>
                <a:lnTo>
                  <a:pt x="13319633" y="0"/>
                </a:lnTo>
                <a:lnTo>
                  <a:pt x="13319633" y="11433683"/>
                </a:lnTo>
                <a:lnTo>
                  <a:pt x="0" y="11433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139613" y="9231354"/>
            <a:ext cx="10008775" cy="200978"/>
          </a:xfrm>
          <a:custGeom>
            <a:rect b="b" l="l" r="r" t="t"/>
            <a:pathLst>
              <a:path extrusionOk="0" h="267970" w="13345033">
                <a:moveTo>
                  <a:pt x="0" y="0"/>
                </a:moveTo>
                <a:lnTo>
                  <a:pt x="13345033" y="0"/>
                </a:lnTo>
                <a:lnTo>
                  <a:pt x="13345033" y="267970"/>
                </a:lnTo>
                <a:lnTo>
                  <a:pt x="0" y="26797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40080" y="221952"/>
            <a:ext cx="4385881" cy="1005840"/>
          </a:xfrm>
          <a:custGeom>
            <a:rect b="b" l="l" r="r" t="t"/>
            <a:pathLst>
              <a:path extrusionOk="0" h="1341120" w="5847842">
                <a:moveTo>
                  <a:pt x="0" y="0"/>
                </a:moveTo>
                <a:lnTo>
                  <a:pt x="5847842" y="0"/>
                </a:lnTo>
                <a:lnTo>
                  <a:pt x="5847842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4904" l="0" r="0" t="-349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" name="Google Shape;234;p6"/>
          <p:cNvGrpSpPr/>
          <p:nvPr/>
        </p:nvGrpSpPr>
        <p:grpSpPr>
          <a:xfrm>
            <a:off x="640080" y="107652"/>
            <a:ext cx="4385862" cy="1120140"/>
            <a:chOff x="0" y="-76200"/>
            <a:chExt cx="5847817" cy="1493520"/>
          </a:xfrm>
        </p:grpSpPr>
        <p:sp>
          <p:nvSpPr>
            <p:cNvPr id="235" name="Google Shape;235;p6"/>
            <p:cNvSpPr/>
            <p:nvPr/>
          </p:nvSpPr>
          <p:spPr>
            <a:xfrm>
              <a:off x="0" y="0"/>
              <a:ext cx="5847815" cy="1417320"/>
            </a:xfrm>
            <a:custGeom>
              <a:rect b="b" l="l" r="r" t="t"/>
              <a:pathLst>
                <a:path extrusionOk="0" h="14173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0394" l="0" r="0" t="-3039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0" y="-76200"/>
              <a:ext cx="5847817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6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6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39" name="Google Shape;239;p6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6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1" name="Google Shape;241;p6" title="Copia de MERE - Puertas Blindadas-Página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9408" y="1904104"/>
            <a:ext cx="12450698" cy="60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8d24f3253_0_76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8d24f3253_0_76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8d24f3253_0_76"/>
          <p:cNvSpPr/>
          <p:nvPr/>
        </p:nvSpPr>
        <p:spPr>
          <a:xfrm>
            <a:off x="640080" y="221952"/>
            <a:ext cx="4385881" cy="1005840"/>
          </a:xfrm>
          <a:custGeom>
            <a:rect b="b" l="l" r="r" t="t"/>
            <a:pathLst>
              <a:path extrusionOk="0" h="1341120" w="5847842">
                <a:moveTo>
                  <a:pt x="0" y="0"/>
                </a:moveTo>
                <a:lnTo>
                  <a:pt x="5847842" y="0"/>
                </a:lnTo>
                <a:lnTo>
                  <a:pt x="5847842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4909" l="0" r="0" t="-348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3" name="Google Shape;253;g3f8d24f3253_0_76"/>
          <p:cNvGrpSpPr/>
          <p:nvPr/>
        </p:nvGrpSpPr>
        <p:grpSpPr>
          <a:xfrm>
            <a:off x="640080" y="107652"/>
            <a:ext cx="4385925" cy="1120140"/>
            <a:chOff x="0" y="-76200"/>
            <a:chExt cx="5847900" cy="1493520"/>
          </a:xfrm>
        </p:grpSpPr>
        <p:sp>
          <p:nvSpPr>
            <p:cNvPr id="254" name="Google Shape;254;g3f8d24f3253_0_76"/>
            <p:cNvSpPr/>
            <p:nvPr/>
          </p:nvSpPr>
          <p:spPr>
            <a:xfrm>
              <a:off x="0" y="0"/>
              <a:ext cx="5847815" cy="1417320"/>
            </a:xfrm>
            <a:custGeom>
              <a:rect b="b" l="l" r="r" t="t"/>
              <a:pathLst>
                <a:path extrusionOk="0" h="14173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0401" l="0" r="0" t="-30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g3f8d24f3253_0_76"/>
            <p:cNvSpPr txBox="1"/>
            <p:nvPr/>
          </p:nvSpPr>
          <p:spPr>
            <a:xfrm>
              <a:off x="0" y="-76200"/>
              <a:ext cx="5847900" cy="14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g3f8d24f3253_0_76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g3f8d24f3253_0_76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58" name="Google Shape;258;g3f8d24f3253_0_76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g3f8d24f3253_0_76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0" name="Google Shape;260;g3f8d24f3253_0_76" title="Copia de MERE - Puertas Blindadas-Página-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5949" y="2343001"/>
            <a:ext cx="12095574" cy="581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p7"/>
          <p:cNvGrpSpPr/>
          <p:nvPr/>
        </p:nvGrpSpPr>
        <p:grpSpPr>
          <a:xfrm>
            <a:off x="640075" y="411475"/>
            <a:ext cx="17670150" cy="1120145"/>
            <a:chOff x="-7" y="-76207"/>
            <a:chExt cx="23560200" cy="1493527"/>
          </a:xfrm>
        </p:grpSpPr>
        <p:sp>
          <p:nvSpPr>
            <p:cNvPr id="273" name="Google Shape;273;p7"/>
            <p:cNvSpPr/>
            <p:nvPr/>
          </p:nvSpPr>
          <p:spPr>
            <a:xfrm>
              <a:off x="0" y="0"/>
              <a:ext cx="21903012" cy="1417320"/>
            </a:xfrm>
            <a:custGeom>
              <a:rect b="b" l="l" r="r" t="t"/>
              <a:pathLst>
                <a:path extrusionOk="0"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51132" l="0" r="0" t="-2511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7"/>
            <p:cNvSpPr txBox="1"/>
            <p:nvPr/>
          </p:nvSpPr>
          <p:spPr>
            <a:xfrm>
              <a:off x="-7" y="-76207"/>
              <a:ext cx="23560200" cy="14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Diagrama de secuencia 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CU-30</a:t>
              </a: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Registrando mediante código de barras</a:t>
              </a:r>
              <a:endParaRPr b="1" i="0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7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7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77" name="Google Shape;277;p7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7"/>
          <p:cNvSpPr/>
          <p:nvPr/>
        </p:nvSpPr>
        <p:spPr>
          <a:xfrm>
            <a:off x="640080" y="1531620"/>
            <a:ext cx="3134868" cy="569405"/>
          </a:xfrm>
          <a:custGeom>
            <a:rect b="b" l="l" r="r" t="t"/>
            <a:pathLst>
              <a:path extrusionOk="0" h="759206" w="4179824">
                <a:moveTo>
                  <a:pt x="0" y="0"/>
                </a:moveTo>
                <a:lnTo>
                  <a:pt x="4179824" y="0"/>
                </a:lnTo>
                <a:lnTo>
                  <a:pt x="4179824" y="759206"/>
                </a:lnTo>
                <a:lnTo>
                  <a:pt x="0" y="759206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57202" l="0" r="0" t="-57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" name="Google Shape;280;p7"/>
          <p:cNvGrpSpPr/>
          <p:nvPr/>
        </p:nvGrpSpPr>
        <p:grpSpPr>
          <a:xfrm>
            <a:off x="793880" y="1283233"/>
            <a:ext cx="5081258" cy="899808"/>
            <a:chOff x="205067" y="-264508"/>
            <a:chExt cx="6775009" cy="1199743"/>
          </a:xfrm>
        </p:grpSpPr>
        <p:sp>
          <p:nvSpPr>
            <p:cNvPr id="281" name="Google Shape;281;p7"/>
            <p:cNvSpPr/>
            <p:nvPr/>
          </p:nvSpPr>
          <p:spPr>
            <a:xfrm>
              <a:off x="2800233" y="109333"/>
              <a:ext cx="4179843" cy="825902"/>
            </a:xfrm>
            <a:custGeom>
              <a:rect b="b" l="l" r="r" t="t"/>
              <a:pathLst>
                <a:path extrusionOk="0" h="825902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825902"/>
                  </a:lnTo>
                  <a:lnTo>
                    <a:pt x="0" y="82590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8612" l="0" r="0" t="-4861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7"/>
            <p:cNvSpPr txBox="1"/>
            <p:nvPr/>
          </p:nvSpPr>
          <p:spPr>
            <a:xfrm>
              <a:off x="205067" y="-264508"/>
              <a:ext cx="4179900" cy="8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Flujo general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3" name="Google Shape;283;p7" title="UR 3.3 CU-30-General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9488" y="1836420"/>
            <a:ext cx="10338944" cy="7890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8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98" name="Google Shape;298;p8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8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0" name="Google Shape;300;p8"/>
          <p:cNvSpPr/>
          <p:nvPr/>
        </p:nvSpPr>
        <p:spPr>
          <a:xfrm>
            <a:off x="640080" y="1341120"/>
            <a:ext cx="15666339" cy="812196"/>
          </a:xfrm>
          <a:custGeom>
            <a:rect b="b" l="l" r="r" t="t"/>
            <a:pathLst>
              <a:path extrusionOk="0" h="1082929" w="20888452">
                <a:moveTo>
                  <a:pt x="0" y="0"/>
                </a:moveTo>
                <a:lnTo>
                  <a:pt x="20888452" y="0"/>
                </a:lnTo>
                <a:lnTo>
                  <a:pt x="20888452" y="1082929"/>
                </a:lnTo>
                <a:lnTo>
                  <a:pt x="0" y="1082929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25601" l="0" r="0" t="-3256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1" name="Google Shape;301;p8"/>
          <p:cNvGrpSpPr/>
          <p:nvPr/>
        </p:nvGrpSpPr>
        <p:grpSpPr>
          <a:xfrm>
            <a:off x="459337" y="1291114"/>
            <a:ext cx="17369325" cy="1718110"/>
            <a:chOff x="-240991" y="0"/>
            <a:chExt cx="23159100" cy="2290816"/>
          </a:xfrm>
        </p:grpSpPr>
        <p:sp>
          <p:nvSpPr>
            <p:cNvPr id="302" name="Google Shape;302;p8"/>
            <p:cNvSpPr/>
            <p:nvPr/>
          </p:nvSpPr>
          <p:spPr>
            <a:xfrm>
              <a:off x="0" y="0"/>
              <a:ext cx="20888499" cy="1149568"/>
            </a:xfrm>
            <a:custGeom>
              <a:rect b="b" l="l" r="r" t="t"/>
              <a:pathLst>
                <a:path extrusionOk="0" h="1149568" w="20888499">
                  <a:moveTo>
                    <a:pt x="0" y="0"/>
                  </a:moveTo>
                  <a:lnTo>
                    <a:pt x="20888499" y="0"/>
                  </a:lnTo>
                  <a:lnTo>
                    <a:pt x="20888499" y="1149568"/>
                  </a:lnTo>
                  <a:lnTo>
                    <a:pt x="0" y="114956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04057" l="0" r="0" t="-30405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8"/>
            <p:cNvSpPr txBox="1"/>
            <p:nvPr/>
          </p:nvSpPr>
          <p:spPr>
            <a:xfrm>
              <a:off x="-240991" y="1074616"/>
              <a:ext cx="23159100" cy="12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1: El código de barras escaneado no corresponde a ningún SKU del catálogo. El sistema informa la situación y habilita el ingreso manual por SKU.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8"/>
          <p:cNvSpPr txBox="1"/>
          <p:nvPr/>
        </p:nvSpPr>
        <p:spPr>
          <a:xfrm>
            <a:off x="418587" y="286400"/>
            <a:ext cx="176703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Diagrama de secuencia CU-30: Registrando mediante código de barras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8" title="UR 3.3 CU-30-excepcion 1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116" y="3161624"/>
            <a:ext cx="16335360" cy="6412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" name="Google Shape;319;p10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320" name="Google Shape;320;p10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0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10"/>
          <p:cNvSpPr/>
          <p:nvPr/>
        </p:nvSpPr>
        <p:spPr>
          <a:xfrm>
            <a:off x="640080" y="1531620"/>
            <a:ext cx="11676221" cy="756475"/>
          </a:xfrm>
          <a:custGeom>
            <a:rect b="b" l="l" r="r" t="t"/>
            <a:pathLst>
              <a:path extrusionOk="0" h="1008634" w="15568295">
                <a:moveTo>
                  <a:pt x="0" y="0"/>
                </a:moveTo>
                <a:lnTo>
                  <a:pt x="15568295" y="0"/>
                </a:lnTo>
                <a:lnTo>
                  <a:pt x="15568295" y="1008634"/>
                </a:lnTo>
                <a:lnTo>
                  <a:pt x="0" y="1008634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50532" l="0" r="0" t="-2505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0"/>
          <p:cNvGrpSpPr/>
          <p:nvPr/>
        </p:nvGrpSpPr>
        <p:grpSpPr>
          <a:xfrm>
            <a:off x="640073" y="1431600"/>
            <a:ext cx="17382375" cy="856575"/>
            <a:chOff x="-10" y="-66685"/>
            <a:chExt cx="23176500" cy="1142100"/>
          </a:xfrm>
        </p:grpSpPr>
        <p:sp>
          <p:nvSpPr>
            <p:cNvPr id="324" name="Google Shape;324;p10"/>
            <p:cNvSpPr/>
            <p:nvPr/>
          </p:nvSpPr>
          <p:spPr>
            <a:xfrm>
              <a:off x="0" y="0"/>
              <a:ext cx="15568329" cy="1075284"/>
            </a:xfrm>
            <a:custGeom>
              <a:rect b="b" l="l" r="r" t="t"/>
              <a:pathLst>
                <a:path extrusionOk="0" h="1075284" w="15568329">
                  <a:moveTo>
                    <a:pt x="0" y="0"/>
                  </a:moveTo>
                  <a:lnTo>
                    <a:pt x="15568329" y="0"/>
                  </a:lnTo>
                  <a:lnTo>
                    <a:pt x="15568329" y="1075284"/>
                  </a:lnTo>
                  <a:lnTo>
                    <a:pt x="0" y="107528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32103" l="0" r="0" t="-23210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0"/>
            <p:cNvSpPr txBox="1"/>
            <p:nvPr/>
          </p:nvSpPr>
          <p:spPr>
            <a:xfrm>
              <a:off x="-10" y="-66685"/>
              <a:ext cx="23176500" cy="11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2: El escáner no es detectado o se encuentra desconectado. El sistema informa el error de conexión y ofrece continuar con ingreso manual por SKU.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" name="Google Shape;326;p10"/>
          <p:cNvSpPr txBox="1"/>
          <p:nvPr/>
        </p:nvSpPr>
        <p:spPr>
          <a:xfrm>
            <a:off x="496112" y="440175"/>
            <a:ext cx="176703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Diagrama de secuencia CU-30: Registrando mediante código de barras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10" title="UR 3.3 CU-30-excepcion 2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116" y="2440575"/>
            <a:ext cx="17741486" cy="4409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8d270b6c3_0_3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8d270b6c3_0_3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8d270b6c3_0_3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9" name="Google Shape;339;g3f8d270b6c3_0_3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340" name="Google Shape;340;g3f8d270b6c3_0_3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g3f8d270b6c3_0_3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2" name="Google Shape;342;g3f8d270b6c3_0_3"/>
          <p:cNvSpPr/>
          <p:nvPr/>
        </p:nvSpPr>
        <p:spPr>
          <a:xfrm>
            <a:off x="640080" y="1531620"/>
            <a:ext cx="11676221" cy="756476"/>
          </a:xfrm>
          <a:custGeom>
            <a:rect b="b" l="l" r="r" t="t"/>
            <a:pathLst>
              <a:path extrusionOk="0" h="1008634" w="15568295">
                <a:moveTo>
                  <a:pt x="0" y="0"/>
                </a:moveTo>
                <a:lnTo>
                  <a:pt x="15568295" y="0"/>
                </a:lnTo>
                <a:lnTo>
                  <a:pt x="15568295" y="1008634"/>
                </a:lnTo>
                <a:lnTo>
                  <a:pt x="0" y="1008634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50532" l="0" r="0" t="-2505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3" name="Google Shape;343;g3f8d270b6c3_0_3"/>
          <p:cNvGrpSpPr/>
          <p:nvPr/>
        </p:nvGrpSpPr>
        <p:grpSpPr>
          <a:xfrm>
            <a:off x="456325" y="1481614"/>
            <a:ext cx="17235000" cy="936036"/>
            <a:chOff x="-245007" y="0"/>
            <a:chExt cx="22980000" cy="1248048"/>
          </a:xfrm>
        </p:grpSpPr>
        <p:sp>
          <p:nvSpPr>
            <p:cNvPr id="344" name="Google Shape;344;g3f8d270b6c3_0_3"/>
            <p:cNvSpPr/>
            <p:nvPr/>
          </p:nvSpPr>
          <p:spPr>
            <a:xfrm>
              <a:off x="0" y="0"/>
              <a:ext cx="15568329" cy="1075284"/>
            </a:xfrm>
            <a:custGeom>
              <a:rect b="b" l="l" r="r" t="t"/>
              <a:pathLst>
                <a:path extrusionOk="0" h="1075284" w="15568329">
                  <a:moveTo>
                    <a:pt x="0" y="0"/>
                  </a:moveTo>
                  <a:lnTo>
                    <a:pt x="15568329" y="0"/>
                  </a:lnTo>
                  <a:lnTo>
                    <a:pt x="15568329" y="1075284"/>
                  </a:lnTo>
                  <a:lnTo>
                    <a:pt x="0" y="107528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32109" l="0" r="0" t="-23209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g3f8d270b6c3_0_3"/>
            <p:cNvSpPr txBox="1"/>
            <p:nvPr/>
          </p:nvSpPr>
          <p:spPr>
            <a:xfrm>
              <a:off x="-245007" y="33348"/>
              <a:ext cx="22980000" cy="12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3: El producto identificado se encuentra inactivo o dado de baja. El sistema informa el estado y bloquea el registro del movimiento antes de solicitar la cantidad.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g3f8d270b6c3_0_3"/>
          <p:cNvSpPr txBox="1"/>
          <p:nvPr/>
        </p:nvSpPr>
        <p:spPr>
          <a:xfrm>
            <a:off x="386837" y="644575"/>
            <a:ext cx="176703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Diagrama de secuencia CU-30: Registrando mediante código de barras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g3f8d270b6c3_0_3" title="UR 3.3 CU-30-excepcion 3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2179" y="2570050"/>
            <a:ext cx="14563630" cy="700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11"/>
          <p:cNvGrpSpPr/>
          <p:nvPr/>
        </p:nvGrpSpPr>
        <p:grpSpPr>
          <a:xfrm>
            <a:off x="311788" y="411550"/>
            <a:ext cx="17883900" cy="1120070"/>
            <a:chOff x="-437723" y="-76107"/>
            <a:chExt cx="23845200" cy="1493427"/>
          </a:xfrm>
        </p:grpSpPr>
        <p:sp>
          <p:nvSpPr>
            <p:cNvPr id="360" name="Google Shape;360;p11"/>
            <p:cNvSpPr/>
            <p:nvPr/>
          </p:nvSpPr>
          <p:spPr>
            <a:xfrm>
              <a:off x="0" y="0"/>
              <a:ext cx="21903012" cy="1417320"/>
            </a:xfrm>
            <a:custGeom>
              <a:rect b="b" l="l" r="r" t="t"/>
              <a:pathLst>
                <a:path extrusionOk="0"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51132" l="0" r="0" t="-2511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1"/>
            <p:cNvSpPr txBox="1"/>
            <p:nvPr/>
          </p:nvSpPr>
          <p:spPr>
            <a:xfrm>
              <a:off x="-437723" y="-76107"/>
              <a:ext cx="23845200" cy="14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CU-31: Visualizando historial de movimientos detallado</a:t>
              </a:r>
              <a:endPara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11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" name="Google Shape;363;p11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364" name="Google Shape;364;p11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1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11"/>
          <p:cNvSpPr/>
          <p:nvPr/>
        </p:nvSpPr>
        <p:spPr>
          <a:xfrm>
            <a:off x="640080" y="1531620"/>
            <a:ext cx="3134868" cy="1005840"/>
          </a:xfrm>
          <a:custGeom>
            <a:rect b="b" l="l" r="r" t="t"/>
            <a:pathLst>
              <a:path extrusionOk="0" h="1341120" w="4179824">
                <a:moveTo>
                  <a:pt x="0" y="0"/>
                </a:moveTo>
                <a:lnTo>
                  <a:pt x="4179824" y="0"/>
                </a:lnTo>
                <a:lnTo>
                  <a:pt x="4179824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0686" l="0" r="0" t="-106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" name="Google Shape;367;p11"/>
          <p:cNvGrpSpPr/>
          <p:nvPr/>
        </p:nvGrpSpPr>
        <p:grpSpPr>
          <a:xfrm>
            <a:off x="394130" y="1417320"/>
            <a:ext cx="3380833" cy="1120140"/>
            <a:chOff x="-327933" y="-76200"/>
            <a:chExt cx="4507776" cy="1493520"/>
          </a:xfrm>
        </p:grpSpPr>
        <p:sp>
          <p:nvSpPr>
            <p:cNvPr id="368" name="Google Shape;368;p11"/>
            <p:cNvSpPr/>
            <p:nvPr/>
          </p:nvSpPr>
          <p:spPr>
            <a:xfrm>
              <a:off x="0" y="0"/>
              <a:ext cx="4179843" cy="1417320"/>
            </a:xfrm>
            <a:custGeom>
              <a:rect b="b" l="l" r="r" t="t"/>
              <a:pathLst>
                <a:path extrusionOk="0" h="1417320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463" l="0" r="0" t="-746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1"/>
            <p:cNvSpPr txBox="1"/>
            <p:nvPr/>
          </p:nvSpPr>
          <p:spPr>
            <a:xfrm>
              <a:off x="-327933" y="-76200"/>
              <a:ext cx="4179900" cy="14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0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Flujo general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0" name="Google Shape;370;p11" title="UR 3.3 CU-31-General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1363" y="1684025"/>
            <a:ext cx="10964751" cy="78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12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385" name="Google Shape;385;p12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2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12"/>
          <p:cNvSpPr/>
          <p:nvPr/>
        </p:nvSpPr>
        <p:spPr>
          <a:xfrm>
            <a:off x="640080" y="1531620"/>
            <a:ext cx="12284107" cy="662940"/>
          </a:xfrm>
          <a:custGeom>
            <a:rect b="b" l="l" r="r" t="t"/>
            <a:pathLst>
              <a:path extrusionOk="0" h="883920" w="16378810">
                <a:moveTo>
                  <a:pt x="0" y="0"/>
                </a:moveTo>
                <a:lnTo>
                  <a:pt x="16378810" y="0"/>
                </a:lnTo>
                <a:lnTo>
                  <a:pt x="16378810" y="883920"/>
                </a:lnTo>
                <a:lnTo>
                  <a:pt x="0" y="8839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10802" l="0" r="0" t="-3108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" name="Google Shape;388;p12"/>
          <p:cNvGrpSpPr/>
          <p:nvPr/>
        </p:nvGrpSpPr>
        <p:grpSpPr>
          <a:xfrm>
            <a:off x="565975" y="1431600"/>
            <a:ext cx="17378324" cy="762975"/>
            <a:chOff x="-98807" y="-66685"/>
            <a:chExt cx="23171100" cy="1017300"/>
          </a:xfrm>
        </p:grpSpPr>
        <p:sp>
          <p:nvSpPr>
            <p:cNvPr id="389" name="Google Shape;389;p12"/>
            <p:cNvSpPr/>
            <p:nvPr/>
          </p:nvSpPr>
          <p:spPr>
            <a:xfrm>
              <a:off x="0" y="0"/>
              <a:ext cx="16378824" cy="950592"/>
            </a:xfrm>
            <a:custGeom>
              <a:rect b="b" l="l" r="r" t="t"/>
              <a:pathLst>
                <a:path extrusionOk="0" h="950592" w="16378824">
                  <a:moveTo>
                    <a:pt x="0" y="0"/>
                  </a:moveTo>
                  <a:lnTo>
                    <a:pt x="16378824" y="0"/>
                  </a:lnTo>
                  <a:lnTo>
                    <a:pt x="16378824" y="950592"/>
                  </a:lnTo>
                  <a:lnTo>
                    <a:pt x="0" y="95059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85751" l="0" r="0" t="-28575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2"/>
            <p:cNvSpPr txBox="1"/>
            <p:nvPr/>
          </p:nvSpPr>
          <p:spPr>
            <a:xfrm>
              <a:off x="-98807" y="-66685"/>
              <a:ext cx="23171100" cy="101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1: La consulta no retorna registros para los filtros aplicados. El sistema informa que no hay datos que coincidan con los criterios.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12"/>
          <p:cNvSpPr txBox="1"/>
          <p:nvPr/>
        </p:nvSpPr>
        <p:spPr>
          <a:xfrm>
            <a:off x="469338" y="221850"/>
            <a:ext cx="178839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CU-31: Visualizando historial de movimientos detallado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12" title="UR 3.3 CU-31-Excepción 1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5629" y="2284435"/>
            <a:ext cx="9719020" cy="7227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6" name="Google Shape;406;p13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407" name="Google Shape;407;p13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3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p13"/>
          <p:cNvSpPr/>
          <p:nvPr/>
        </p:nvSpPr>
        <p:spPr>
          <a:xfrm>
            <a:off x="640080" y="1531620"/>
            <a:ext cx="17458849" cy="1062324"/>
          </a:xfrm>
          <a:custGeom>
            <a:rect b="b" l="l" r="r" t="t"/>
            <a:pathLst>
              <a:path extrusionOk="0" h="1416431" w="23278464">
                <a:moveTo>
                  <a:pt x="0" y="0"/>
                </a:moveTo>
                <a:lnTo>
                  <a:pt x="23278464" y="0"/>
                </a:lnTo>
                <a:lnTo>
                  <a:pt x="23278464" y="1416431"/>
                </a:lnTo>
                <a:lnTo>
                  <a:pt x="0" y="1416431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9997" l="0" r="0" t="-27000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0" name="Google Shape;410;p13"/>
          <p:cNvGrpSpPr/>
          <p:nvPr/>
        </p:nvGrpSpPr>
        <p:grpSpPr>
          <a:xfrm>
            <a:off x="395275" y="1431600"/>
            <a:ext cx="17703676" cy="1162350"/>
            <a:chOff x="-326406" y="-66685"/>
            <a:chExt cx="23604900" cy="1549800"/>
          </a:xfrm>
        </p:grpSpPr>
        <p:sp>
          <p:nvSpPr>
            <p:cNvPr id="411" name="Google Shape;411;p13"/>
            <p:cNvSpPr/>
            <p:nvPr/>
          </p:nvSpPr>
          <p:spPr>
            <a:xfrm>
              <a:off x="0" y="0"/>
              <a:ext cx="23278418" cy="1483072"/>
            </a:xfrm>
            <a:custGeom>
              <a:rect b="b" l="l" r="r" t="t"/>
              <a:pathLst>
                <a:path extrusionOk="0" h="1483072" w="23278418">
                  <a:moveTo>
                    <a:pt x="0" y="0"/>
                  </a:moveTo>
                  <a:lnTo>
                    <a:pt x="23278418" y="0"/>
                  </a:lnTo>
                  <a:lnTo>
                    <a:pt x="23278418" y="1483072"/>
                  </a:lnTo>
                  <a:lnTo>
                    <a:pt x="0" y="148307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55848" l="0" r="0" t="-2558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3"/>
            <p:cNvSpPr txBox="1"/>
            <p:nvPr/>
          </p:nvSpPr>
          <p:spPr>
            <a:xfrm>
              <a:off x="-326406" y="-66685"/>
              <a:ext cx="236049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2: La consulta retorna más de 500 registros. El sistema muestra los resultados paginados y sugiere acotar los filtros para un análisis más específico.</a:t>
              </a:r>
              <a:endParaRPr b="0" i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3" name="Google Shape;413;p13"/>
          <p:cNvSpPr txBox="1"/>
          <p:nvPr/>
        </p:nvSpPr>
        <p:spPr>
          <a:xfrm>
            <a:off x="311788" y="411550"/>
            <a:ext cx="178839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CU-31: Visualizando historial de movimientos detallado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13" title="UR 3.3 CU-31-Excepción 2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9178" y="2746344"/>
            <a:ext cx="8669640" cy="6828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h4323cbb8aa639dca_0_6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h4323cbb8aa639dca_0_6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h4323cbb8aa639dca_0_6"/>
          <p:cNvSpPr/>
          <p:nvPr/>
        </p:nvSpPr>
        <p:spPr>
          <a:xfrm>
            <a:off x="640080" y="525780"/>
            <a:ext cx="16427291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h4323cbb8aa639dca_0_6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h4323cbb8aa639dca_0_6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8" name="Google Shape;428;h4323cbb8aa639dca_0_6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429" name="Google Shape;429;h4323cbb8aa639dca_0_6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h4323cbb8aa639dca_0_6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1" name="Google Shape;431;h4323cbb8aa639dca_0_6"/>
          <p:cNvSpPr/>
          <p:nvPr/>
        </p:nvSpPr>
        <p:spPr>
          <a:xfrm>
            <a:off x="640080" y="1531620"/>
            <a:ext cx="17458848" cy="1062323"/>
          </a:xfrm>
          <a:custGeom>
            <a:rect b="b" l="l" r="r" t="t"/>
            <a:pathLst>
              <a:path extrusionOk="0" h="1416431" w="23278464">
                <a:moveTo>
                  <a:pt x="0" y="0"/>
                </a:moveTo>
                <a:lnTo>
                  <a:pt x="23278464" y="0"/>
                </a:lnTo>
                <a:lnTo>
                  <a:pt x="23278464" y="1416431"/>
                </a:lnTo>
                <a:lnTo>
                  <a:pt x="0" y="1416431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70020" l="0" r="0" t="-27002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2" name="Google Shape;432;h4323cbb8aa639dca_0_6"/>
          <p:cNvGrpSpPr/>
          <p:nvPr/>
        </p:nvGrpSpPr>
        <p:grpSpPr>
          <a:xfrm>
            <a:off x="395275" y="1431600"/>
            <a:ext cx="17703675" cy="1162350"/>
            <a:chOff x="-326406" y="-66685"/>
            <a:chExt cx="23604900" cy="1549800"/>
          </a:xfrm>
        </p:grpSpPr>
        <p:sp>
          <p:nvSpPr>
            <p:cNvPr id="433" name="Google Shape;433;h4323cbb8aa639dca_0_6"/>
            <p:cNvSpPr/>
            <p:nvPr/>
          </p:nvSpPr>
          <p:spPr>
            <a:xfrm>
              <a:off x="0" y="0"/>
              <a:ext cx="23278418" cy="1483072"/>
            </a:xfrm>
            <a:custGeom>
              <a:rect b="b" l="l" r="r" t="t"/>
              <a:pathLst>
                <a:path extrusionOk="0" h="1483072" w="23278418">
                  <a:moveTo>
                    <a:pt x="0" y="0"/>
                  </a:moveTo>
                  <a:lnTo>
                    <a:pt x="23278418" y="0"/>
                  </a:lnTo>
                  <a:lnTo>
                    <a:pt x="23278418" y="1483072"/>
                  </a:lnTo>
                  <a:lnTo>
                    <a:pt x="0" y="148307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55848" l="0" r="0" t="-2558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h4323cbb8aa639dca_0_6"/>
            <p:cNvSpPr txBox="1"/>
            <p:nvPr/>
          </p:nvSpPr>
          <p:spPr>
            <a:xfrm>
              <a:off x="-326406" y="-66685"/>
              <a:ext cx="236049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3: El rango de fechas ingresado es inválido porque la fecha de inicio es posterior a la fecha de fin. El sistema solicita corregir el rango antes de consultar.</a:t>
              </a:r>
              <a:endParaRPr b="0" i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5" name="Google Shape;435;h4323cbb8aa639dca_0_6"/>
          <p:cNvSpPr txBox="1"/>
          <p:nvPr/>
        </p:nvSpPr>
        <p:spPr>
          <a:xfrm>
            <a:off x="311788" y="411550"/>
            <a:ext cx="178839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CU-31: Visualizando historial de movimientos detallado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h4323cbb8aa639dca_0_6" title="UR 3.3 CU-31-Excepción 3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1203" y="2665293"/>
            <a:ext cx="10916572" cy="6828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8" name="Google Shape;448;p14"/>
          <p:cNvGrpSpPr/>
          <p:nvPr/>
        </p:nvGrpSpPr>
        <p:grpSpPr>
          <a:xfrm>
            <a:off x="640080" y="411480"/>
            <a:ext cx="16427263" cy="1120140"/>
            <a:chOff x="0" y="-76200"/>
            <a:chExt cx="21903017" cy="1493520"/>
          </a:xfrm>
        </p:grpSpPr>
        <p:sp>
          <p:nvSpPr>
            <p:cNvPr id="449" name="Google Shape;449;p14"/>
            <p:cNvSpPr/>
            <p:nvPr/>
          </p:nvSpPr>
          <p:spPr>
            <a:xfrm>
              <a:off x="0" y="0"/>
              <a:ext cx="21903012" cy="1417320"/>
            </a:xfrm>
            <a:custGeom>
              <a:rect b="b" l="l" r="r" t="t"/>
              <a:pathLst>
                <a:path extrusionOk="0"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51132" l="0" r="0" t="-2511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4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CU-102: Definiendo insumos estándar por proceso</a:t>
              </a:r>
              <a:endPara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1" name="Google Shape;451;p14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2" name="Google Shape;452;p14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453" name="Google Shape;453;p14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4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p14"/>
          <p:cNvSpPr/>
          <p:nvPr/>
        </p:nvSpPr>
        <p:spPr>
          <a:xfrm>
            <a:off x="640080" y="1531620"/>
            <a:ext cx="3134868" cy="1005840"/>
          </a:xfrm>
          <a:custGeom>
            <a:rect b="b" l="l" r="r" t="t"/>
            <a:pathLst>
              <a:path extrusionOk="0" h="1341120" w="4179824">
                <a:moveTo>
                  <a:pt x="0" y="0"/>
                </a:moveTo>
                <a:lnTo>
                  <a:pt x="4179824" y="0"/>
                </a:lnTo>
                <a:lnTo>
                  <a:pt x="4179824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0686" l="0" r="0" t="-106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6" name="Google Shape;456;p14"/>
          <p:cNvGrpSpPr/>
          <p:nvPr/>
        </p:nvGrpSpPr>
        <p:grpSpPr>
          <a:xfrm>
            <a:off x="640080" y="1417320"/>
            <a:ext cx="3134883" cy="1120140"/>
            <a:chOff x="0" y="-76200"/>
            <a:chExt cx="4179843" cy="1493520"/>
          </a:xfrm>
        </p:grpSpPr>
        <p:sp>
          <p:nvSpPr>
            <p:cNvPr id="457" name="Google Shape;457;p14"/>
            <p:cNvSpPr/>
            <p:nvPr/>
          </p:nvSpPr>
          <p:spPr>
            <a:xfrm>
              <a:off x="0" y="0"/>
              <a:ext cx="4179843" cy="1417320"/>
            </a:xfrm>
            <a:custGeom>
              <a:rect b="b" l="l" r="r" t="t"/>
              <a:pathLst>
                <a:path extrusionOk="0" h="1417320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463" l="0" r="0" t="-746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4"/>
            <p:cNvSpPr txBox="1"/>
            <p:nvPr/>
          </p:nvSpPr>
          <p:spPr>
            <a:xfrm>
              <a:off x="0" y="-76200"/>
              <a:ext cx="4179837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0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Flujo general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9" name="Google Shape;459;p14" title="UR 11.4 CU-102-GENER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8191" y="2718435"/>
            <a:ext cx="15824696" cy="6884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5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3" name="Google Shape;473;p15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474" name="Google Shape;474;p15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15"/>
          <p:cNvSpPr/>
          <p:nvPr/>
        </p:nvSpPr>
        <p:spPr>
          <a:xfrm>
            <a:off x="640080" y="1531620"/>
            <a:ext cx="11130723" cy="694087"/>
          </a:xfrm>
          <a:custGeom>
            <a:rect b="b" l="l" r="r" t="t"/>
            <a:pathLst>
              <a:path extrusionOk="0" h="925449" w="14840965">
                <a:moveTo>
                  <a:pt x="0" y="0"/>
                </a:moveTo>
                <a:lnTo>
                  <a:pt x="14840965" y="0"/>
                </a:lnTo>
                <a:lnTo>
                  <a:pt x="14840965" y="925449"/>
                </a:lnTo>
                <a:lnTo>
                  <a:pt x="0" y="925449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2249" l="0" r="0" t="-2622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7" name="Google Shape;477;p15"/>
          <p:cNvGrpSpPr/>
          <p:nvPr/>
        </p:nvGrpSpPr>
        <p:grpSpPr>
          <a:xfrm>
            <a:off x="640072" y="1481614"/>
            <a:ext cx="17302049" cy="1237811"/>
            <a:chOff x="-10" y="0"/>
            <a:chExt cx="23069400" cy="1650414"/>
          </a:xfrm>
        </p:grpSpPr>
        <p:sp>
          <p:nvSpPr>
            <p:cNvPr id="478" name="Google Shape;478;p15"/>
            <p:cNvSpPr/>
            <p:nvPr/>
          </p:nvSpPr>
          <p:spPr>
            <a:xfrm>
              <a:off x="0" y="0"/>
              <a:ext cx="14840962" cy="992156"/>
            </a:xfrm>
            <a:custGeom>
              <a:rect b="b" l="l" r="r" t="t"/>
              <a:pathLst>
                <a:path extrusionOk="0" h="992156" w="14840962">
                  <a:moveTo>
                    <a:pt x="0" y="0"/>
                  </a:moveTo>
                  <a:lnTo>
                    <a:pt x="14840962" y="0"/>
                  </a:lnTo>
                  <a:lnTo>
                    <a:pt x="14840962" y="992156"/>
                  </a:lnTo>
                  <a:lnTo>
                    <a:pt x="0" y="99215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41463" l="0" r="0" t="-24145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5"/>
            <p:cNvSpPr txBox="1"/>
            <p:nvPr/>
          </p:nvSpPr>
          <p:spPr>
            <a:xfrm>
              <a:off x="-10" y="591714"/>
              <a:ext cx="23069400" cy="10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1: El SKU ingresado no existe en el catálogo o el producto se encuentra inactivo o dado de baja. El sistema informa la situación y no permite agregarlo a la plantilla.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0" name="Google Shape;480;p15"/>
          <p:cNvSpPr txBox="1"/>
          <p:nvPr/>
        </p:nvSpPr>
        <p:spPr>
          <a:xfrm>
            <a:off x="640080" y="411480"/>
            <a:ext cx="164274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CU-102: Definiendo insumos estándar por proceso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p15" title="UR 11.4 CU-102-EXP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991" y="2915186"/>
            <a:ext cx="17741486" cy="6699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8d270b6c3_0_35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8d270b6c3_0_35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f8d270b6c3_0_35"/>
          <p:cNvSpPr/>
          <p:nvPr/>
        </p:nvSpPr>
        <p:spPr>
          <a:xfrm>
            <a:off x="640080" y="525780"/>
            <a:ext cx="16427291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8d270b6c3_0_35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8d270b6c3_0_35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5" name="Google Shape;495;g3f8d270b6c3_0_35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496" name="Google Shape;496;g3f8d270b6c3_0_35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g3f8d270b6c3_0_35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g3f8d270b6c3_0_35"/>
          <p:cNvSpPr/>
          <p:nvPr/>
        </p:nvSpPr>
        <p:spPr>
          <a:xfrm>
            <a:off x="640080" y="1531620"/>
            <a:ext cx="11130724" cy="694087"/>
          </a:xfrm>
          <a:custGeom>
            <a:rect b="b" l="l" r="r" t="t"/>
            <a:pathLst>
              <a:path extrusionOk="0" h="925449" w="14840965">
                <a:moveTo>
                  <a:pt x="0" y="0"/>
                </a:moveTo>
                <a:lnTo>
                  <a:pt x="14840965" y="0"/>
                </a:lnTo>
                <a:lnTo>
                  <a:pt x="14840965" y="925449"/>
                </a:lnTo>
                <a:lnTo>
                  <a:pt x="0" y="925449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2249" l="0" r="0" t="-2622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9" name="Google Shape;499;g3f8d270b6c3_0_35"/>
          <p:cNvGrpSpPr/>
          <p:nvPr/>
        </p:nvGrpSpPr>
        <p:grpSpPr>
          <a:xfrm>
            <a:off x="640075" y="1431600"/>
            <a:ext cx="17262675" cy="1351350"/>
            <a:chOff x="-7" y="-66685"/>
            <a:chExt cx="23016900" cy="1801800"/>
          </a:xfrm>
        </p:grpSpPr>
        <p:sp>
          <p:nvSpPr>
            <p:cNvPr id="500" name="Google Shape;500;g3f8d270b6c3_0_35"/>
            <p:cNvSpPr/>
            <p:nvPr/>
          </p:nvSpPr>
          <p:spPr>
            <a:xfrm>
              <a:off x="0" y="0"/>
              <a:ext cx="14840962" cy="992156"/>
            </a:xfrm>
            <a:custGeom>
              <a:rect b="b" l="l" r="r" t="t"/>
              <a:pathLst>
                <a:path extrusionOk="0" h="992156" w="14840962">
                  <a:moveTo>
                    <a:pt x="0" y="0"/>
                  </a:moveTo>
                  <a:lnTo>
                    <a:pt x="14840962" y="0"/>
                  </a:lnTo>
                  <a:lnTo>
                    <a:pt x="14840962" y="992156"/>
                  </a:lnTo>
                  <a:lnTo>
                    <a:pt x="0" y="99215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41443" l="0" r="0" t="-2414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g3f8d270b6c3_0_35"/>
            <p:cNvSpPr txBox="1"/>
            <p:nvPr/>
          </p:nvSpPr>
          <p:spPr>
            <a:xfrm>
              <a:off x="-7" y="-66685"/>
              <a:ext cx="23016900" cy="18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2: Ya existe una plantilla de insumos para el proceso seleccionado. El sistema muestra la plantilla vigente y permite editarla o crear una nueva versión conservando la anterior.</a:t>
              </a:r>
              <a:endParaRPr b="0" i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2" name="Google Shape;502;g3f8d270b6c3_0_35"/>
          <p:cNvSpPr txBox="1"/>
          <p:nvPr/>
        </p:nvSpPr>
        <p:spPr>
          <a:xfrm>
            <a:off x="640080" y="411480"/>
            <a:ext cx="164274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CU-102: Definiendo insumos estándar por proceso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3" name="Google Shape;503;g3f8d270b6c3_0_35" title="UR 11.4 CU-102-EXP 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2691" y="2935350"/>
            <a:ext cx="14261412" cy="6639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h4323cbb8aa639dca_0_30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h4323cbb8aa639dca_0_30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h4323cbb8aa639dca_0_30"/>
          <p:cNvSpPr/>
          <p:nvPr/>
        </p:nvSpPr>
        <p:spPr>
          <a:xfrm>
            <a:off x="640080" y="525780"/>
            <a:ext cx="16427291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h4323cbb8aa639dca_0_30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h4323cbb8aa639dca_0_30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7" name="Google Shape;517;h4323cbb8aa639dca_0_30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518" name="Google Shape;518;h4323cbb8aa639dca_0_30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h4323cbb8aa639dca_0_30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0" name="Google Shape;520;h4323cbb8aa639dca_0_30"/>
          <p:cNvSpPr/>
          <p:nvPr/>
        </p:nvSpPr>
        <p:spPr>
          <a:xfrm>
            <a:off x="640080" y="1531620"/>
            <a:ext cx="11130724" cy="694087"/>
          </a:xfrm>
          <a:custGeom>
            <a:rect b="b" l="l" r="r" t="t"/>
            <a:pathLst>
              <a:path extrusionOk="0" h="925449" w="14840965">
                <a:moveTo>
                  <a:pt x="0" y="0"/>
                </a:moveTo>
                <a:lnTo>
                  <a:pt x="14840965" y="0"/>
                </a:lnTo>
                <a:lnTo>
                  <a:pt x="14840965" y="925449"/>
                </a:lnTo>
                <a:lnTo>
                  <a:pt x="0" y="925449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2249" l="0" r="0" t="-2622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1" name="Google Shape;521;h4323cbb8aa639dca_0_30"/>
          <p:cNvGrpSpPr/>
          <p:nvPr/>
        </p:nvGrpSpPr>
        <p:grpSpPr>
          <a:xfrm>
            <a:off x="640075" y="1431600"/>
            <a:ext cx="17262675" cy="1351350"/>
            <a:chOff x="-7" y="-66685"/>
            <a:chExt cx="23016900" cy="1801800"/>
          </a:xfrm>
        </p:grpSpPr>
        <p:sp>
          <p:nvSpPr>
            <p:cNvPr id="522" name="Google Shape;522;h4323cbb8aa639dca_0_30"/>
            <p:cNvSpPr/>
            <p:nvPr/>
          </p:nvSpPr>
          <p:spPr>
            <a:xfrm>
              <a:off x="0" y="0"/>
              <a:ext cx="14840962" cy="992156"/>
            </a:xfrm>
            <a:custGeom>
              <a:rect b="b" l="l" r="r" t="t"/>
              <a:pathLst>
                <a:path extrusionOk="0" h="992156" w="14840962">
                  <a:moveTo>
                    <a:pt x="0" y="0"/>
                  </a:moveTo>
                  <a:lnTo>
                    <a:pt x="14840962" y="0"/>
                  </a:lnTo>
                  <a:lnTo>
                    <a:pt x="14840962" y="992156"/>
                  </a:lnTo>
                  <a:lnTo>
                    <a:pt x="0" y="99215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41449" l="0" r="0" t="-24143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h4323cbb8aa639dca_0_30"/>
            <p:cNvSpPr txBox="1"/>
            <p:nvPr/>
          </p:nvSpPr>
          <p:spPr>
            <a:xfrm>
              <a:off x="-7" y="-66685"/>
              <a:ext cx="23016900" cy="18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3: La cantidad estándar ingresada es cero o negativa. El sistema señala el campo y solicita una cantidad mayor a cero.</a:t>
              </a:r>
              <a:endParaRPr b="0" i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" name="Google Shape;524;h4323cbb8aa639dca_0_30"/>
          <p:cNvSpPr txBox="1"/>
          <p:nvPr/>
        </p:nvSpPr>
        <p:spPr>
          <a:xfrm>
            <a:off x="640080" y="411480"/>
            <a:ext cx="164274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CU-102: Definiendo insumos estándar por proceso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h4323cbb8aa639dca_0_30" title="UR 11.4 CU-102-EXP 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3791" y="2782950"/>
            <a:ext cx="15633143" cy="6639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3"/>
          <p:cNvSpPr/>
          <p:nvPr/>
        </p:nvSpPr>
        <p:spPr>
          <a:xfrm>
            <a:off x="-22222" y="-22222"/>
            <a:ext cx="373666" cy="10331483"/>
          </a:xfrm>
          <a:custGeom>
            <a:rect b="b" l="l" r="r" t="t"/>
            <a:pathLst>
              <a:path extrusionOk="0" h="13775310" w="498221">
                <a:moveTo>
                  <a:pt x="0" y="0"/>
                </a:moveTo>
                <a:lnTo>
                  <a:pt x="498221" y="0"/>
                </a:lnTo>
                <a:lnTo>
                  <a:pt x="498221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914400" y="1005840"/>
            <a:ext cx="14264640" cy="640080"/>
          </a:xfrm>
          <a:custGeom>
            <a:rect b="b" l="l" r="r" t="t"/>
            <a:pathLst>
              <a:path extrusionOk="0" h="853440" w="19019520">
                <a:moveTo>
                  <a:pt x="0" y="0"/>
                </a:moveTo>
                <a:lnTo>
                  <a:pt x="19019520" y="0"/>
                </a:lnTo>
                <a:lnTo>
                  <a:pt x="19019520" y="853440"/>
                </a:lnTo>
                <a:lnTo>
                  <a:pt x="0" y="8534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83952" l="0" r="0" t="-38395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6" name="Google Shape;536;p23"/>
          <p:cNvGrpSpPr/>
          <p:nvPr/>
        </p:nvGrpSpPr>
        <p:grpSpPr>
          <a:xfrm>
            <a:off x="914400" y="934402"/>
            <a:ext cx="14264640" cy="711518"/>
            <a:chOff x="0" y="-47625"/>
            <a:chExt cx="19019520" cy="948690"/>
          </a:xfrm>
        </p:grpSpPr>
        <p:sp>
          <p:nvSpPr>
            <p:cNvPr id="537" name="Google Shape;537;p23"/>
            <p:cNvSpPr/>
            <p:nvPr/>
          </p:nvSpPr>
          <p:spPr>
            <a:xfrm>
              <a:off x="0" y="0"/>
              <a:ext cx="19019520" cy="901065"/>
            </a:xfrm>
            <a:custGeom>
              <a:rect b="b" l="l" r="r" t="t"/>
              <a:pathLst>
                <a:path extrusionOk="0" h="90106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01065"/>
                  </a:lnTo>
                  <a:lnTo>
                    <a:pt x="0" y="9010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61320" l="0" r="0" t="-36132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3"/>
            <p:cNvSpPr txBox="1"/>
            <p:nvPr/>
          </p:nvSpPr>
          <p:spPr>
            <a:xfrm>
              <a:off x="0" y="-47625"/>
              <a:ext cx="19019520" cy="948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SISTEMA DE INVENTARIO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9" name="Google Shape;539;p23"/>
          <p:cNvSpPr/>
          <p:nvPr/>
        </p:nvSpPr>
        <p:spPr>
          <a:xfrm>
            <a:off x="914400" y="1828800"/>
            <a:ext cx="14264640" cy="4389120"/>
          </a:xfrm>
          <a:custGeom>
            <a:rect b="b" l="l" r="r" t="t"/>
            <a:pathLst>
              <a:path extrusionOk="0" h="5852160" w="19019520">
                <a:moveTo>
                  <a:pt x="0" y="0"/>
                </a:moveTo>
                <a:lnTo>
                  <a:pt x="19019520" y="0"/>
                </a:lnTo>
                <a:lnTo>
                  <a:pt x="19019520" y="5852160"/>
                </a:lnTo>
                <a:lnTo>
                  <a:pt x="0" y="585216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3282" l="0" r="0" t="-132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0" name="Google Shape;540;p23"/>
          <p:cNvGrpSpPr/>
          <p:nvPr/>
        </p:nvGrpSpPr>
        <p:grpSpPr>
          <a:xfrm>
            <a:off x="914400" y="1585912"/>
            <a:ext cx="14264640" cy="4632008"/>
            <a:chOff x="0" y="-161925"/>
            <a:chExt cx="19019520" cy="6176010"/>
          </a:xfrm>
        </p:grpSpPr>
        <p:sp>
          <p:nvSpPr>
            <p:cNvPr id="541" name="Google Shape;541;p23"/>
            <p:cNvSpPr/>
            <p:nvPr/>
          </p:nvSpPr>
          <p:spPr>
            <a:xfrm>
              <a:off x="0" y="0"/>
              <a:ext cx="19019520" cy="6014085"/>
            </a:xfrm>
            <a:custGeom>
              <a:rect b="b" l="l" r="r" t="t"/>
              <a:pathLst>
                <a:path extrusionOk="0" h="601408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014085"/>
                  </a:lnTo>
                  <a:lnTo>
                    <a:pt x="0" y="601408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620" l="0" r="0" t="-1162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23"/>
            <p:cNvSpPr txBox="1"/>
            <p:nvPr/>
          </p:nvSpPr>
          <p:spPr>
            <a:xfrm>
              <a:off x="0" y="-161925"/>
              <a:ext cx="19019520" cy="61760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PROYECTO INGENIERÍA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 SOFTWARE II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INCREMENTO </a:t>
              </a:r>
              <a:r>
                <a:rPr b="1" lang="en-US" sz="8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GRUPO 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3" name="Google Shape;543;p23"/>
          <p:cNvSpPr/>
          <p:nvPr/>
        </p:nvSpPr>
        <p:spPr>
          <a:xfrm>
            <a:off x="917581" y="5916235"/>
            <a:ext cx="8274082" cy="117634"/>
          </a:xfrm>
          <a:custGeom>
            <a:rect b="b" l="l" r="r" t="t"/>
            <a:pathLst>
              <a:path extrusionOk="0" h="156845" w="11032109">
                <a:moveTo>
                  <a:pt x="0" y="0"/>
                </a:moveTo>
                <a:lnTo>
                  <a:pt x="11032109" y="0"/>
                </a:lnTo>
                <a:lnTo>
                  <a:pt x="11032109" y="156845"/>
                </a:lnTo>
                <a:lnTo>
                  <a:pt x="0" y="156845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/>
          <p:nvPr/>
        </p:nvSpPr>
        <p:spPr>
          <a:xfrm>
            <a:off x="914400" y="6583680"/>
            <a:ext cx="8229600" cy="548640"/>
          </a:xfrm>
          <a:custGeom>
            <a:rect b="b" l="l" r="r" t="t"/>
            <a:pathLst>
              <a:path extrusionOk="0" h="731520" w="10972800">
                <a:moveTo>
                  <a:pt x="0" y="0"/>
                </a:moveTo>
                <a:lnTo>
                  <a:pt x="10972800" y="0"/>
                </a:lnTo>
                <a:lnTo>
                  <a:pt x="1097280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42070" l="0" r="0" t="-2420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5" name="Google Shape;545;p23"/>
          <p:cNvGrpSpPr/>
          <p:nvPr/>
        </p:nvGrpSpPr>
        <p:grpSpPr>
          <a:xfrm>
            <a:off x="914400" y="6512242"/>
            <a:ext cx="8229600" cy="620078"/>
            <a:chOff x="0" y="-47625"/>
            <a:chExt cx="10972800" cy="826770"/>
          </a:xfrm>
        </p:grpSpPr>
        <p:sp>
          <p:nvSpPr>
            <p:cNvPr id="546" name="Google Shape;546;p23"/>
            <p:cNvSpPr/>
            <p:nvPr/>
          </p:nvSpPr>
          <p:spPr>
            <a:xfrm>
              <a:off x="0" y="0"/>
              <a:ext cx="10972800" cy="779145"/>
            </a:xfrm>
            <a:custGeom>
              <a:rect b="b" l="l" r="r" t="t"/>
              <a:pathLst>
                <a:path extrusionOk="0" h="7791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9145"/>
                  </a:lnTo>
                  <a:lnTo>
                    <a:pt x="0" y="7791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24424" l="0" r="0" t="-2244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23"/>
            <p:cNvSpPr txBox="1"/>
            <p:nvPr/>
          </p:nvSpPr>
          <p:spPr>
            <a:xfrm>
              <a:off x="0" y="-47625"/>
              <a:ext cx="10972800" cy="826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Autores: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914400" y="7132320"/>
            <a:ext cx="8229600" cy="2377440"/>
          </a:xfrm>
          <a:custGeom>
            <a:rect b="b" l="l" r="r" t="t"/>
            <a:pathLst>
              <a:path extrusionOk="0" h="3169920" w="10972800">
                <a:moveTo>
                  <a:pt x="0" y="0"/>
                </a:moveTo>
                <a:lnTo>
                  <a:pt x="10972800" y="0"/>
                </a:lnTo>
                <a:lnTo>
                  <a:pt x="10972800" y="3169920"/>
                </a:lnTo>
                <a:lnTo>
                  <a:pt x="0" y="31699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7402" l="0" r="0" t="-174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9" name="Google Shape;549;p23"/>
          <p:cNvGrpSpPr/>
          <p:nvPr/>
        </p:nvGrpSpPr>
        <p:grpSpPr>
          <a:xfrm>
            <a:off x="914400" y="7060882"/>
            <a:ext cx="8229600" cy="2448878"/>
            <a:chOff x="0" y="-47625"/>
            <a:chExt cx="10972800" cy="3265170"/>
          </a:xfrm>
        </p:grpSpPr>
        <p:sp>
          <p:nvSpPr>
            <p:cNvPr id="550" name="Google Shape;550;p23"/>
            <p:cNvSpPr/>
            <p:nvPr/>
          </p:nvSpPr>
          <p:spPr>
            <a:xfrm>
              <a:off x="0" y="0"/>
              <a:ext cx="10972800" cy="3217545"/>
            </a:xfrm>
            <a:custGeom>
              <a:rect b="b" l="l" r="r" t="t"/>
              <a:pathLst>
                <a:path extrusionOk="0" h="32175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17545"/>
                  </a:lnTo>
                  <a:lnTo>
                    <a:pt x="0" y="32175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449" l="0" r="0" t="-1644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23"/>
            <p:cNvSpPr txBox="1"/>
            <p:nvPr/>
          </p:nvSpPr>
          <p:spPr>
            <a:xfrm>
              <a:off x="0" y="-47625"/>
              <a:ext cx="10972800" cy="3265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Sofia Isidora Cariñe Valenzuela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Jhoe Eduardo Castillo Barrios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Karla Aylin Curín Navarro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Omar Adolfo Olmos Hernández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Lenin Andrés Reyes Gómez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Silvio Alberto Villagra Labbé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2" name="Google Shape;552;p23"/>
          <p:cNvSpPr/>
          <p:nvPr/>
        </p:nvSpPr>
        <p:spPr>
          <a:xfrm>
            <a:off x="10058400" y="6583680"/>
            <a:ext cx="7680960" cy="1280160"/>
          </a:xfrm>
          <a:custGeom>
            <a:rect b="b" l="l" r="r" t="t"/>
            <a:pathLst>
              <a:path extrusionOk="0" h="1706880" w="10241280">
                <a:moveTo>
                  <a:pt x="0" y="0"/>
                </a:moveTo>
                <a:lnTo>
                  <a:pt x="10241280" y="0"/>
                </a:lnTo>
                <a:lnTo>
                  <a:pt x="10241280" y="1706880"/>
                </a:lnTo>
                <a:lnTo>
                  <a:pt x="0" y="17068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66828" l="0" r="0" t="-668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3" name="Google Shape;553;p23"/>
          <p:cNvGrpSpPr/>
          <p:nvPr/>
        </p:nvGrpSpPr>
        <p:grpSpPr>
          <a:xfrm>
            <a:off x="10058400" y="6512242"/>
            <a:ext cx="7680960" cy="1351598"/>
            <a:chOff x="0" y="-47625"/>
            <a:chExt cx="10241280" cy="1802130"/>
          </a:xfrm>
        </p:grpSpPr>
        <p:sp>
          <p:nvSpPr>
            <p:cNvPr id="554" name="Google Shape;554;p23"/>
            <p:cNvSpPr/>
            <p:nvPr/>
          </p:nvSpPr>
          <p:spPr>
            <a:xfrm>
              <a:off x="0" y="0"/>
              <a:ext cx="10241280" cy="1754505"/>
            </a:xfrm>
            <a:custGeom>
              <a:rect b="b" l="l" r="r" t="t"/>
              <a:pathLst>
                <a:path extrusionOk="0" h="175450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4505"/>
                  </a:lnTo>
                  <a:lnTo>
                    <a:pt x="0" y="17545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3735" l="0" r="0" t="-6373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23"/>
            <p:cNvSpPr txBox="1"/>
            <p:nvPr/>
          </p:nvSpPr>
          <p:spPr>
            <a:xfrm>
              <a:off x="0" y="-47625"/>
              <a:ext cx="10241280" cy="1802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Facultad de Ingeniería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Ingeniería de Software II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23"/>
          <p:cNvSpPr/>
          <p:nvPr/>
        </p:nvSpPr>
        <p:spPr>
          <a:xfrm>
            <a:off x="10058400" y="7955280"/>
            <a:ext cx="7680960" cy="640080"/>
          </a:xfrm>
          <a:custGeom>
            <a:rect b="b" l="l" r="r" t="t"/>
            <a:pathLst>
              <a:path extrusionOk="0" h="853440" w="10241280">
                <a:moveTo>
                  <a:pt x="0" y="0"/>
                </a:moveTo>
                <a:lnTo>
                  <a:pt x="10241280" y="0"/>
                </a:lnTo>
                <a:lnTo>
                  <a:pt x="10241280" y="853440"/>
                </a:lnTo>
                <a:lnTo>
                  <a:pt x="0" y="8534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83667" l="0" r="0" t="-1836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7" name="Google Shape;557;p23"/>
          <p:cNvGrpSpPr/>
          <p:nvPr/>
        </p:nvGrpSpPr>
        <p:grpSpPr>
          <a:xfrm>
            <a:off x="10058400" y="7883842"/>
            <a:ext cx="7680960" cy="711518"/>
            <a:chOff x="0" y="-47625"/>
            <a:chExt cx="10241280" cy="948690"/>
          </a:xfrm>
        </p:grpSpPr>
        <p:sp>
          <p:nvSpPr>
            <p:cNvPr id="558" name="Google Shape;558;p23"/>
            <p:cNvSpPr/>
            <p:nvPr/>
          </p:nvSpPr>
          <p:spPr>
            <a:xfrm>
              <a:off x="0" y="0"/>
              <a:ext cx="10241280" cy="901065"/>
            </a:xfrm>
            <a:custGeom>
              <a:rect b="b" l="l" r="r" t="t"/>
              <a:pathLst>
                <a:path extrusionOk="0" h="90106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01065"/>
                  </a:lnTo>
                  <a:lnTo>
                    <a:pt x="0" y="9010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1454" l="0" r="0" t="-17145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23"/>
            <p:cNvSpPr txBox="1"/>
            <p:nvPr/>
          </p:nvSpPr>
          <p:spPr>
            <a:xfrm>
              <a:off x="0" y="-47625"/>
              <a:ext cx="10241280" cy="948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Profesor: </a:t>
              </a:r>
              <a:r>
                <a:rPr b="0" i="0" lang="en-US" sz="22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Paulo Quinsacara Jofré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0" name="Google Shape;560;p23"/>
          <p:cNvSpPr/>
          <p:nvPr/>
        </p:nvSpPr>
        <p:spPr>
          <a:xfrm>
            <a:off x="10058400" y="8686800"/>
            <a:ext cx="7680960" cy="548640"/>
          </a:xfrm>
          <a:custGeom>
            <a:rect b="b" l="l" r="r" t="t"/>
            <a:pathLst>
              <a:path extrusionOk="0" h="731520" w="10241280">
                <a:moveTo>
                  <a:pt x="0" y="0"/>
                </a:moveTo>
                <a:lnTo>
                  <a:pt x="10241280" y="0"/>
                </a:lnTo>
                <a:lnTo>
                  <a:pt x="1024128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22598" l="0" r="0" t="-2225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1" name="Google Shape;561;p23"/>
          <p:cNvGrpSpPr/>
          <p:nvPr/>
        </p:nvGrpSpPr>
        <p:grpSpPr>
          <a:xfrm>
            <a:off x="10058400" y="8629650"/>
            <a:ext cx="7680960" cy="605790"/>
            <a:chOff x="0" y="-38100"/>
            <a:chExt cx="10241280" cy="807720"/>
          </a:xfrm>
        </p:grpSpPr>
        <p:sp>
          <p:nvSpPr>
            <p:cNvPr id="562" name="Google Shape;562;p23"/>
            <p:cNvSpPr/>
            <p:nvPr/>
          </p:nvSpPr>
          <p:spPr>
            <a:xfrm>
              <a:off x="0" y="0"/>
              <a:ext cx="10241280" cy="769620"/>
            </a:xfrm>
            <a:custGeom>
              <a:rect b="b" l="l" r="r" t="t"/>
              <a:pathLst>
                <a:path extrusionOk="0" h="7696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69620"/>
                  </a:lnTo>
                  <a:lnTo>
                    <a:pt x="0" y="7696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9282" l="0" r="0" t="-2092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23"/>
            <p:cNvSpPr txBox="1"/>
            <p:nvPr/>
          </p:nvSpPr>
          <p:spPr>
            <a:xfrm>
              <a:off x="0" y="-38100"/>
              <a:ext cx="10241280" cy="807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Santiago, Chile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4" name="Google Shape;564;p23"/>
          <p:cNvSpPr/>
          <p:nvPr/>
        </p:nvSpPr>
        <p:spPr>
          <a:xfrm>
            <a:off x="927106" y="1572768"/>
            <a:ext cx="4102132" cy="619506"/>
          </a:xfrm>
          <a:custGeom>
            <a:rect b="b" l="l" r="r" t="t"/>
            <a:pathLst>
              <a:path extrusionOk="0" h="826008" w="5469509">
                <a:moveTo>
                  <a:pt x="0" y="0"/>
                </a:moveTo>
                <a:lnTo>
                  <a:pt x="5469509" y="0"/>
                </a:lnTo>
                <a:lnTo>
                  <a:pt x="5469509" y="826008"/>
                </a:lnTo>
                <a:lnTo>
                  <a:pt x="0" y="82600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8935" l="0" r="0" t="-789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5" name="Google Shape;565;p23"/>
          <p:cNvGrpSpPr/>
          <p:nvPr/>
        </p:nvGrpSpPr>
        <p:grpSpPr>
          <a:xfrm>
            <a:off x="927106" y="1472756"/>
            <a:ext cx="4102099" cy="719566"/>
            <a:chOff x="0" y="-66675"/>
            <a:chExt cx="5469464" cy="959421"/>
          </a:xfrm>
        </p:grpSpPr>
        <p:sp>
          <p:nvSpPr>
            <p:cNvPr id="566" name="Google Shape;566;p23"/>
            <p:cNvSpPr/>
            <p:nvPr/>
          </p:nvSpPr>
          <p:spPr>
            <a:xfrm>
              <a:off x="0" y="0"/>
              <a:ext cx="5469464" cy="892743"/>
            </a:xfrm>
            <a:custGeom>
              <a:rect b="b" l="l" r="r" t="t"/>
              <a:pathLst>
                <a:path extrusionOk="0" h="892743" w="5469464">
                  <a:moveTo>
                    <a:pt x="0" y="0"/>
                  </a:moveTo>
                  <a:lnTo>
                    <a:pt x="5469464" y="0"/>
                  </a:lnTo>
                  <a:lnTo>
                    <a:pt x="5469464" y="892743"/>
                  </a:lnTo>
                  <a:lnTo>
                    <a:pt x="0" y="89274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9377" l="0" r="0" t="-6937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23"/>
            <p:cNvSpPr txBox="1"/>
            <p:nvPr/>
          </p:nvSpPr>
          <p:spPr>
            <a:xfrm>
              <a:off x="0" y="-66675"/>
              <a:ext cx="5469458" cy="9594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b="0" i="0" lang="en-US" sz="3099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Universidad Andrés Bello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" name="Google Shape;568;p23"/>
          <p:cNvSpPr/>
          <p:nvPr/>
        </p:nvSpPr>
        <p:spPr>
          <a:xfrm>
            <a:off x="15760065" y="91430"/>
            <a:ext cx="2228278" cy="1874520"/>
          </a:xfrm>
          <a:custGeom>
            <a:rect b="b" l="l" r="r" t="t"/>
            <a:pathLst>
              <a:path extrusionOk="0" h="2499360" w="2971038">
                <a:moveTo>
                  <a:pt x="0" y="0"/>
                </a:moveTo>
                <a:lnTo>
                  <a:pt x="2971038" y="0"/>
                </a:lnTo>
                <a:lnTo>
                  <a:pt x="2971038" y="2499360"/>
                </a:lnTo>
                <a:lnTo>
                  <a:pt x="0" y="2499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49" l="0" r="0" t="-1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silvio villagra</dc:creator>
</cp:coreProperties>
</file>