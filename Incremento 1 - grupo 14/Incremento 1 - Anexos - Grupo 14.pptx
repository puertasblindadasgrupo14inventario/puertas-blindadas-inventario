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libri (MS)" panose="020B0604020202020204" charset="0"/>
      <p:regular r:id="rId26"/>
    </p:embeddedFont>
    <p:embeddedFont>
      <p:font typeface="Calibri (MS)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373666" cy="10331482"/>
            <a:chOff x="0" y="0"/>
            <a:chExt cx="498221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21" cy="13775310"/>
            </a:xfrm>
            <a:custGeom>
              <a:avLst/>
              <a:gdLst/>
              <a:ahLst/>
              <a:cxnLst/>
              <a:rect l="l" t="t" r="r" b="b"/>
              <a:pathLst>
                <a:path w="498221" h="13775310">
                  <a:moveTo>
                    <a:pt x="0" y="0"/>
                  </a:moveTo>
                  <a:lnTo>
                    <a:pt x="498221" y="0"/>
                  </a:lnTo>
                  <a:lnTo>
                    <a:pt x="498221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1005840"/>
            <a:ext cx="14264640" cy="640080"/>
            <a:chOff x="0" y="0"/>
            <a:chExt cx="19019520" cy="853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19520" cy="853440"/>
            </a:xfrm>
            <a:custGeom>
              <a:avLst/>
              <a:gdLst/>
              <a:ahLst/>
              <a:cxnLst/>
              <a:rect l="l" t="t" r="r" b="b"/>
              <a:pathLst>
                <a:path w="19019520" h="85344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936" b="-38393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970121"/>
            <a:ext cx="14264640" cy="675799"/>
            <a:chOff x="0" y="0"/>
            <a:chExt cx="19019520" cy="9010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19520" cy="901065"/>
            </a:xfrm>
            <a:custGeom>
              <a:avLst/>
              <a:gdLst/>
              <a:ahLst/>
              <a:cxnLst/>
              <a:rect l="l" t="t" r="r" b="b"/>
              <a:pathLst>
                <a:path w="19019520" h="901065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1286" b="-36128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8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DE INVENTARIO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828800"/>
            <a:ext cx="14264640" cy="4389120"/>
            <a:chOff x="0" y="0"/>
            <a:chExt cx="19019520" cy="5852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19520" cy="5852160"/>
            </a:xfrm>
            <a:custGeom>
              <a:avLst/>
              <a:gdLst/>
              <a:ahLst/>
              <a:cxnLst/>
              <a:rect l="l" t="t" r="r" b="b"/>
              <a:pathLst>
                <a:path w="19019520" h="585216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707356"/>
            <a:ext cx="14264640" cy="4510564"/>
            <a:chOff x="0" y="0"/>
            <a:chExt cx="19019520" cy="60140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19520" cy="6014085"/>
            </a:xfrm>
            <a:custGeom>
              <a:avLst/>
              <a:gdLst/>
              <a:ahLst/>
              <a:cxnLst/>
              <a:rect l="l" t="t" r="r" b="b"/>
              <a:pathLst>
                <a:path w="19019520" h="6014085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21" b="-1162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INGENIERÍA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SOFTWARE II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INCREMENTO 1 GRUPO 14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7581" y="5916235"/>
            <a:ext cx="8274082" cy="117634"/>
            <a:chOff x="0" y="0"/>
            <a:chExt cx="11032109" cy="1568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32109" cy="156845"/>
            </a:xfrm>
            <a:custGeom>
              <a:avLst/>
              <a:gdLst/>
              <a:ahLst/>
              <a:cxnLst/>
              <a:rect l="l" t="t" r="r" b="b"/>
              <a:pathLst>
                <a:path w="11032109" h="156845">
                  <a:moveTo>
                    <a:pt x="0" y="0"/>
                  </a:moveTo>
                  <a:lnTo>
                    <a:pt x="11032109" y="0"/>
                  </a:lnTo>
                  <a:lnTo>
                    <a:pt x="110321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6583680"/>
            <a:ext cx="8229600" cy="548640"/>
            <a:chOff x="0" y="0"/>
            <a:chExt cx="109728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6547961"/>
            <a:ext cx="8229600" cy="584359"/>
            <a:chOff x="0" y="0"/>
            <a:chExt cx="10972800" cy="779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779145"/>
            </a:xfrm>
            <a:custGeom>
              <a:avLst/>
              <a:gdLst/>
              <a:ahLst/>
              <a:cxnLst/>
              <a:rect l="l" t="t" r="r" b="b"/>
              <a:pathLst>
                <a:path w="10972800" h="779145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410" b="-22441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Autores: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7132320"/>
            <a:ext cx="8229600" cy="2377440"/>
            <a:chOff x="0" y="0"/>
            <a:chExt cx="10972800" cy="3169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3169920"/>
            </a:xfrm>
            <a:custGeom>
              <a:avLst/>
              <a:gdLst/>
              <a:ahLst/>
              <a:cxnLst/>
              <a:rect l="l" t="t" r="r" b="b"/>
              <a:pathLst>
                <a:path w="10972800" h="316992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1" b="-174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7096601"/>
            <a:ext cx="8229600" cy="2413159"/>
            <a:chOff x="0" y="0"/>
            <a:chExt cx="10972800" cy="32175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0" cy="3217545"/>
            </a:xfrm>
            <a:custGeom>
              <a:avLst/>
              <a:gdLst/>
              <a:ahLst/>
              <a:cxnLst/>
              <a:rect l="l" t="t" r="r" b="b"/>
              <a:pathLst>
                <a:path w="10972800" h="3217545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449" b="-16449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Sofia Isidora </a:t>
              </a: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Cariñe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Valenzuela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Jhoe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Eduardo Castillo Barrios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Karla Aylin </a:t>
              </a: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Curín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Navarro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Omar Adolfo Olmos Hernández</a:t>
              </a:r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Lenin Andrés Reyes Gómez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Silvio Alberto Villagra Labbé</a:t>
              </a:r>
              <a:endParaRPr lang="en-US" sz="240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0" y="6583680"/>
            <a:ext cx="7680960" cy="1280160"/>
            <a:chOff x="0" y="0"/>
            <a:chExt cx="10241280" cy="1706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1706880"/>
            </a:xfrm>
            <a:custGeom>
              <a:avLst/>
              <a:gdLst/>
              <a:ahLst/>
              <a:cxnLst/>
              <a:rect l="l" t="t" r="r" b="b"/>
              <a:pathLst>
                <a:path w="10241280" h="17068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28" b="-6682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0" y="6547961"/>
            <a:ext cx="7680960" cy="1315879"/>
            <a:chOff x="0" y="0"/>
            <a:chExt cx="10241280" cy="17545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41280" cy="1754505"/>
            </a:xfrm>
            <a:custGeom>
              <a:avLst/>
              <a:gdLst/>
              <a:ahLst/>
              <a:cxnLst/>
              <a:rect l="l" t="t" r="r" b="b"/>
              <a:pathLst>
                <a:path w="10241280" h="1754505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36" b="-6373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Facultad</a:t>
              </a:r>
              <a:r>
                <a:rPr lang="en-US" sz="22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 Ingeniería</a:t>
              </a:r>
            </a:p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de Software II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58400" y="7955280"/>
            <a:ext cx="7680960" cy="640080"/>
            <a:chOff x="0" y="0"/>
            <a:chExt cx="10241280" cy="85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0" cy="853440"/>
            </a:xfrm>
            <a:custGeom>
              <a:avLst/>
              <a:gdLst/>
              <a:ahLst/>
              <a:cxnLst/>
              <a:rect l="l" t="t" r="r" b="b"/>
              <a:pathLst>
                <a:path w="10241280" h="85344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58400" y="7919561"/>
            <a:ext cx="7680960" cy="675799"/>
            <a:chOff x="0" y="0"/>
            <a:chExt cx="10241280" cy="9010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41280" cy="901065"/>
            </a:xfrm>
            <a:custGeom>
              <a:avLst/>
              <a:gdLst/>
              <a:ahLst/>
              <a:cxnLst/>
              <a:rect l="l" t="t" r="r" b="b"/>
              <a:pathLst>
                <a:path w="10241280" h="901065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462" b="-17146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Paulo Quinsacara Jofré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0" y="8686800"/>
            <a:ext cx="7680960" cy="548640"/>
            <a:chOff x="0" y="0"/>
            <a:chExt cx="1024128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0" y="8658225"/>
            <a:ext cx="7680960" cy="577215"/>
            <a:chOff x="0" y="0"/>
            <a:chExt cx="10241280" cy="7696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769620"/>
            </a:xfrm>
            <a:custGeom>
              <a:avLst/>
              <a:gdLst/>
              <a:ahLst/>
              <a:cxnLst/>
              <a:rect l="l" t="t" r="r" b="b"/>
              <a:pathLst>
                <a:path w="10241280" h="76962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9286" b="-20928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Santiago, Chile · 2026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7106" y="1572768"/>
            <a:ext cx="4102094" cy="619554"/>
            <a:chOff x="0" y="0"/>
            <a:chExt cx="5469458" cy="826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69509" cy="826008"/>
            </a:xfrm>
            <a:custGeom>
              <a:avLst/>
              <a:gdLst/>
              <a:ahLst/>
              <a:cxnLst/>
              <a:rect l="l" t="t" r="r" b="b"/>
              <a:pathLst>
                <a:path w="5469509" h="826008">
                  <a:moveTo>
                    <a:pt x="0" y="0"/>
                  </a:moveTo>
                  <a:lnTo>
                    <a:pt x="5469509" y="0"/>
                  </a:lnTo>
                  <a:lnTo>
                    <a:pt x="5469509" y="826008"/>
                  </a:lnTo>
                  <a:lnTo>
                    <a:pt x="0" y="826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28" b="-789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7106" y="1522762"/>
            <a:ext cx="4102094" cy="669560"/>
            <a:chOff x="0" y="0"/>
            <a:chExt cx="5469458" cy="8927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69464" cy="892743"/>
            </a:xfrm>
            <a:custGeom>
              <a:avLst/>
              <a:gdLst/>
              <a:ahLst/>
              <a:cxnLst/>
              <a:rect l="l" t="t" r="r" b="b"/>
              <a:pathLst>
                <a:path w="5469464" h="892743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9376" b="-6937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Andrés Bello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760065" y="91430"/>
            <a:ext cx="2228288" cy="1874549"/>
            <a:chOff x="0" y="0"/>
            <a:chExt cx="2971051" cy="249939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971038" cy="2499360"/>
            </a:xfrm>
            <a:custGeom>
              <a:avLst/>
              <a:gdLst/>
              <a:ahLst/>
              <a:cxnLst/>
              <a:rect l="l" t="t" r="r" b="b"/>
              <a:pathLst>
                <a:path w="2971038" h="2499360">
                  <a:moveTo>
                    <a:pt x="0" y="0"/>
                  </a:moveTo>
                  <a:lnTo>
                    <a:pt x="2971038" y="0"/>
                  </a:lnTo>
                  <a:lnTo>
                    <a:pt x="2971038" y="2499360"/>
                  </a:lnTo>
                  <a:lnTo>
                    <a:pt x="0" y="249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8" b="-14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08264" y="3715779"/>
            <a:ext cx="1871462" cy="1005840"/>
            <a:chOff x="0" y="0"/>
            <a:chExt cx="2495283" cy="1341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5296" cy="1341120"/>
            </a:xfrm>
            <a:custGeom>
              <a:avLst/>
              <a:gdLst/>
              <a:ahLst/>
              <a:cxnLst/>
              <a:rect l="l" t="t" r="r" b="b"/>
              <a:pathLst>
                <a:path w="2495296" h="1341120">
                  <a:moveTo>
                    <a:pt x="0" y="0"/>
                  </a:moveTo>
                  <a:lnTo>
                    <a:pt x="2495296" y="0"/>
                  </a:lnTo>
                  <a:lnTo>
                    <a:pt x="249529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006" r="-19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08264" y="3658629"/>
            <a:ext cx="1871462" cy="1062990"/>
            <a:chOff x="0" y="0"/>
            <a:chExt cx="2495283" cy="14173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5284" cy="1417320"/>
            </a:xfrm>
            <a:custGeom>
              <a:avLst/>
              <a:gdLst/>
              <a:ahLst/>
              <a:cxnLst/>
              <a:rect l="l" t="t" r="r" b="b"/>
              <a:pathLst>
                <a:path w="2495284" h="1417320">
                  <a:moveTo>
                    <a:pt x="0" y="0"/>
                  </a:moveTo>
                  <a:lnTo>
                    <a:pt x="2495284" y="0"/>
                  </a:lnTo>
                  <a:lnTo>
                    <a:pt x="2495284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76" r="-2287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2495283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55023" y="4593146"/>
            <a:ext cx="2378021" cy="148257"/>
            <a:chOff x="0" y="0"/>
            <a:chExt cx="3170695" cy="1976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0682" cy="197612"/>
            </a:xfrm>
            <a:custGeom>
              <a:avLst/>
              <a:gdLst/>
              <a:ahLst/>
              <a:cxnLst/>
              <a:rect l="l" t="t" r="r" b="b"/>
              <a:pathLst>
                <a:path w="3170682" h="197612">
                  <a:moveTo>
                    <a:pt x="0" y="0"/>
                  </a:moveTo>
                  <a:lnTo>
                    <a:pt x="3170682" y="0"/>
                  </a:lnTo>
                  <a:lnTo>
                    <a:pt x="3170682" y="197612"/>
                  </a:lnTo>
                  <a:lnTo>
                    <a:pt x="0" y="197612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219456"/>
            <a:ext cx="17007840" cy="1005840"/>
            <a:chOff x="0" y="0"/>
            <a:chExt cx="22677120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5" b="-27924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2306"/>
            <a:ext cx="17007840" cy="1062990"/>
            <a:chOff x="0" y="0"/>
            <a:chExt cx="22677120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1417320"/>
            </a:xfrm>
            <a:custGeom>
              <a:avLst/>
              <a:gdLst/>
              <a:ahLst/>
              <a:cxnLst/>
              <a:rect l="l" t="t" r="r" b="b"/>
              <a:pathLst>
                <a:path w="22677120" h="14173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760" b="-26176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FR-01 SQL-Tabla MATERIAL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4412" y="1148124"/>
            <a:ext cx="17074515" cy="7381875"/>
            <a:chOff x="0" y="0"/>
            <a:chExt cx="22766020" cy="9842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66020" cy="9842500"/>
            </a:xfrm>
            <a:custGeom>
              <a:avLst/>
              <a:gdLst/>
              <a:ahLst/>
              <a:cxnLst/>
              <a:rect l="l" t="t" r="r" b="b"/>
              <a:pathLst>
                <a:path w="22766020" h="9842500">
                  <a:moveTo>
                    <a:pt x="0" y="0"/>
                  </a:moveTo>
                  <a:lnTo>
                    <a:pt x="22766020" y="0"/>
                  </a:lnTo>
                  <a:lnTo>
                    <a:pt x="22766020" y="9842500"/>
                  </a:lnTo>
                  <a:lnTo>
                    <a:pt x="0" y="9842500"/>
                  </a:lnTo>
                  <a:close/>
                </a:path>
              </a:pathLst>
            </a:custGeom>
            <a:solidFill>
              <a:srgbClr val="1E1E1E"/>
            </a:solidFill>
            <a:ln w="381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08230" y="1399118"/>
            <a:ext cx="6308893" cy="644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Entidad central del inventario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material (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material_sku VARCHAR(16) NOT NULL,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SKU: 4-16 chars, único → satisface FR-01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material_nombre_material VARCHAR(200) NOT NULL,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material_descripcion TEXT,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material_material_critico BOOLEAN NOT NULL DEFAULT FALSE,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material_presentacion VARCHAR(150),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material_stock_critico NUMERIC(12,4),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material_stock_maximo NUMERIC(12,4),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material_stock_minimo NUMERIC(12,4),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material_es_rotativo BOOLEAN NOT NULL DEFAULT TRUE,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material_estado VARCHAR(50) NOT NULL,</a:t>
            </a:r>
          </a:p>
          <a:p>
            <a:pPr algn="l">
              <a:lnSpc>
                <a:spcPts val="2206"/>
              </a:lnSpc>
            </a:pPr>
            <a:endParaRPr lang="en-US" sz="1838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FKs hacia catálogos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material_categoria_general_id_cat BIGINT,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material_categoria_funcional_id_cat BIGINT,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material_clasificacion_nivel_esp_id BIGINT,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material_unidad_medida_id BIGINT NOT NULL,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pk_material PRIMARY KEY (material_sku),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ck_material_sku_len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CHECK (length(material_sku) BETWEEN 4 AND 16)</a:t>
            </a:r>
          </a:p>
          <a:p>
            <a:pPr algn="l">
              <a:lnSpc>
                <a:spcPts val="2206"/>
              </a:lnSpc>
            </a:pPr>
            <a:r>
              <a:rPr lang="en-US" sz="183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88132" y="1418168"/>
            <a:ext cx="4210764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Claves foráneas de material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ALTER TABLE material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fk_mat_cat_gen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(...)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material_categoria_general,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fk_mat_cat_func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(...)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material_categoria_funcional,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fk_mat_unidad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(material_unidad_medida_id)</a:t>
            </a:r>
          </a:p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material_unidad_medida;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52537" y="5385940"/>
            <a:ext cx="4245893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Índices de material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idx_material_estado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material(material_estado);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idx_material_cat_gen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material(material_categoria_general...);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idx_material_unidad</a:t>
            </a:r>
          </a:p>
          <a:p>
            <a:pPr algn="l">
              <a:lnSpc>
                <a:spcPts val="2187"/>
              </a:lnSpc>
            </a:pPr>
            <a:r>
              <a:rPr lang="en-US" sz="18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material(material_unidad_medida...);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219456"/>
            <a:ext cx="17007840" cy="1005840"/>
            <a:chOff x="0" y="0"/>
            <a:chExt cx="22677120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5" b="-27924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2306"/>
            <a:ext cx="17007840" cy="1062990"/>
            <a:chOff x="0" y="0"/>
            <a:chExt cx="22677120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1417320"/>
            </a:xfrm>
            <a:custGeom>
              <a:avLst/>
              <a:gdLst/>
              <a:ahLst/>
              <a:cxnLst/>
              <a:rect l="l" t="t" r="r" b="b"/>
              <a:pathLst>
                <a:path w="22677120" h="14173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760" b="-26176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FR-19 SQL-Tabla MOVIMIENTO_INVENTARIO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4412" y="1148124"/>
            <a:ext cx="17074515" cy="7381875"/>
            <a:chOff x="0" y="0"/>
            <a:chExt cx="22766020" cy="9842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66020" cy="9842500"/>
            </a:xfrm>
            <a:custGeom>
              <a:avLst/>
              <a:gdLst/>
              <a:ahLst/>
              <a:cxnLst/>
              <a:rect l="l" t="t" r="r" b="b"/>
              <a:pathLst>
                <a:path w="22766020" h="9842500">
                  <a:moveTo>
                    <a:pt x="0" y="0"/>
                  </a:moveTo>
                  <a:lnTo>
                    <a:pt x="22766020" y="0"/>
                  </a:lnTo>
                  <a:lnTo>
                    <a:pt x="22766020" y="9842500"/>
                  </a:lnTo>
                  <a:lnTo>
                    <a:pt x="0" y="9842500"/>
                  </a:lnTo>
                  <a:close/>
                </a:path>
              </a:pathLst>
            </a:custGeom>
            <a:solidFill>
              <a:srgbClr val="1E1E1E"/>
            </a:solidFill>
            <a:ln w="381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93409" y="1964817"/>
            <a:ext cx="8914209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Evento central de stock. Cubre FR-19 (salidas)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 (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movimiento_inventario_id_movimiento BIGINT GENERATED ALWAYS AS IDENTITY NOT NULL,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movimiento_inventario_fecha_hora TIMESTAMPTZ NOT NULL DEFAULT now(),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movimiento_inventario_cantidad NUMERIC(12,4) NOT NULL,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movimiento_inventario_estado VARCHAR(50) NOT NULL,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material_sku VARCHAR(16) NOT NULL, -- → FR-01 SKU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bodega_id_bodega BIGINT, -- bodega origen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lote_id_lote BIGINT, -- trazabilidad FIFO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proyecto_id_proyecto BIGINT, -- FK blanda → terreno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factura_compra_id_factura_compra BIGINT,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usuario_id_usuario BIGINT NOT NULL, -- quién registra la salida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tipo: SALIDA / ENTRADA / AJUSTE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movimiento_inventario_tipo_movimiento_id BIGINT NOT NULL,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motivo específico (consumo, pérdida, traslado…)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movimiento_inventario_motivo_movimiento_id BIGINT,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CONSTRAINT pk_mov_inv PRIMARY KEY (movimiento_inventario_id_movimiento),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ck_mov_inv_cant CHECK (movimiento_inventario_cantidad &gt;= 0)</a:t>
            </a:r>
          </a:p>
          <a:p>
            <a:pPr algn="l">
              <a:lnSpc>
                <a:spcPts val="2176"/>
              </a:lnSpc>
            </a:pPr>
            <a:r>
              <a:rPr lang="en-US" sz="181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64894" y="1964817"/>
            <a:ext cx="5490324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Catálogo tipo de movimiento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movimiento_inventario_tipo_movimiento (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'ENTRADA', 'SALIDA', 'AJUSTE'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pk_mov_tipo PRIMARY KEY (id)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64894" y="4379852"/>
            <a:ext cx="5782628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Catálogo clasificación de salida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movimiento_inventario_clasificacion_salida (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'consumo', 'pérdida', 'traslado'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Motivo asociado a clasificación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movimiento_inventario_motivo_movimiento (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clasificacion_salida_id BIGINT,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FK → clasificacion_salida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'venta', 'uso interno', 'pérdida'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221952"/>
            <a:ext cx="4385862" cy="1005840"/>
            <a:chOff x="0" y="0"/>
            <a:chExt cx="58478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47842" cy="1341120"/>
            </a:xfrm>
            <a:custGeom>
              <a:avLst/>
              <a:gdLst/>
              <a:ahLst/>
              <a:cxnLst/>
              <a:rect l="l" t="t" r="r" b="b"/>
              <a:pathLst>
                <a:path w="5847842" h="1341120">
                  <a:moveTo>
                    <a:pt x="0" y="0"/>
                  </a:moveTo>
                  <a:lnTo>
                    <a:pt x="5847842" y="0"/>
                  </a:lnTo>
                  <a:lnTo>
                    <a:pt x="584784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03" b="-3490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4802"/>
            <a:ext cx="4385862" cy="1062990"/>
            <a:chOff x="0" y="0"/>
            <a:chExt cx="58478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47815" cy="1417320"/>
            </a:xfrm>
            <a:custGeom>
              <a:avLst/>
              <a:gdLst/>
              <a:ahLst/>
              <a:cxnLst/>
              <a:rect l="l" t="t" r="r" b="b"/>
              <a:pathLst>
                <a:path w="5847815" h="1417320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94" b="-3039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49138" y="665636"/>
            <a:ext cx="9989725" cy="8575253"/>
            <a:chOff x="0" y="0"/>
            <a:chExt cx="13319633" cy="114336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319633" cy="11433683"/>
            </a:xfrm>
            <a:custGeom>
              <a:avLst/>
              <a:gdLst/>
              <a:ahLst/>
              <a:cxnLst/>
              <a:rect l="l" t="t" r="r" b="b"/>
              <a:pathLst>
                <a:path w="13319633" h="11433683">
                  <a:moveTo>
                    <a:pt x="0" y="0"/>
                  </a:moveTo>
                  <a:lnTo>
                    <a:pt x="13319633" y="0"/>
                  </a:lnTo>
                  <a:lnTo>
                    <a:pt x="13319633" y="11433683"/>
                  </a:lnTo>
                  <a:lnTo>
                    <a:pt x="0" y="11433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39613" y="9231354"/>
            <a:ext cx="10008803" cy="200968"/>
            <a:chOff x="0" y="0"/>
            <a:chExt cx="13345071" cy="2679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345033" cy="267970"/>
            </a:xfrm>
            <a:custGeom>
              <a:avLst/>
              <a:gdLst/>
              <a:ahLst/>
              <a:cxnLst/>
              <a:rect l="l" t="t" r="r" b="b"/>
              <a:pathLst>
                <a:path w="13345033" h="267970">
                  <a:moveTo>
                    <a:pt x="0" y="0"/>
                  </a:moveTo>
                  <a:lnTo>
                    <a:pt x="13345033" y="0"/>
                  </a:lnTo>
                  <a:lnTo>
                    <a:pt x="13345033" y="267970"/>
                  </a:lnTo>
                  <a:lnTo>
                    <a:pt x="0" y="26797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221952"/>
            <a:ext cx="4385862" cy="1005840"/>
            <a:chOff x="0" y="0"/>
            <a:chExt cx="58478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47842" cy="1341120"/>
            </a:xfrm>
            <a:custGeom>
              <a:avLst/>
              <a:gdLst/>
              <a:ahLst/>
              <a:cxnLst/>
              <a:rect l="l" t="t" r="r" b="b"/>
              <a:pathLst>
                <a:path w="5847842" h="1341120">
                  <a:moveTo>
                    <a:pt x="0" y="0"/>
                  </a:moveTo>
                  <a:lnTo>
                    <a:pt x="5847842" y="0"/>
                  </a:lnTo>
                  <a:lnTo>
                    <a:pt x="584784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03" b="-3490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4802"/>
            <a:ext cx="4385862" cy="1062990"/>
            <a:chOff x="0" y="0"/>
            <a:chExt cx="58478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47815" cy="1417320"/>
            </a:xfrm>
            <a:custGeom>
              <a:avLst/>
              <a:gdLst/>
              <a:ahLst/>
              <a:cxnLst/>
              <a:rect l="l" t="t" r="r" b="b"/>
              <a:pathLst>
                <a:path w="5847815" h="1417320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94" b="-3039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53077" y="2915136"/>
            <a:ext cx="16201301" cy="5181600"/>
            <a:chOff x="0" y="0"/>
            <a:chExt cx="21601735" cy="690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601685" cy="6908800"/>
            </a:xfrm>
            <a:custGeom>
              <a:avLst/>
              <a:gdLst/>
              <a:ahLst/>
              <a:cxnLst/>
              <a:rect l="l" t="t" r="r" b="b"/>
              <a:pathLst>
                <a:path w="21601685" h="6908800">
                  <a:moveTo>
                    <a:pt x="0" y="0"/>
                  </a:moveTo>
                  <a:lnTo>
                    <a:pt x="21601685" y="0"/>
                  </a:lnTo>
                  <a:lnTo>
                    <a:pt x="21601685" y="6908800"/>
                  </a:lnTo>
                  <a:lnTo>
                    <a:pt x="0" y="690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552" y="8087211"/>
            <a:ext cx="16220380" cy="169793"/>
            <a:chOff x="0" y="0"/>
            <a:chExt cx="21627173" cy="2263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627212" cy="226441"/>
            </a:xfrm>
            <a:custGeom>
              <a:avLst/>
              <a:gdLst/>
              <a:ahLst/>
              <a:cxnLst/>
              <a:rect l="l" t="t" r="r" b="b"/>
              <a:pathLst>
                <a:path w="21627212" h="226441">
                  <a:moveTo>
                    <a:pt x="0" y="0"/>
                  </a:moveTo>
                  <a:lnTo>
                    <a:pt x="21627212" y="0"/>
                  </a:lnTo>
                  <a:lnTo>
                    <a:pt x="21627212" y="226441"/>
                  </a:lnTo>
                  <a:lnTo>
                    <a:pt x="0" y="22644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3134878" cy="569424"/>
            <a:chOff x="0" y="0"/>
            <a:chExt cx="4179837" cy="7592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79824" cy="759206"/>
            </a:xfrm>
            <a:custGeom>
              <a:avLst/>
              <a:gdLst/>
              <a:ahLst/>
              <a:cxnLst/>
              <a:rect l="l" t="t" r="r" b="b"/>
              <a:pathLst>
                <a:path w="4179824" h="759206">
                  <a:moveTo>
                    <a:pt x="0" y="0"/>
                  </a:moveTo>
                  <a:lnTo>
                    <a:pt x="4179824" y="0"/>
                  </a:lnTo>
                  <a:lnTo>
                    <a:pt x="4179824" y="759206"/>
                  </a:lnTo>
                  <a:lnTo>
                    <a:pt x="0" y="7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99" b="-5720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81614"/>
            <a:ext cx="3134878" cy="619430"/>
            <a:chOff x="0" y="0"/>
            <a:chExt cx="4179837" cy="8259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9843" cy="825902"/>
            </a:xfrm>
            <a:custGeom>
              <a:avLst/>
              <a:gdLst/>
              <a:ahLst/>
              <a:cxnLst/>
              <a:rect l="l" t="t" r="r" b="b"/>
              <a:pathLst>
                <a:path w="4179843" h="825902">
                  <a:moveTo>
                    <a:pt x="0" y="0"/>
                  </a:moveTo>
                  <a:lnTo>
                    <a:pt x="4179843" y="0"/>
                  </a:lnTo>
                  <a:lnTo>
                    <a:pt x="4179843" y="825902"/>
                  </a:lnTo>
                  <a:lnTo>
                    <a:pt x="0" y="825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612" b="-4861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4179837" cy="892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18056" y="9246556"/>
            <a:ext cx="15559126" cy="174488"/>
            <a:chOff x="0" y="0"/>
            <a:chExt cx="20745501" cy="2326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45450" cy="232664"/>
            </a:xfrm>
            <a:custGeom>
              <a:avLst/>
              <a:gdLst/>
              <a:ahLst/>
              <a:cxnLst/>
              <a:rect l="l" t="t" r="r" b="b"/>
              <a:pathLst>
                <a:path w="20745450" h="232664">
                  <a:moveTo>
                    <a:pt x="0" y="0"/>
                  </a:moveTo>
                  <a:lnTo>
                    <a:pt x="20745450" y="0"/>
                  </a:lnTo>
                  <a:lnTo>
                    <a:pt x="20745450" y="232664"/>
                  </a:lnTo>
                  <a:lnTo>
                    <a:pt x="0" y="23266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7F2E1A7F-FC72-9A9F-6EAD-5C42C7DC4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56" y="2112015"/>
            <a:ext cx="15559088" cy="71345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341120"/>
            <a:ext cx="15666377" cy="812168"/>
            <a:chOff x="0" y="0"/>
            <a:chExt cx="20888503" cy="10828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88452" cy="1082929"/>
            </a:xfrm>
            <a:custGeom>
              <a:avLst/>
              <a:gdLst/>
              <a:ahLst/>
              <a:cxnLst/>
              <a:rect l="l" t="t" r="r" b="b"/>
              <a:pathLst>
                <a:path w="20888452" h="1082929">
                  <a:moveTo>
                    <a:pt x="0" y="0"/>
                  </a:moveTo>
                  <a:lnTo>
                    <a:pt x="20888452" y="0"/>
                  </a:lnTo>
                  <a:lnTo>
                    <a:pt x="20888452" y="1082929"/>
                  </a:lnTo>
                  <a:lnTo>
                    <a:pt x="0" y="1082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5584" b="-32558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291114"/>
            <a:ext cx="15666377" cy="862174"/>
            <a:chOff x="0" y="0"/>
            <a:chExt cx="20888503" cy="11495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888499" cy="1149568"/>
            </a:xfrm>
            <a:custGeom>
              <a:avLst/>
              <a:gdLst/>
              <a:ahLst/>
              <a:cxnLst/>
              <a:rect l="l" t="t" r="r" b="b"/>
              <a:pathLst>
                <a:path w="20888499" h="1149568">
                  <a:moveTo>
                    <a:pt x="0" y="0"/>
                  </a:moveTo>
                  <a:lnTo>
                    <a:pt x="20888499" y="0"/>
                  </a:lnTo>
                  <a:lnTo>
                    <a:pt x="20888499" y="1149568"/>
                  </a:lnTo>
                  <a:lnTo>
                    <a:pt x="0" y="11495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4057" b="-304057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0888503" cy="12162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El usuario deja el campo vacío. El sistema solicita el ingreso obligatorio.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489745" y="8368998"/>
            <a:ext cx="12727928" cy="371352"/>
            <a:chOff x="0" y="0"/>
            <a:chExt cx="23398759" cy="3683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398735" cy="368427"/>
            </a:xfrm>
            <a:custGeom>
              <a:avLst/>
              <a:gdLst/>
              <a:ahLst/>
              <a:cxnLst/>
              <a:rect l="l" t="t" r="r" b="b"/>
              <a:pathLst>
                <a:path w="23398735" h="368427">
                  <a:moveTo>
                    <a:pt x="0" y="0"/>
                  </a:moveTo>
                  <a:lnTo>
                    <a:pt x="23398735" y="0"/>
                  </a:lnTo>
                  <a:lnTo>
                    <a:pt x="23398735" y="368427"/>
                  </a:lnTo>
                  <a:lnTo>
                    <a:pt x="0" y="368427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646B7421-311C-4746-F242-C91D8B8A7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745" y="2101948"/>
            <a:ext cx="12727927" cy="626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59852"/>
            <a:ext cx="15979130" cy="709698"/>
            <a:chOff x="0" y="0"/>
            <a:chExt cx="21305507" cy="9462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305520" cy="946277"/>
            </a:xfrm>
            <a:custGeom>
              <a:avLst/>
              <a:gdLst/>
              <a:ahLst/>
              <a:cxnLst/>
              <a:rect l="l" t="t" r="r" b="b"/>
              <a:pathLst>
                <a:path w="21305520" h="946277">
                  <a:moveTo>
                    <a:pt x="0" y="0"/>
                  </a:moveTo>
                  <a:lnTo>
                    <a:pt x="21305520" y="0"/>
                  </a:lnTo>
                  <a:lnTo>
                    <a:pt x="21305520" y="946277"/>
                  </a:lnTo>
                  <a:lnTo>
                    <a:pt x="0" y="946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02" b="-3884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09846"/>
            <a:ext cx="15979130" cy="759704"/>
            <a:chOff x="0" y="0"/>
            <a:chExt cx="21305507" cy="10129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05513" cy="1012939"/>
            </a:xfrm>
            <a:custGeom>
              <a:avLst/>
              <a:gdLst/>
              <a:ahLst/>
              <a:cxnLst/>
              <a:rect l="l" t="t" r="r" b="b"/>
              <a:pathLst>
                <a:path w="21305513" h="1012939">
                  <a:moveTo>
                    <a:pt x="0" y="0"/>
                  </a:moveTo>
                  <a:lnTo>
                    <a:pt x="21305513" y="0"/>
                  </a:lnTo>
                  <a:lnTo>
                    <a:pt x="21305513" y="1012939"/>
                  </a:lnTo>
                  <a:lnTo>
                    <a:pt x="0" y="10129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835" b="-359835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1305507" cy="10796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Formato fuera de rango “4-16 caracteres.”. El sistema informa las reglas del SKU.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4436" y="8367676"/>
            <a:ext cx="15979129" cy="621314"/>
            <a:chOff x="0" y="0"/>
            <a:chExt cx="23031463" cy="3487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031450" cy="348742"/>
            </a:xfrm>
            <a:custGeom>
              <a:avLst/>
              <a:gdLst/>
              <a:ahLst/>
              <a:cxnLst/>
              <a:rect l="l" t="t" r="r" b="b"/>
              <a:pathLst>
                <a:path w="23031450" h="348742">
                  <a:moveTo>
                    <a:pt x="0" y="0"/>
                  </a:moveTo>
                  <a:lnTo>
                    <a:pt x="23031450" y="0"/>
                  </a:lnTo>
                  <a:lnTo>
                    <a:pt x="23031450" y="348742"/>
                  </a:lnTo>
                  <a:lnTo>
                    <a:pt x="0" y="348742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D5A85198-1D35-B4DC-395F-EB9B12C14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34" y="2319556"/>
            <a:ext cx="15997791" cy="6252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11676250" cy="756456"/>
            <a:chOff x="0" y="0"/>
            <a:chExt cx="15568333" cy="10086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568295" cy="1008634"/>
            </a:xfrm>
            <a:custGeom>
              <a:avLst/>
              <a:gdLst/>
              <a:ahLst/>
              <a:cxnLst/>
              <a:rect l="l" t="t" r="r" b="b"/>
              <a:pathLst>
                <a:path w="15568295" h="1008634">
                  <a:moveTo>
                    <a:pt x="0" y="0"/>
                  </a:moveTo>
                  <a:lnTo>
                    <a:pt x="15568295" y="0"/>
                  </a:lnTo>
                  <a:lnTo>
                    <a:pt x="15568295" y="1008634"/>
                  </a:lnTo>
                  <a:lnTo>
                    <a:pt x="0" y="1008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545" b="-25054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81614"/>
            <a:ext cx="11676250" cy="806463"/>
            <a:chOff x="0" y="0"/>
            <a:chExt cx="15568333" cy="10752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68329" cy="1075284"/>
            </a:xfrm>
            <a:custGeom>
              <a:avLst/>
              <a:gdLst/>
              <a:ahLst/>
              <a:cxnLst/>
              <a:rect l="l" t="t" r="r" b="b"/>
              <a:pathLst>
                <a:path w="15568329" h="1075284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2111" b="-23211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5568333" cy="11419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3 El SKU ya está registrado. El sistema solicita un código distinto.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52853" y="8994391"/>
            <a:ext cx="13989564" cy="459486"/>
            <a:chOff x="0" y="0"/>
            <a:chExt cx="19147739" cy="2739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147789" cy="273939"/>
            </a:xfrm>
            <a:custGeom>
              <a:avLst/>
              <a:gdLst/>
              <a:ahLst/>
              <a:cxnLst/>
              <a:rect l="l" t="t" r="r" b="b"/>
              <a:pathLst>
                <a:path w="19147789" h="273939">
                  <a:moveTo>
                    <a:pt x="0" y="0"/>
                  </a:moveTo>
                  <a:lnTo>
                    <a:pt x="19147789" y="0"/>
                  </a:lnTo>
                  <a:lnTo>
                    <a:pt x="19147789" y="273939"/>
                  </a:lnTo>
                  <a:lnTo>
                    <a:pt x="0" y="27393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3AFFB534-AB0C-8324-F8D5-639674FBD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53" y="2360133"/>
            <a:ext cx="13989564" cy="68882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3134878" cy="1005840"/>
            <a:chOff x="0" y="0"/>
            <a:chExt cx="4179837" cy="1341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79824" cy="1341120"/>
            </a:xfrm>
            <a:custGeom>
              <a:avLst/>
              <a:gdLst/>
              <a:ahLst/>
              <a:cxnLst/>
              <a:rect l="l" t="t" r="r" b="b"/>
              <a:pathLst>
                <a:path w="4179824" h="1341120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6" b="-1068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74470"/>
            <a:ext cx="3134878" cy="1062990"/>
            <a:chOff x="0" y="0"/>
            <a:chExt cx="4179837" cy="1417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9843" cy="1417320"/>
            </a:xfrm>
            <a:custGeom>
              <a:avLst/>
              <a:gdLst/>
              <a:ahLst/>
              <a:cxnLst/>
              <a:rect l="l" t="t" r="r" b="b"/>
              <a:pathLst>
                <a:path w="4179843" h="1417320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3" b="-74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69387" y="9160678"/>
            <a:ext cx="15149226" cy="250022"/>
            <a:chOff x="0" y="0"/>
            <a:chExt cx="20198969" cy="2265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98969" cy="226568"/>
            </a:xfrm>
            <a:custGeom>
              <a:avLst/>
              <a:gdLst/>
              <a:ahLst/>
              <a:cxnLst/>
              <a:rect l="l" t="t" r="r" b="b"/>
              <a:pathLst>
                <a:path w="20198969" h="226568">
                  <a:moveTo>
                    <a:pt x="0" y="0"/>
                  </a:moveTo>
                  <a:lnTo>
                    <a:pt x="20198969" y="0"/>
                  </a:lnTo>
                  <a:lnTo>
                    <a:pt x="20198969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71529E95-6E72-D589-2D03-6636018F7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386" y="2564102"/>
            <a:ext cx="15149227" cy="6569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12284116" cy="662940"/>
            <a:chOff x="0" y="0"/>
            <a:chExt cx="16378822" cy="883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78810" cy="883920"/>
            </a:xfrm>
            <a:custGeom>
              <a:avLst/>
              <a:gdLst/>
              <a:ahLst/>
              <a:cxnLst/>
              <a:rect l="l" t="t" r="r" b="b"/>
              <a:pathLst>
                <a:path w="16378810" h="883920">
                  <a:moveTo>
                    <a:pt x="0" y="0"/>
                  </a:moveTo>
                  <a:lnTo>
                    <a:pt x="16378810" y="0"/>
                  </a:lnTo>
                  <a:lnTo>
                    <a:pt x="16378810" y="883920"/>
                  </a:lnTo>
                  <a:lnTo>
                    <a:pt x="0" y="883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801" b="-3108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81614"/>
            <a:ext cx="12284116" cy="712946"/>
            <a:chOff x="0" y="0"/>
            <a:chExt cx="16378822" cy="9505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378824" cy="950592"/>
            </a:xfrm>
            <a:custGeom>
              <a:avLst/>
              <a:gdLst/>
              <a:ahLst/>
              <a:cxnLst/>
              <a:rect l="l" t="t" r="r" b="b"/>
              <a:pathLst>
                <a:path w="16378824" h="950592">
                  <a:moveTo>
                    <a:pt x="0" y="0"/>
                  </a:moveTo>
                  <a:lnTo>
                    <a:pt x="16378824" y="0"/>
                  </a:lnTo>
                  <a:lnTo>
                    <a:pt x="16378824" y="950592"/>
                  </a:lnTo>
                  <a:lnTo>
                    <a:pt x="0" y="950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5729" b="-285729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6378822" cy="1017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Campo de búsqueda vacío. El sistema solicita ingresar 3 caracteres.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85900" y="9179293"/>
            <a:ext cx="15316200" cy="294557"/>
            <a:chOff x="0" y="0"/>
            <a:chExt cx="23003713" cy="3431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003763" cy="343154"/>
            </a:xfrm>
            <a:custGeom>
              <a:avLst/>
              <a:gdLst/>
              <a:ahLst/>
              <a:cxnLst/>
              <a:rect l="l" t="t" r="r" b="b"/>
              <a:pathLst>
                <a:path w="23003763" h="343154">
                  <a:moveTo>
                    <a:pt x="0" y="0"/>
                  </a:moveTo>
                  <a:lnTo>
                    <a:pt x="23003763" y="0"/>
                  </a:lnTo>
                  <a:lnTo>
                    <a:pt x="23003763" y="343154"/>
                  </a:lnTo>
                  <a:lnTo>
                    <a:pt x="0" y="34315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0B2BCD06-AACC-2EF3-A0EF-0316488DA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2194558"/>
            <a:ext cx="15316200" cy="69847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17458811" cy="1062295"/>
            <a:chOff x="0" y="0"/>
            <a:chExt cx="23278414" cy="1416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278464" cy="1416431"/>
            </a:xfrm>
            <a:custGeom>
              <a:avLst/>
              <a:gdLst/>
              <a:ahLst/>
              <a:cxnLst/>
              <a:rect l="l" t="t" r="r" b="b"/>
              <a:pathLst>
                <a:path w="23278464" h="1416431">
                  <a:moveTo>
                    <a:pt x="0" y="0"/>
                  </a:moveTo>
                  <a:lnTo>
                    <a:pt x="23278464" y="0"/>
                  </a:lnTo>
                  <a:lnTo>
                    <a:pt x="23278464" y="1416431"/>
                  </a:lnTo>
                  <a:lnTo>
                    <a:pt x="0" y="1416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006" b="-27000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81614"/>
            <a:ext cx="17458811" cy="1112301"/>
            <a:chOff x="0" y="0"/>
            <a:chExt cx="23278414" cy="14830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78418" cy="1483072"/>
            </a:xfrm>
            <a:custGeom>
              <a:avLst/>
              <a:gdLst/>
              <a:ahLst/>
              <a:cxnLst/>
              <a:rect l="l" t="t" r="r" b="b"/>
              <a:pathLst>
                <a:path w="23278418" h="1483072">
                  <a:moveTo>
                    <a:pt x="0" y="0"/>
                  </a:moveTo>
                  <a:lnTo>
                    <a:pt x="23278418" y="0"/>
                  </a:lnTo>
                  <a:lnTo>
                    <a:pt x="23278418" y="1483072"/>
                  </a:lnTo>
                  <a:lnTo>
                    <a:pt x="0" y="14830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5838" b="-25583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3278414" cy="1549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Sin coincidencias para el criterio ingresado. El sistema informa "No se encontraron productos con los filtros aplicados."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62308" y="9110129"/>
            <a:ext cx="16795756" cy="165059"/>
            <a:chOff x="0" y="0"/>
            <a:chExt cx="22394342" cy="2200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94290" cy="220091"/>
            </a:xfrm>
            <a:custGeom>
              <a:avLst/>
              <a:gdLst/>
              <a:ahLst/>
              <a:cxnLst/>
              <a:rect l="l" t="t" r="r" b="b"/>
              <a:pathLst>
                <a:path w="22394290" h="220091">
                  <a:moveTo>
                    <a:pt x="0" y="0"/>
                  </a:moveTo>
                  <a:lnTo>
                    <a:pt x="22394290" y="0"/>
                  </a:lnTo>
                  <a:lnTo>
                    <a:pt x="22394290" y="220091"/>
                  </a:lnTo>
                  <a:lnTo>
                    <a:pt x="0" y="22009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42FFF8EC-311C-BD06-DF12-CC50C4659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44" y="2934892"/>
            <a:ext cx="16831876" cy="6160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CU-03: Consultando ficha de producto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1531620"/>
            <a:ext cx="3134878" cy="1005840"/>
            <a:chOff x="0" y="0"/>
            <a:chExt cx="4179837" cy="1341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79824" cy="1341120"/>
            </a:xfrm>
            <a:custGeom>
              <a:avLst/>
              <a:gdLst/>
              <a:ahLst/>
              <a:cxnLst/>
              <a:rect l="l" t="t" r="r" b="b"/>
              <a:pathLst>
                <a:path w="4179824" h="1341120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6" b="-1068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474470"/>
            <a:ext cx="3134878" cy="1062990"/>
            <a:chOff x="0" y="0"/>
            <a:chExt cx="4179837" cy="1417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9843" cy="1417320"/>
            </a:xfrm>
            <a:custGeom>
              <a:avLst/>
              <a:gdLst/>
              <a:ahLst/>
              <a:cxnLst/>
              <a:rect l="l" t="t" r="r" b="b"/>
              <a:pathLst>
                <a:path w="4179843" h="1417320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3" b="-74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7495" y="8978817"/>
            <a:ext cx="16013049" cy="157363"/>
            <a:chOff x="0" y="0"/>
            <a:chExt cx="21350732" cy="2098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50732" cy="209804"/>
            </a:xfrm>
            <a:custGeom>
              <a:avLst/>
              <a:gdLst/>
              <a:ahLst/>
              <a:cxnLst/>
              <a:rect l="l" t="t" r="r" b="b"/>
              <a:pathLst>
                <a:path w="21350732" h="209804">
                  <a:moveTo>
                    <a:pt x="0" y="0"/>
                  </a:moveTo>
                  <a:lnTo>
                    <a:pt x="21350732" y="0"/>
                  </a:lnTo>
                  <a:lnTo>
                    <a:pt x="21350732" y="209804"/>
                  </a:lnTo>
                  <a:lnTo>
                    <a:pt x="0" y="20980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2FDA86F9-A6F5-173F-2BD0-FB258CDE3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62" y="2764175"/>
            <a:ext cx="16038475" cy="62146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CU-03: Consultando ficha de producto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79102" y="8721203"/>
            <a:ext cx="15129778" cy="164049"/>
            <a:chOff x="0" y="0"/>
            <a:chExt cx="22253892" cy="2186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253829" cy="218694"/>
            </a:xfrm>
            <a:custGeom>
              <a:avLst/>
              <a:gdLst/>
              <a:ahLst/>
              <a:cxnLst/>
              <a:rect l="l" t="t" r="r" b="b"/>
              <a:pathLst>
                <a:path w="22253829" h="218694">
                  <a:moveTo>
                    <a:pt x="0" y="0"/>
                  </a:moveTo>
                  <a:lnTo>
                    <a:pt x="22253829" y="0"/>
                  </a:lnTo>
                  <a:lnTo>
                    <a:pt x="22253829" y="218694"/>
                  </a:lnTo>
                  <a:lnTo>
                    <a:pt x="0" y="21869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11130724" cy="694115"/>
            <a:chOff x="0" y="0"/>
            <a:chExt cx="14840966" cy="92548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40965" cy="925449"/>
            </a:xfrm>
            <a:custGeom>
              <a:avLst/>
              <a:gdLst/>
              <a:ahLst/>
              <a:cxnLst/>
              <a:rect l="l" t="t" r="r" b="b"/>
              <a:pathLst>
                <a:path w="14840965" h="925449">
                  <a:moveTo>
                    <a:pt x="0" y="0"/>
                  </a:moveTo>
                  <a:lnTo>
                    <a:pt x="14840965" y="0"/>
                  </a:lnTo>
                  <a:lnTo>
                    <a:pt x="14840965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2253" b="-26225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81614"/>
            <a:ext cx="11130724" cy="744122"/>
            <a:chOff x="0" y="0"/>
            <a:chExt cx="14840966" cy="9921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40962" cy="992156"/>
            </a:xfrm>
            <a:custGeom>
              <a:avLst/>
              <a:gdLst/>
              <a:ahLst/>
              <a:cxnLst/>
              <a:rect l="l" t="t" r="r" b="b"/>
              <a:pathLst>
                <a:path w="14840962" h="992156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462" b="-2414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4840966" cy="1058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Error de carga de datos. El sistema solicita refrescar la vista.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2699D118-FF22-6DA9-D943-D48B256867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102" y="2240009"/>
            <a:ext cx="15129777" cy="64669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0980" y="8821882"/>
            <a:ext cx="16715549" cy="459486"/>
            <a:chOff x="0" y="0"/>
            <a:chExt cx="21508631" cy="2487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08593" cy="248793"/>
            </a:xfrm>
            <a:custGeom>
              <a:avLst/>
              <a:gdLst/>
              <a:ahLst/>
              <a:cxnLst/>
              <a:rect l="l" t="t" r="r" b="b"/>
              <a:pathLst>
                <a:path w="21508593" h="248793">
                  <a:moveTo>
                    <a:pt x="0" y="0"/>
                  </a:moveTo>
                  <a:lnTo>
                    <a:pt x="21508593" y="0"/>
                  </a:lnTo>
                  <a:lnTo>
                    <a:pt x="21508593" y="248793"/>
                  </a:lnTo>
                  <a:lnTo>
                    <a:pt x="0" y="24879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3134878" cy="1005840"/>
            <a:chOff x="0" y="0"/>
            <a:chExt cx="4179837" cy="1341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9824" cy="1341120"/>
            </a:xfrm>
            <a:custGeom>
              <a:avLst/>
              <a:gdLst/>
              <a:ahLst/>
              <a:cxnLst/>
              <a:rect l="l" t="t" r="r" b="b"/>
              <a:pathLst>
                <a:path w="4179824" h="1341120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6" b="-1068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74470"/>
            <a:ext cx="3134878" cy="1062990"/>
            <a:chOff x="0" y="0"/>
            <a:chExt cx="4179837" cy="14173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9843" cy="1417320"/>
            </a:xfrm>
            <a:custGeom>
              <a:avLst/>
              <a:gdLst/>
              <a:ahLst/>
              <a:cxnLst/>
              <a:rect l="l" t="t" r="r" b="b"/>
              <a:pathLst>
                <a:path w="4179843" h="1417320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3" b="-74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170F7BE3-EEAE-B0A7-668B-48CE8E0D5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81" y="2537460"/>
            <a:ext cx="16743902" cy="65883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77" y="7836167"/>
            <a:ext cx="17368104" cy="162325"/>
            <a:chOff x="0" y="0"/>
            <a:chExt cx="23157472" cy="2164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157435" cy="216408"/>
            </a:xfrm>
            <a:custGeom>
              <a:avLst/>
              <a:gdLst/>
              <a:ahLst/>
              <a:cxnLst/>
              <a:rect l="l" t="t" r="r" b="b"/>
              <a:pathLst>
                <a:path w="23157435" h="216408">
                  <a:moveTo>
                    <a:pt x="0" y="0"/>
                  </a:moveTo>
                  <a:lnTo>
                    <a:pt x="23157435" y="0"/>
                  </a:lnTo>
                  <a:lnTo>
                    <a:pt x="23157435" y="216408"/>
                  </a:lnTo>
                  <a:lnTo>
                    <a:pt x="0" y="21640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17443228" cy="1062295"/>
            <a:chOff x="0" y="0"/>
            <a:chExt cx="23257637" cy="14163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57638" cy="1416431"/>
            </a:xfrm>
            <a:custGeom>
              <a:avLst/>
              <a:gdLst/>
              <a:ahLst/>
              <a:cxnLst/>
              <a:rect l="l" t="t" r="r" b="b"/>
              <a:pathLst>
                <a:path w="23257638" h="1416431">
                  <a:moveTo>
                    <a:pt x="0" y="0"/>
                  </a:moveTo>
                  <a:lnTo>
                    <a:pt x="23257638" y="0"/>
                  </a:lnTo>
                  <a:lnTo>
                    <a:pt x="23257638" y="1416431"/>
                  </a:lnTo>
                  <a:lnTo>
                    <a:pt x="0" y="1416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721" b="-26971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81614"/>
            <a:ext cx="17443228" cy="1112301"/>
            <a:chOff x="0" y="0"/>
            <a:chExt cx="23257637" cy="14830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257636" cy="1483072"/>
            </a:xfrm>
            <a:custGeom>
              <a:avLst/>
              <a:gdLst/>
              <a:ahLst/>
              <a:cxnLst/>
              <a:rect l="l" t="t" r="r" b="b"/>
              <a:pathLst>
                <a:path w="23257636" h="1483072">
                  <a:moveTo>
                    <a:pt x="0" y="0"/>
                  </a:moveTo>
                  <a:lnTo>
                    <a:pt x="23257636" y="0"/>
                  </a:lnTo>
                  <a:lnTo>
                    <a:pt x="23257636" y="1483072"/>
                  </a:lnTo>
                  <a:lnTo>
                    <a:pt x="0" y="14830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5565" b="-255565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3257637" cy="1549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Producto con movimientos asociados. El sistema impide el borrado por integridad referencial e indica que sólo puede "Desactivarse".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EB972F62-6CEF-B96F-29CC-275862D137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7" y="2835453"/>
            <a:ext cx="1744323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9093" y="8855393"/>
            <a:ext cx="15830549" cy="311734"/>
            <a:chOff x="0" y="0"/>
            <a:chExt cx="20617828" cy="2456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617814" cy="245618"/>
            </a:xfrm>
            <a:custGeom>
              <a:avLst/>
              <a:gdLst/>
              <a:ahLst/>
              <a:cxnLst/>
              <a:rect l="l" t="t" r="r" b="b"/>
              <a:pathLst>
                <a:path w="20617814" h="245618">
                  <a:moveTo>
                    <a:pt x="0" y="0"/>
                  </a:moveTo>
                  <a:lnTo>
                    <a:pt x="20617814" y="0"/>
                  </a:lnTo>
                  <a:lnTo>
                    <a:pt x="20617814" y="245618"/>
                  </a:lnTo>
                  <a:lnTo>
                    <a:pt x="0" y="24561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12004596" cy="787632"/>
            <a:chOff x="0" y="0"/>
            <a:chExt cx="16006128" cy="1050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06063" cy="1050163"/>
            </a:xfrm>
            <a:custGeom>
              <a:avLst/>
              <a:gdLst/>
              <a:ahLst/>
              <a:cxnLst/>
              <a:rect l="l" t="t" r="r" b="b"/>
              <a:pathLst>
                <a:path w="16006063" h="1050163">
                  <a:moveTo>
                    <a:pt x="0" y="0"/>
                  </a:moveTo>
                  <a:lnTo>
                    <a:pt x="16006063" y="0"/>
                  </a:lnTo>
                  <a:lnTo>
                    <a:pt x="16006063" y="1050163"/>
                  </a:lnTo>
                  <a:lnTo>
                    <a:pt x="0" y="1050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775" b="-24677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81614"/>
            <a:ext cx="12004596" cy="837638"/>
            <a:chOff x="0" y="0"/>
            <a:chExt cx="16006128" cy="11168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06127" cy="1116848"/>
            </a:xfrm>
            <a:custGeom>
              <a:avLst/>
              <a:gdLst/>
              <a:ahLst/>
              <a:cxnLst/>
              <a:rect l="l" t="t" r="r" b="b"/>
              <a:pathLst>
                <a:path w="16006127" h="1116848">
                  <a:moveTo>
                    <a:pt x="0" y="0"/>
                  </a:moveTo>
                  <a:lnTo>
                    <a:pt x="16006127" y="0"/>
                  </a:lnTo>
                  <a:lnTo>
                    <a:pt x="16006127" y="1116848"/>
                  </a:lnTo>
                  <a:lnTo>
                    <a:pt x="0" y="11168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9249" b="-22925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6006128" cy="1183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Usuario cancela la confirmación. El sistema aborta la eliminación.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FD7C4CB7-EF2B-6922-E37C-BADEF6F6E8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92" y="2264267"/>
            <a:ext cx="15830550" cy="6686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46105" y="9396795"/>
            <a:ext cx="12995790" cy="179358"/>
            <a:chOff x="14261" y="673303"/>
            <a:chExt cx="18986373" cy="201041"/>
          </a:xfrm>
        </p:grpSpPr>
        <p:sp>
          <p:nvSpPr>
            <p:cNvPr id="17" name="Freeform 17"/>
            <p:cNvSpPr/>
            <p:nvPr/>
          </p:nvSpPr>
          <p:spPr>
            <a:xfrm>
              <a:off x="14261" y="673303"/>
              <a:ext cx="18986373" cy="201041"/>
            </a:xfrm>
            <a:custGeom>
              <a:avLst/>
              <a:gdLst/>
              <a:ahLst/>
              <a:cxnLst/>
              <a:rect l="l" t="t" r="r" b="b"/>
              <a:pathLst>
                <a:path w="18986373" h="201041">
                  <a:moveTo>
                    <a:pt x="0" y="0"/>
                  </a:moveTo>
                  <a:lnTo>
                    <a:pt x="18986373" y="0"/>
                  </a:lnTo>
                  <a:lnTo>
                    <a:pt x="18986373" y="201041"/>
                  </a:lnTo>
                  <a:lnTo>
                    <a:pt x="0" y="20104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3134878" cy="1005840"/>
            <a:chOff x="0" y="0"/>
            <a:chExt cx="4179837" cy="1341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9824" cy="1341120"/>
            </a:xfrm>
            <a:custGeom>
              <a:avLst/>
              <a:gdLst/>
              <a:ahLst/>
              <a:cxnLst/>
              <a:rect l="l" t="t" r="r" b="b"/>
              <a:pathLst>
                <a:path w="4179824" h="1341120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6" b="-1068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74470"/>
            <a:ext cx="3134878" cy="1062990"/>
            <a:chOff x="0" y="0"/>
            <a:chExt cx="4179837" cy="14173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9843" cy="1417320"/>
            </a:xfrm>
            <a:custGeom>
              <a:avLst/>
              <a:gdLst/>
              <a:ahLst/>
              <a:cxnLst/>
              <a:rect l="l" t="t" r="r" b="b"/>
              <a:pathLst>
                <a:path w="4179843" h="1417320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3" b="-74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F6791D2A-FB67-3ED9-8D3C-7274701D28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105" y="2427590"/>
            <a:ext cx="12995790" cy="69692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2146" y="7989465"/>
            <a:ext cx="17243212" cy="187757"/>
            <a:chOff x="0" y="0"/>
            <a:chExt cx="22990950" cy="2503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990938" cy="250317"/>
            </a:xfrm>
            <a:custGeom>
              <a:avLst/>
              <a:gdLst/>
              <a:ahLst/>
              <a:cxnLst/>
              <a:rect l="l" t="t" r="r" b="b"/>
              <a:pathLst>
                <a:path w="22990938" h="250317">
                  <a:moveTo>
                    <a:pt x="0" y="0"/>
                  </a:moveTo>
                  <a:lnTo>
                    <a:pt x="22990938" y="0"/>
                  </a:lnTo>
                  <a:lnTo>
                    <a:pt x="22990938" y="250317"/>
                  </a:lnTo>
                  <a:lnTo>
                    <a:pt x="0" y="250317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16427263" cy="678523"/>
            <a:chOff x="0" y="0"/>
            <a:chExt cx="21903017" cy="9046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03055" cy="904748"/>
            </a:xfrm>
            <a:custGeom>
              <a:avLst/>
              <a:gdLst/>
              <a:ahLst/>
              <a:cxnLst/>
              <a:rect l="l" t="t" r="r" b="b"/>
              <a:pathLst>
                <a:path w="21903055" h="904748">
                  <a:moveTo>
                    <a:pt x="0" y="0"/>
                  </a:moveTo>
                  <a:lnTo>
                    <a:pt x="21903055" y="0"/>
                  </a:lnTo>
                  <a:lnTo>
                    <a:pt x="21903055" y="904748"/>
                  </a:lnTo>
                  <a:lnTo>
                    <a:pt x="0" y="904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386" b="-42138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81614"/>
            <a:ext cx="16427263" cy="728529"/>
            <a:chOff x="0" y="0"/>
            <a:chExt cx="21903017" cy="9713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03012" cy="971375"/>
            </a:xfrm>
            <a:custGeom>
              <a:avLst/>
              <a:gdLst/>
              <a:ahLst/>
              <a:cxnLst/>
              <a:rect l="l" t="t" r="r" b="b"/>
              <a:pathLst>
                <a:path w="21903012" h="971375">
                  <a:moveTo>
                    <a:pt x="0" y="0"/>
                  </a:moveTo>
                  <a:lnTo>
                    <a:pt x="21903012" y="0"/>
                  </a:lnTo>
                  <a:lnTo>
                    <a:pt x="21903012" y="971375"/>
                  </a:lnTo>
                  <a:lnTo>
                    <a:pt x="0" y="9713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9357" b="-389357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1903017" cy="1038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Falta de motivo. El sistema informa que es un campo obligatorio.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29EEBD58-8F25-D440-C8ED-DAAA6DBBD1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53" y="2310155"/>
            <a:ext cx="17235269" cy="5724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525780"/>
            <a:ext cx="16427263" cy="1005840"/>
            <a:chOff x="0" y="0"/>
            <a:chExt cx="21903017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3055" cy="1341120"/>
            </a:xfrm>
            <a:custGeom>
              <a:avLst/>
              <a:gdLst/>
              <a:ahLst/>
              <a:cxnLst/>
              <a:rect l="l" t="t" r="r" b="b"/>
              <a:pathLst>
                <a:path w="21903055" h="1341120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005" b="-268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468630"/>
            <a:ext cx="16427263" cy="1062990"/>
            <a:chOff x="0" y="0"/>
            <a:chExt cx="21903017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3012" cy="1417320"/>
            </a:xfrm>
            <a:custGeom>
              <a:avLst/>
              <a:gdLst/>
              <a:ahLst/>
              <a:cxnLst/>
              <a:rect l="l" t="t" r="r" b="b"/>
              <a:pathLst>
                <a:path w="21903012" h="1417320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118" b="-25111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3972" y="9266818"/>
            <a:ext cx="17180053" cy="204692"/>
            <a:chOff x="29653" y="844560"/>
            <a:chExt cx="22906737" cy="272923"/>
          </a:xfrm>
        </p:grpSpPr>
        <p:sp>
          <p:nvSpPr>
            <p:cNvPr id="17" name="Freeform 17"/>
            <p:cNvSpPr/>
            <p:nvPr/>
          </p:nvSpPr>
          <p:spPr>
            <a:xfrm>
              <a:off x="29653" y="844560"/>
              <a:ext cx="22906737" cy="272923"/>
            </a:xfrm>
            <a:custGeom>
              <a:avLst/>
              <a:gdLst/>
              <a:ahLst/>
              <a:cxnLst/>
              <a:rect l="l" t="t" r="r" b="b"/>
              <a:pathLst>
                <a:path w="22906737" h="272923">
                  <a:moveTo>
                    <a:pt x="0" y="0"/>
                  </a:moveTo>
                  <a:lnTo>
                    <a:pt x="22906737" y="0"/>
                  </a:lnTo>
                  <a:lnTo>
                    <a:pt x="22906737" y="272923"/>
                  </a:lnTo>
                  <a:lnTo>
                    <a:pt x="0" y="27292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" y="1531620"/>
            <a:ext cx="17007840" cy="834390"/>
            <a:chOff x="0" y="0"/>
            <a:chExt cx="22677120" cy="1112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677120" cy="1112520"/>
            </a:xfrm>
            <a:custGeom>
              <a:avLst/>
              <a:gdLst/>
              <a:ahLst/>
              <a:cxnLst/>
              <a:rect l="l" t="t" r="r" b="b"/>
              <a:pathLst>
                <a:path w="22677120" h="1112520">
                  <a:moveTo>
                    <a:pt x="0" y="0"/>
                  </a:moveTo>
                  <a:lnTo>
                    <a:pt x="22677120" y="0"/>
                  </a:lnTo>
                  <a:lnTo>
                    <a:pt x="22677120" y="1112520"/>
                  </a:lnTo>
                  <a:lnTo>
                    <a:pt x="0" y="11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6898" b="-34689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1481614"/>
            <a:ext cx="17007840" cy="884396"/>
            <a:chOff x="0" y="0"/>
            <a:chExt cx="22677120" cy="11791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677120" cy="1179194"/>
            </a:xfrm>
            <a:custGeom>
              <a:avLst/>
              <a:gdLst/>
              <a:ahLst/>
              <a:cxnLst/>
              <a:rect l="l" t="t" r="r" b="b"/>
              <a:pathLst>
                <a:path w="22677120" h="1179194">
                  <a:moveTo>
                    <a:pt x="0" y="0"/>
                  </a:moveTo>
                  <a:lnTo>
                    <a:pt x="22677120" y="0"/>
                  </a:lnTo>
                  <a:lnTo>
                    <a:pt x="22677120" y="1179194"/>
                  </a:lnTo>
                  <a:lnTo>
                    <a:pt x="0" y="11791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4717" b="-324717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2677120" cy="1245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Stock insuficiente. El sistema bloquea el retiro e indica la cantidad máxima disponible.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6D9A6593-C6D1-6629-D585-66EAE78D3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" y="2295763"/>
            <a:ext cx="17240913" cy="69710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234" y="-22222"/>
            <a:ext cx="18113026" cy="154210"/>
            <a:chOff x="0" y="0"/>
            <a:chExt cx="24150701" cy="205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50701" cy="205613"/>
            </a:xfrm>
            <a:custGeom>
              <a:avLst/>
              <a:gdLst/>
              <a:ahLst/>
              <a:cxnLst/>
              <a:rect l="l" t="t" r="r" b="b"/>
              <a:pathLst>
                <a:path w="24150701" h="205613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80" y="219456"/>
            <a:ext cx="17007840" cy="1005840"/>
            <a:chOff x="0" y="0"/>
            <a:chExt cx="22677120" cy="134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5" b="-27924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2306"/>
            <a:ext cx="17007840" cy="1062990"/>
            <a:chOff x="0" y="0"/>
            <a:chExt cx="22677120" cy="1417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1417320"/>
            </a:xfrm>
            <a:custGeom>
              <a:avLst/>
              <a:gdLst/>
              <a:ahLst/>
              <a:cxnLst/>
              <a:rect l="l" t="t" r="r" b="b"/>
              <a:pathLst>
                <a:path w="22677120" h="14173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760" b="-26176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de Solución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9784080"/>
            <a:ext cx="17007840" cy="402336"/>
            <a:chOff x="0" y="0"/>
            <a:chExt cx="22677120" cy="53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3113" b="-77311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" y="9755505"/>
            <a:ext cx="17007840" cy="430911"/>
            <a:chOff x="0" y="0"/>
            <a:chExt cx="22677120" cy="5745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77120" cy="574548"/>
            </a:xfrm>
            <a:custGeom>
              <a:avLst/>
              <a:gdLst/>
              <a:ahLst/>
              <a:cxnLst/>
              <a:rect l="l" t="t" r="r" b="b"/>
              <a:pathLst>
                <a:path w="22677120" h="574548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64" b="-71906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</a:t>
              </a:r>
              <a:r>
                <a:rPr lang="en-US" sz="1800" dirty="0" err="1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Blindadas</a:t>
              </a:r>
              <a:r>
                <a:rPr lang="en-US" sz="1800" dirty="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Ingeniería de Software II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7858" y="1477394"/>
            <a:ext cx="17052322" cy="2513362"/>
            <a:chOff x="0" y="0"/>
            <a:chExt cx="22736429" cy="33511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36429" cy="3351149"/>
            </a:xfrm>
            <a:custGeom>
              <a:avLst/>
              <a:gdLst/>
              <a:ahLst/>
              <a:cxnLst/>
              <a:rect l="l" t="t" r="r" b="b"/>
              <a:pathLst>
                <a:path w="22736429" h="335114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7858" y="1477394"/>
            <a:ext cx="154210" cy="2513362"/>
            <a:chOff x="0" y="0"/>
            <a:chExt cx="205613" cy="33511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5613" cy="3351149"/>
            </a:xfrm>
            <a:custGeom>
              <a:avLst/>
              <a:gdLst/>
              <a:ahLst/>
              <a:cxnLst/>
              <a:rect l="l" t="t" r="r" b="b"/>
              <a:pathLst>
                <a:path w="205613" h="3351149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1645920"/>
            <a:ext cx="1188720" cy="914400"/>
            <a:chOff x="0" y="0"/>
            <a:chExt cx="158496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84960" cy="1219200"/>
            </a:xfrm>
            <a:custGeom>
              <a:avLst/>
              <a:gdLst/>
              <a:ahLst/>
              <a:cxnLst/>
              <a:rect l="l" t="t" r="r" b="b"/>
              <a:pathLst>
                <a:path w="1584960" h="121920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r="-4876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1588770"/>
            <a:ext cx="1188720" cy="971550"/>
            <a:chOff x="0" y="0"/>
            <a:chExt cx="1584960" cy="1295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84960" cy="1295400"/>
            </a:xfrm>
            <a:custGeom>
              <a:avLst/>
              <a:gdLst/>
              <a:ahLst/>
              <a:cxnLst/>
              <a:rect l="l" t="t" r="r" b="b"/>
              <a:pathLst>
                <a:path w="1584960" h="129540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r="-548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94560" y="1682496"/>
            <a:ext cx="15179040" cy="640080"/>
            <a:chOff x="0" y="0"/>
            <a:chExt cx="20238720" cy="853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238720" cy="853440"/>
            </a:xfrm>
            <a:custGeom>
              <a:avLst/>
              <a:gdLst/>
              <a:ahLst/>
              <a:cxnLst/>
              <a:rect l="l" t="t" r="r" b="b"/>
              <a:pathLst>
                <a:path w="20238720" h="85344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752" b="-41175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94560" y="1639633"/>
            <a:ext cx="15179040" cy="682943"/>
            <a:chOff x="0" y="0"/>
            <a:chExt cx="20238720" cy="9105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38720" cy="910590"/>
            </a:xfrm>
            <a:custGeom>
              <a:avLst/>
              <a:gdLst/>
              <a:ahLst/>
              <a:cxnLst/>
              <a:rect l="l" t="t" r="r" b="b"/>
              <a:pathLst>
                <a:path w="20238720" h="91059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3073" b="-38307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del Incremento 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194560" y="2359152"/>
            <a:ext cx="15179040" cy="1554480"/>
            <a:chOff x="0" y="0"/>
            <a:chExt cx="20238720" cy="2072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238720" cy="2072640"/>
            </a:xfrm>
            <a:custGeom>
              <a:avLst/>
              <a:gdLst/>
              <a:ahLst/>
              <a:cxnLst/>
              <a:rect l="l" t="t" r="r" b="b"/>
              <a:pathLst>
                <a:path w="20238720" h="207264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33" b="-14013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94560" y="2323433"/>
            <a:ext cx="15179040" cy="1590199"/>
            <a:chOff x="0" y="0"/>
            <a:chExt cx="20238720" cy="212026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238720" cy="2120265"/>
            </a:xfrm>
            <a:custGeom>
              <a:avLst/>
              <a:gdLst/>
              <a:ahLst/>
              <a:cxnLst/>
              <a:rect l="l" t="t" r="r" b="b"/>
              <a:pathLst>
                <a:path w="20238720" h="2120265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5991" b="-13599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de 28 RF sobre un total de 83, cubriendo el 33,7% del sistema. Esto supera el mínimo del 30% exigido para la primera iteración.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7858" y="4220594"/>
            <a:ext cx="17052322" cy="2513362"/>
            <a:chOff x="0" y="0"/>
            <a:chExt cx="22736429" cy="335114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36429" cy="3351149"/>
            </a:xfrm>
            <a:custGeom>
              <a:avLst/>
              <a:gdLst/>
              <a:ahLst/>
              <a:cxnLst/>
              <a:rect l="l" t="t" r="r" b="b"/>
              <a:pathLst>
                <a:path w="22736429" h="335114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7858" y="4220594"/>
            <a:ext cx="154210" cy="2513362"/>
            <a:chOff x="0" y="0"/>
            <a:chExt cx="205613" cy="335114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5613" cy="3351149"/>
            </a:xfrm>
            <a:custGeom>
              <a:avLst/>
              <a:gdLst/>
              <a:ahLst/>
              <a:cxnLst/>
              <a:rect l="l" t="t" r="r" b="b"/>
              <a:pathLst>
                <a:path w="205613" h="3351149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" y="4389120"/>
            <a:ext cx="1188720" cy="914400"/>
            <a:chOff x="0" y="0"/>
            <a:chExt cx="158496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84960" cy="1219200"/>
            </a:xfrm>
            <a:custGeom>
              <a:avLst/>
              <a:gdLst/>
              <a:ahLst/>
              <a:cxnLst/>
              <a:rect l="l" t="t" r="r" b="b"/>
              <a:pathLst>
                <a:path w="1584960" h="121920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r="-4876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4331970"/>
            <a:ext cx="1188720" cy="971550"/>
            <a:chOff x="0" y="0"/>
            <a:chExt cx="1584960" cy="1295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84960" cy="1295400"/>
            </a:xfrm>
            <a:custGeom>
              <a:avLst/>
              <a:gdLst/>
              <a:ahLst/>
              <a:cxnLst/>
              <a:rect l="l" t="t" r="r" b="b"/>
              <a:pathLst>
                <a:path w="1584960" h="129540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r="-548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194560" y="4425696"/>
            <a:ext cx="15179040" cy="640080"/>
            <a:chOff x="0" y="0"/>
            <a:chExt cx="20238720" cy="85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238720" cy="853440"/>
            </a:xfrm>
            <a:custGeom>
              <a:avLst/>
              <a:gdLst/>
              <a:ahLst/>
              <a:cxnLst/>
              <a:rect l="l" t="t" r="r" b="b"/>
              <a:pathLst>
                <a:path w="20238720" h="85344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752" b="-41175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194560" y="4382834"/>
            <a:ext cx="15179040" cy="682943"/>
            <a:chOff x="0" y="0"/>
            <a:chExt cx="20238720" cy="9105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238720" cy="910590"/>
            </a:xfrm>
            <a:custGeom>
              <a:avLst/>
              <a:gdLst/>
              <a:ahLst/>
              <a:cxnLst/>
              <a:rect l="l" t="t" r="r" b="b"/>
              <a:pathLst>
                <a:path w="20238720" h="91059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3073" b="-38307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Formatos y estándares del sistema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194560" y="5102352"/>
            <a:ext cx="15179040" cy="1554480"/>
            <a:chOff x="0" y="0"/>
            <a:chExt cx="20238720" cy="2072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238720" cy="2072640"/>
            </a:xfrm>
            <a:custGeom>
              <a:avLst/>
              <a:gdLst/>
              <a:ahLst/>
              <a:cxnLst/>
              <a:rect l="l" t="t" r="r" b="b"/>
              <a:pathLst>
                <a:path w="20238720" h="207264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33" b="-14013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194560" y="5066633"/>
            <a:ext cx="15179040" cy="1590199"/>
            <a:chOff x="0" y="0"/>
            <a:chExt cx="20238720" cy="212026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238720" cy="2120265"/>
            </a:xfrm>
            <a:custGeom>
              <a:avLst/>
              <a:gdLst/>
              <a:ahLst/>
              <a:cxnLst/>
              <a:rect l="l" t="t" r="r" b="b"/>
              <a:pathLst>
                <a:path w="20238720" h="2120265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5991" b="-13599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define el uso de fechas (dd/mm/yyyy), hora (HH:mm), timestamps ISO 8601, moneda en CLP (con conversión via API Banco Central), correos electrónicos y roles de acceso (Gerencia / JOP).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7858" y="6963794"/>
            <a:ext cx="17052322" cy="2513362"/>
            <a:chOff x="0" y="0"/>
            <a:chExt cx="22736429" cy="335114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736429" cy="3351149"/>
            </a:xfrm>
            <a:custGeom>
              <a:avLst/>
              <a:gdLst/>
              <a:ahLst/>
              <a:cxnLst/>
              <a:rect l="l" t="t" r="r" b="b"/>
              <a:pathLst>
                <a:path w="22736429" h="335114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7858" y="6963794"/>
            <a:ext cx="154210" cy="2513362"/>
            <a:chOff x="0" y="0"/>
            <a:chExt cx="205613" cy="335114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5613" cy="3351149"/>
            </a:xfrm>
            <a:custGeom>
              <a:avLst/>
              <a:gdLst/>
              <a:ahLst/>
              <a:cxnLst/>
              <a:rect l="l" t="t" r="r" b="b"/>
              <a:pathLst>
                <a:path w="205613" h="3351149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7132320"/>
            <a:ext cx="1188720" cy="914400"/>
            <a:chOff x="0" y="0"/>
            <a:chExt cx="1584960" cy="1219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84960" cy="1219200"/>
            </a:xfrm>
            <a:custGeom>
              <a:avLst/>
              <a:gdLst/>
              <a:ahLst/>
              <a:cxnLst/>
              <a:rect l="l" t="t" r="r" b="b"/>
              <a:pathLst>
                <a:path w="1584960" h="121920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r="-4876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14400" y="7075170"/>
            <a:ext cx="1188720" cy="971550"/>
            <a:chOff x="0" y="0"/>
            <a:chExt cx="1584960" cy="1295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584960" cy="1295400"/>
            </a:xfrm>
            <a:custGeom>
              <a:avLst/>
              <a:gdLst/>
              <a:ahLst/>
              <a:cxnLst/>
              <a:rect l="l" t="t" r="r" b="b"/>
              <a:pathLst>
                <a:path w="1584960" h="129540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r="-5486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194560" y="7168896"/>
            <a:ext cx="15179040" cy="640080"/>
            <a:chOff x="0" y="0"/>
            <a:chExt cx="2023872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0238720" cy="853440"/>
            </a:xfrm>
            <a:custGeom>
              <a:avLst/>
              <a:gdLst/>
              <a:ahLst/>
              <a:cxnLst/>
              <a:rect l="l" t="t" r="r" b="b"/>
              <a:pathLst>
                <a:path w="20238720" h="85344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752" b="-41175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94560" y="7126034"/>
            <a:ext cx="15179040" cy="682943"/>
            <a:chOff x="0" y="0"/>
            <a:chExt cx="20238720" cy="91059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238720" cy="910590"/>
            </a:xfrm>
            <a:custGeom>
              <a:avLst/>
              <a:gdLst/>
              <a:ahLst/>
              <a:cxnLst/>
              <a:rect l="l" t="t" r="r" b="b"/>
              <a:pathLst>
                <a:path w="20238720" h="91059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3073" b="-383073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Roles del sistema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194560" y="7845552"/>
            <a:ext cx="15179040" cy="1554480"/>
            <a:chOff x="0" y="0"/>
            <a:chExt cx="20238720" cy="20726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238720" cy="2072640"/>
            </a:xfrm>
            <a:custGeom>
              <a:avLst/>
              <a:gdLst/>
              <a:ahLst/>
              <a:cxnLst/>
              <a:rect l="l" t="t" r="r" b="b"/>
              <a:pathLst>
                <a:path w="20238720" h="207264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33" b="-14013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194560" y="7809833"/>
            <a:ext cx="15179040" cy="1590199"/>
            <a:chOff x="0" y="0"/>
            <a:chExt cx="20238720" cy="212026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238720" cy="2120265"/>
            </a:xfrm>
            <a:custGeom>
              <a:avLst/>
              <a:gdLst/>
              <a:ahLst/>
              <a:cxnLst/>
              <a:rect l="l" t="t" r="r" b="b"/>
              <a:pathLst>
                <a:path w="20238720" h="2120265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5991" b="-13599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Gerencia: vista completa del sistema de inventario, incluida información financiera.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JOP (Jefe de Operaciones y Producción): acceso a inventario y rotación, sin acceso a precios ni datos financieros.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373666" cy="10331482"/>
            <a:chOff x="0" y="0"/>
            <a:chExt cx="498221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21" cy="13775310"/>
            </a:xfrm>
            <a:custGeom>
              <a:avLst/>
              <a:gdLst/>
              <a:ahLst/>
              <a:cxnLst/>
              <a:rect l="l" t="t" r="r" b="b"/>
              <a:pathLst>
                <a:path w="498221" h="13775310">
                  <a:moveTo>
                    <a:pt x="0" y="0"/>
                  </a:moveTo>
                  <a:lnTo>
                    <a:pt x="498221" y="0"/>
                  </a:lnTo>
                  <a:lnTo>
                    <a:pt x="498221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1005840"/>
            <a:ext cx="14264640" cy="640080"/>
            <a:chOff x="0" y="0"/>
            <a:chExt cx="19019520" cy="853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19520" cy="853440"/>
            </a:xfrm>
            <a:custGeom>
              <a:avLst/>
              <a:gdLst/>
              <a:ahLst/>
              <a:cxnLst/>
              <a:rect l="l" t="t" r="r" b="b"/>
              <a:pathLst>
                <a:path w="19019520" h="85344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936" b="-38393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970121"/>
            <a:ext cx="14264640" cy="675799"/>
            <a:chOff x="0" y="0"/>
            <a:chExt cx="19019520" cy="9010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19520" cy="901065"/>
            </a:xfrm>
            <a:custGeom>
              <a:avLst/>
              <a:gdLst/>
              <a:ahLst/>
              <a:cxnLst/>
              <a:rect l="l" t="t" r="r" b="b"/>
              <a:pathLst>
                <a:path w="19019520" h="901065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1286" b="-36128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8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DE INVENTARIO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828800"/>
            <a:ext cx="14264640" cy="4389120"/>
            <a:chOff x="0" y="0"/>
            <a:chExt cx="19019520" cy="5852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19520" cy="5852160"/>
            </a:xfrm>
            <a:custGeom>
              <a:avLst/>
              <a:gdLst/>
              <a:ahLst/>
              <a:cxnLst/>
              <a:rect l="l" t="t" r="r" b="b"/>
              <a:pathLst>
                <a:path w="19019520" h="585216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707356"/>
            <a:ext cx="14264640" cy="4510564"/>
            <a:chOff x="0" y="0"/>
            <a:chExt cx="19019520" cy="60140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19520" cy="6014085"/>
            </a:xfrm>
            <a:custGeom>
              <a:avLst/>
              <a:gdLst/>
              <a:ahLst/>
              <a:cxnLst/>
              <a:rect l="l" t="t" r="r" b="b"/>
              <a:pathLst>
                <a:path w="19019520" h="6014085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21" b="-1162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INGENIERÍA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SOFTWARE II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INCREMENTO 1 GRUPO 14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7581" y="5916235"/>
            <a:ext cx="8274082" cy="117634"/>
            <a:chOff x="0" y="0"/>
            <a:chExt cx="11032109" cy="1568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32109" cy="156845"/>
            </a:xfrm>
            <a:custGeom>
              <a:avLst/>
              <a:gdLst/>
              <a:ahLst/>
              <a:cxnLst/>
              <a:rect l="l" t="t" r="r" b="b"/>
              <a:pathLst>
                <a:path w="11032109" h="156845">
                  <a:moveTo>
                    <a:pt x="0" y="0"/>
                  </a:moveTo>
                  <a:lnTo>
                    <a:pt x="11032109" y="0"/>
                  </a:lnTo>
                  <a:lnTo>
                    <a:pt x="110321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6583680"/>
            <a:ext cx="8229600" cy="548640"/>
            <a:chOff x="0" y="0"/>
            <a:chExt cx="109728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6547961"/>
            <a:ext cx="8229600" cy="584359"/>
            <a:chOff x="0" y="0"/>
            <a:chExt cx="10972800" cy="779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779145"/>
            </a:xfrm>
            <a:custGeom>
              <a:avLst/>
              <a:gdLst/>
              <a:ahLst/>
              <a:cxnLst/>
              <a:rect l="l" t="t" r="r" b="b"/>
              <a:pathLst>
                <a:path w="10972800" h="779145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410" b="-22441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Autores: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7132320"/>
            <a:ext cx="8229600" cy="2377440"/>
            <a:chOff x="0" y="0"/>
            <a:chExt cx="10972800" cy="3169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3169920"/>
            </a:xfrm>
            <a:custGeom>
              <a:avLst/>
              <a:gdLst/>
              <a:ahLst/>
              <a:cxnLst/>
              <a:rect l="l" t="t" r="r" b="b"/>
              <a:pathLst>
                <a:path w="10972800" h="316992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1" b="-174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7096601"/>
            <a:ext cx="8229600" cy="2413159"/>
            <a:chOff x="0" y="0"/>
            <a:chExt cx="10972800" cy="32175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0" cy="3217545"/>
            </a:xfrm>
            <a:custGeom>
              <a:avLst/>
              <a:gdLst/>
              <a:ahLst/>
              <a:cxnLst/>
              <a:rect l="l" t="t" r="r" b="b"/>
              <a:pathLst>
                <a:path w="10972800" h="3217545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449" b="-16449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Sofia Isidora </a:t>
              </a: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Cariñe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Valenzuela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Jhoe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Eduardo Castillo Barrios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Karla Aylin </a:t>
              </a:r>
              <a:r>
                <a:rPr lang="en-US" sz="2100" dirty="0" err="1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Curín</a:t>
              </a: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 Navarro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Omar Adolfo Olmos Hernández</a:t>
              </a:r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Lenin Andrés Reyes Gómez</a:t>
              </a:r>
              <a:endParaRPr lang="en-US" sz="2400" dirty="0"/>
            </a:p>
            <a:p>
              <a:pPr lvl="0">
                <a:lnSpc>
                  <a:spcPct val="120000"/>
                </a:lnSpc>
              </a:pPr>
              <a:r>
                <a:rPr lang="en-US" sz="2100" dirty="0">
                  <a:solidFill>
                    <a:srgbClr val="D1D5DB"/>
                  </a:solidFill>
                  <a:ea typeface="Calibri"/>
                  <a:cs typeface="Calibri"/>
                  <a:sym typeface="Calibri"/>
                </a:rPr>
                <a:t>Silvio Alberto Villagra Labbé</a:t>
              </a:r>
              <a:endParaRPr lang="en-US" sz="240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0" y="6583680"/>
            <a:ext cx="7680960" cy="1280160"/>
            <a:chOff x="0" y="0"/>
            <a:chExt cx="10241280" cy="1706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1706880"/>
            </a:xfrm>
            <a:custGeom>
              <a:avLst/>
              <a:gdLst/>
              <a:ahLst/>
              <a:cxnLst/>
              <a:rect l="l" t="t" r="r" b="b"/>
              <a:pathLst>
                <a:path w="10241280" h="17068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28" b="-6682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0" y="6547961"/>
            <a:ext cx="7680960" cy="1315879"/>
            <a:chOff x="0" y="0"/>
            <a:chExt cx="10241280" cy="17545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41280" cy="1754505"/>
            </a:xfrm>
            <a:custGeom>
              <a:avLst/>
              <a:gdLst/>
              <a:ahLst/>
              <a:cxnLst/>
              <a:rect l="l" t="t" r="r" b="b"/>
              <a:pathLst>
                <a:path w="10241280" h="1754505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36" b="-6373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Facultad de Ingeniería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de Software I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58400" y="7955280"/>
            <a:ext cx="7680960" cy="640080"/>
            <a:chOff x="0" y="0"/>
            <a:chExt cx="10241280" cy="85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0" cy="853440"/>
            </a:xfrm>
            <a:custGeom>
              <a:avLst/>
              <a:gdLst/>
              <a:ahLst/>
              <a:cxnLst/>
              <a:rect l="l" t="t" r="r" b="b"/>
              <a:pathLst>
                <a:path w="10241280" h="85344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58400" y="7919561"/>
            <a:ext cx="7680960" cy="675799"/>
            <a:chOff x="0" y="0"/>
            <a:chExt cx="10241280" cy="9010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41280" cy="901065"/>
            </a:xfrm>
            <a:custGeom>
              <a:avLst/>
              <a:gdLst/>
              <a:ahLst/>
              <a:cxnLst/>
              <a:rect l="l" t="t" r="r" b="b"/>
              <a:pathLst>
                <a:path w="10241280" h="901065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462" b="-17146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Paulo Quinsacara Jofré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0" y="8686800"/>
            <a:ext cx="7680960" cy="548640"/>
            <a:chOff x="0" y="0"/>
            <a:chExt cx="1024128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0" y="8658225"/>
            <a:ext cx="7680960" cy="577215"/>
            <a:chOff x="0" y="0"/>
            <a:chExt cx="10241280" cy="7696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769620"/>
            </a:xfrm>
            <a:custGeom>
              <a:avLst/>
              <a:gdLst/>
              <a:ahLst/>
              <a:cxnLst/>
              <a:rect l="l" t="t" r="r" b="b"/>
              <a:pathLst>
                <a:path w="10241280" h="76962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9286" b="-20928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Santiago, Chile · 2026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7106" y="1572768"/>
            <a:ext cx="4102094" cy="619554"/>
            <a:chOff x="0" y="0"/>
            <a:chExt cx="5469458" cy="826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69509" cy="826008"/>
            </a:xfrm>
            <a:custGeom>
              <a:avLst/>
              <a:gdLst/>
              <a:ahLst/>
              <a:cxnLst/>
              <a:rect l="l" t="t" r="r" b="b"/>
              <a:pathLst>
                <a:path w="5469509" h="826008">
                  <a:moveTo>
                    <a:pt x="0" y="0"/>
                  </a:moveTo>
                  <a:lnTo>
                    <a:pt x="5469509" y="0"/>
                  </a:lnTo>
                  <a:lnTo>
                    <a:pt x="5469509" y="826008"/>
                  </a:lnTo>
                  <a:lnTo>
                    <a:pt x="0" y="826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28" b="-789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7106" y="1522762"/>
            <a:ext cx="4102094" cy="669560"/>
            <a:chOff x="0" y="0"/>
            <a:chExt cx="5469458" cy="8927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69464" cy="892743"/>
            </a:xfrm>
            <a:custGeom>
              <a:avLst/>
              <a:gdLst/>
              <a:ahLst/>
              <a:cxnLst/>
              <a:rect l="l" t="t" r="r" b="b"/>
              <a:pathLst>
                <a:path w="5469464" h="892743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9376" b="-6937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Andrés Bello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760065" y="91430"/>
            <a:ext cx="2228288" cy="1874549"/>
            <a:chOff x="0" y="0"/>
            <a:chExt cx="2971051" cy="249939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971038" cy="2499360"/>
            </a:xfrm>
            <a:custGeom>
              <a:avLst/>
              <a:gdLst/>
              <a:ahLst/>
              <a:cxnLst/>
              <a:rect l="l" t="t" r="r" b="b"/>
              <a:pathLst>
                <a:path w="2971038" h="2499360">
                  <a:moveTo>
                    <a:pt x="0" y="0"/>
                  </a:moveTo>
                  <a:lnTo>
                    <a:pt x="2971038" y="0"/>
                  </a:lnTo>
                  <a:lnTo>
                    <a:pt x="2971038" y="2499360"/>
                  </a:lnTo>
                  <a:lnTo>
                    <a:pt x="0" y="249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8" b="-14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1603</Words>
  <Application>Microsoft Office PowerPoint</Application>
  <PresentationFormat>Personalizado</PresentationFormat>
  <Paragraphs>334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Calibri</vt:lpstr>
      <vt:lpstr>Calibri (MS) Bold</vt:lpstr>
      <vt:lpstr>Arial</vt:lpstr>
      <vt:lpstr>Calibri (MS)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Anexos_PuertasBlindadas.pptx</dc:title>
  <dc:creator>silvio villagra</dc:creator>
  <cp:lastModifiedBy>VILLAGRA LABBÉ SILVIO A</cp:lastModifiedBy>
  <cp:revision>3</cp:revision>
  <dcterms:created xsi:type="dcterms:W3CDTF">2006-08-16T00:00:00Z</dcterms:created>
  <dcterms:modified xsi:type="dcterms:W3CDTF">2026-08-22T21:50:14Z</dcterms:modified>
  <dc:identifier>DAHMUbXhIok</dc:identifier>
</cp:coreProperties>
</file>