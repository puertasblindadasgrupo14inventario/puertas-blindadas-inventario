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F/Nwgtr6bFJylKru1OWpk9gG5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8157BA-94AC-4061-82BE-E242863FAF11}">
  <a:tblStyle styleId="{708157BA-94AC-4061-82BE-E242863FAF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16" autoAdjust="0"/>
    <p:restoredTop sz="94660"/>
  </p:normalViewPr>
  <p:slideViewPr>
    <p:cSldViewPr snapToGrid="0">
      <p:cViewPr>
        <p:scale>
          <a:sx n="50" d="100"/>
          <a:sy n="50" d="100"/>
        </p:scale>
        <p:origin x="441" y="22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sofia\Downloads\Incremento_1_Product_Backlog_actualizado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sofia\Downloads\Incremento_1_Product_Backlog_actualizado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sz="2000" b="1" i="0">
                <a:solidFill>
                  <a:srgbClr val="000000"/>
                </a:solidFill>
                <a:latin typeface="Times New Roman"/>
              </a:defRPr>
            </a:pPr>
            <a:r>
              <a:rPr lang="es-CL" sz="2000" b="1" i="0">
                <a:solidFill>
                  <a:srgbClr val="000000"/>
                </a:solidFill>
                <a:latin typeface="Times New Roman"/>
              </a:rPr>
              <a:t>BurnUp - Esfuerzos del Equipo</a:t>
            </a:r>
          </a:p>
        </c:rich>
      </c:tx>
      <c:overlay val="0"/>
    </c:title>
    <c:autoTitleDeleted val="0"/>
    <c:plotArea>
      <c:layout>
        <c:manualLayout>
          <c:xMode val="edge"/>
          <c:yMode val="edge"/>
          <c:x val="6.5474634056492356E-2"/>
          <c:y val="0.1033899662849341"/>
          <c:w val="0.91720403991520005"/>
          <c:h val="0.75088486568153034"/>
        </c:manualLayout>
      </c:layout>
      <c:lineChart>
        <c:grouping val="standard"/>
        <c:varyColors val="1"/>
        <c:ser>
          <c:idx val="0"/>
          <c:order val="0"/>
          <c:tx>
            <c:v>Esfuerzo estimado acumulado [HH]</c:v>
          </c:tx>
          <c:spPr>
            <a:ln w="19050" cmpd="sng">
              <a:solidFill>
                <a:srgbClr val="E84040"/>
              </a:solidFill>
              <a:prstDash val="solid"/>
            </a:ln>
          </c:spPr>
          <c:marker>
            <c:symbol val="circle"/>
            <c:size val="5"/>
            <c:spPr>
              <a:solidFill>
                <a:srgbClr val="E84040"/>
              </a:solidFill>
              <a:ln cmpd="sng">
                <a:solidFill>
                  <a:srgbClr val="E84040"/>
                </a:solidFill>
                <a:prstDash val="solid"/>
              </a:ln>
            </c:spPr>
          </c:marker>
          <c:dLbls>
            <c:spPr>
              <a:noFill/>
              <a:ln>
                <a:noFill/>
              </a:ln>
              <a:effectLst/>
            </c:spPr>
            <c:txPr>
              <a:bodyPr/>
              <a:lstStyle/>
              <a:p>
                <a:pPr lvl="0">
                  <a:defRPr sz="800" b="1" i="0">
                    <a:latin typeface="Times New Roman"/>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 Burn'!$A$2:$A$52</c:f>
              <c:strCache>
                <c:ptCount val="51"/>
                <c:pt idx="0">
                  <c:v>Dia 0</c:v>
                </c:pt>
                <c:pt idx="1">
                  <c:v>Dia 1</c:v>
                </c:pt>
                <c:pt idx="2">
                  <c:v>Dia 2</c:v>
                </c:pt>
                <c:pt idx="3">
                  <c:v>Dia 3</c:v>
                </c:pt>
                <c:pt idx="4">
                  <c:v>Dia 4</c:v>
                </c:pt>
                <c:pt idx="5">
                  <c:v>Dia 5</c:v>
                </c:pt>
                <c:pt idx="6">
                  <c:v>Dia 6</c:v>
                </c:pt>
                <c:pt idx="7">
                  <c:v>Dia 7</c:v>
                </c:pt>
                <c:pt idx="8">
                  <c:v>Dia 8</c:v>
                </c:pt>
                <c:pt idx="9">
                  <c:v>Dia 9</c:v>
                </c:pt>
                <c:pt idx="10">
                  <c:v>Dia 10</c:v>
                </c:pt>
                <c:pt idx="11">
                  <c:v>Dia 11</c:v>
                </c:pt>
                <c:pt idx="12">
                  <c:v>Dia 12</c:v>
                </c:pt>
                <c:pt idx="13">
                  <c:v>Dia 13</c:v>
                </c:pt>
                <c:pt idx="14">
                  <c:v>Dia 14</c:v>
                </c:pt>
                <c:pt idx="15">
                  <c:v>Dia 15</c:v>
                </c:pt>
                <c:pt idx="16">
                  <c:v>Dia 16</c:v>
                </c:pt>
                <c:pt idx="17">
                  <c:v>Dia 17</c:v>
                </c:pt>
                <c:pt idx="18">
                  <c:v>Dia 18</c:v>
                </c:pt>
                <c:pt idx="19">
                  <c:v>Dia 19</c:v>
                </c:pt>
                <c:pt idx="20">
                  <c:v>Dia 20</c:v>
                </c:pt>
                <c:pt idx="21">
                  <c:v>Dia 21</c:v>
                </c:pt>
                <c:pt idx="22">
                  <c:v>Dia 22</c:v>
                </c:pt>
                <c:pt idx="23">
                  <c:v>Dia 23</c:v>
                </c:pt>
                <c:pt idx="24">
                  <c:v>Dia 24</c:v>
                </c:pt>
                <c:pt idx="25">
                  <c:v>Dia 25</c:v>
                </c:pt>
                <c:pt idx="26">
                  <c:v>Dia 26</c:v>
                </c:pt>
                <c:pt idx="27">
                  <c:v>Dia 27</c:v>
                </c:pt>
                <c:pt idx="28">
                  <c:v>Dia 28</c:v>
                </c:pt>
                <c:pt idx="29">
                  <c:v>Dia 29</c:v>
                </c:pt>
                <c:pt idx="30">
                  <c:v>Dia 30</c:v>
                </c:pt>
                <c:pt idx="31">
                  <c:v>Dia 31</c:v>
                </c:pt>
                <c:pt idx="32">
                  <c:v>Dia 32</c:v>
                </c:pt>
                <c:pt idx="33">
                  <c:v>Dia 33</c:v>
                </c:pt>
                <c:pt idx="34">
                  <c:v>Dia 34</c:v>
                </c:pt>
                <c:pt idx="35">
                  <c:v>Dia 35</c:v>
                </c:pt>
                <c:pt idx="36">
                  <c:v>Dia 36</c:v>
                </c:pt>
                <c:pt idx="37">
                  <c:v>Dia 37</c:v>
                </c:pt>
                <c:pt idx="38">
                  <c:v>Dia 38</c:v>
                </c:pt>
                <c:pt idx="39">
                  <c:v>Dia 39</c:v>
                </c:pt>
                <c:pt idx="40">
                  <c:v>Dia 40</c:v>
                </c:pt>
                <c:pt idx="41">
                  <c:v>Dia 41</c:v>
                </c:pt>
                <c:pt idx="42">
                  <c:v>Dia 42</c:v>
                </c:pt>
                <c:pt idx="43">
                  <c:v>Dia 43</c:v>
                </c:pt>
                <c:pt idx="44">
                  <c:v>Dia 44</c:v>
                </c:pt>
                <c:pt idx="45">
                  <c:v>Dia 45</c:v>
                </c:pt>
                <c:pt idx="46">
                  <c:v>Dia 46</c:v>
                </c:pt>
                <c:pt idx="47">
                  <c:v>Dia 47</c:v>
                </c:pt>
                <c:pt idx="48">
                  <c:v>Dia 48</c:v>
                </c:pt>
                <c:pt idx="49">
                  <c:v>Dia 49</c:v>
                </c:pt>
                <c:pt idx="50">
                  <c:v>Dia 50</c:v>
                </c:pt>
              </c:strCache>
            </c:strRef>
          </c:cat>
          <c:val>
            <c:numRef>
              <c:f>'Graficos Burn'!$B$2:$B$52</c:f>
              <c:numCache>
                <c:formatCode>General</c:formatCode>
                <c:ptCount val="51"/>
                <c:pt idx="0">
                  <c:v>4</c:v>
                </c:pt>
                <c:pt idx="1">
                  <c:v>26</c:v>
                </c:pt>
                <c:pt idx="2">
                  <c:v>34</c:v>
                </c:pt>
                <c:pt idx="3">
                  <c:v>34</c:v>
                </c:pt>
                <c:pt idx="4">
                  <c:v>34</c:v>
                </c:pt>
                <c:pt idx="5">
                  <c:v>40</c:v>
                </c:pt>
                <c:pt idx="6">
                  <c:v>40</c:v>
                </c:pt>
                <c:pt idx="7">
                  <c:v>41</c:v>
                </c:pt>
                <c:pt idx="8">
                  <c:v>50</c:v>
                </c:pt>
                <c:pt idx="9">
                  <c:v>50</c:v>
                </c:pt>
                <c:pt idx="10">
                  <c:v>68</c:v>
                </c:pt>
                <c:pt idx="11">
                  <c:v>73</c:v>
                </c:pt>
                <c:pt idx="12">
                  <c:v>73</c:v>
                </c:pt>
                <c:pt idx="13">
                  <c:v>121</c:v>
                </c:pt>
                <c:pt idx="14">
                  <c:v>121</c:v>
                </c:pt>
                <c:pt idx="15">
                  <c:v>121</c:v>
                </c:pt>
                <c:pt idx="16">
                  <c:v>121</c:v>
                </c:pt>
                <c:pt idx="17">
                  <c:v>121</c:v>
                </c:pt>
                <c:pt idx="18">
                  <c:v>121</c:v>
                </c:pt>
                <c:pt idx="19">
                  <c:v>122</c:v>
                </c:pt>
                <c:pt idx="20">
                  <c:v>133</c:v>
                </c:pt>
                <c:pt idx="21">
                  <c:v>145</c:v>
                </c:pt>
                <c:pt idx="22">
                  <c:v>155</c:v>
                </c:pt>
                <c:pt idx="23">
                  <c:v>165</c:v>
                </c:pt>
                <c:pt idx="24">
                  <c:v>165</c:v>
                </c:pt>
                <c:pt idx="25">
                  <c:v>165</c:v>
                </c:pt>
                <c:pt idx="26">
                  <c:v>165</c:v>
                </c:pt>
                <c:pt idx="27">
                  <c:v>171</c:v>
                </c:pt>
                <c:pt idx="28">
                  <c:v>199</c:v>
                </c:pt>
                <c:pt idx="29">
                  <c:v>204</c:v>
                </c:pt>
                <c:pt idx="30">
                  <c:v>204</c:v>
                </c:pt>
                <c:pt idx="31">
                  <c:v>204</c:v>
                </c:pt>
                <c:pt idx="32">
                  <c:v>240</c:v>
                </c:pt>
                <c:pt idx="33">
                  <c:v>240</c:v>
                </c:pt>
                <c:pt idx="34">
                  <c:v>240</c:v>
                </c:pt>
                <c:pt idx="35">
                  <c:v>240</c:v>
                </c:pt>
                <c:pt idx="36">
                  <c:v>246</c:v>
                </c:pt>
                <c:pt idx="37">
                  <c:v>254</c:v>
                </c:pt>
                <c:pt idx="38">
                  <c:v>257</c:v>
                </c:pt>
                <c:pt idx="39">
                  <c:v>257</c:v>
                </c:pt>
                <c:pt idx="40">
                  <c:v>257</c:v>
                </c:pt>
                <c:pt idx="41">
                  <c:v>263</c:v>
                </c:pt>
                <c:pt idx="42">
                  <c:v>273</c:v>
                </c:pt>
                <c:pt idx="43">
                  <c:v>273</c:v>
                </c:pt>
                <c:pt idx="44">
                  <c:v>293</c:v>
                </c:pt>
                <c:pt idx="45">
                  <c:v>305</c:v>
                </c:pt>
                <c:pt idx="46">
                  <c:v>305</c:v>
                </c:pt>
                <c:pt idx="47">
                  <c:v>326</c:v>
                </c:pt>
                <c:pt idx="48">
                  <c:v>326</c:v>
                </c:pt>
                <c:pt idx="49">
                  <c:v>331</c:v>
                </c:pt>
                <c:pt idx="50">
                  <c:v>331</c:v>
                </c:pt>
              </c:numCache>
            </c:numRef>
          </c:val>
          <c:smooth val="1"/>
          <c:extLst>
            <c:ext xmlns:c16="http://schemas.microsoft.com/office/drawing/2014/chart" uri="{C3380CC4-5D6E-409C-BE32-E72D297353CC}">
              <c16:uniqueId val="{00000000-EF61-4CE7-BD68-3AA7CB72B80D}"/>
            </c:ext>
          </c:extLst>
        </c:ser>
        <c:ser>
          <c:idx val="1"/>
          <c:order val="1"/>
          <c:tx>
            <c:v>Esfuerzo real acumulado [HH]</c:v>
          </c:tx>
          <c:spPr>
            <a:ln w="19050" cmpd="sng">
              <a:solidFill>
                <a:srgbClr val="2E75B6"/>
              </a:solidFill>
              <a:prstDash val="solid"/>
            </a:ln>
          </c:spPr>
          <c:marker>
            <c:symbol val="circle"/>
            <c:size val="5"/>
            <c:spPr>
              <a:solidFill>
                <a:srgbClr val="2E75B6"/>
              </a:solidFill>
              <a:ln cmpd="sng">
                <a:solidFill>
                  <a:srgbClr val="2E75B6"/>
                </a:solidFill>
                <a:prstDash val="solid"/>
              </a:ln>
            </c:spPr>
          </c:marker>
          <c:dLbls>
            <c:spPr>
              <a:noFill/>
              <a:ln>
                <a:noFill/>
              </a:ln>
              <a:effectLst/>
            </c:spPr>
            <c:txPr>
              <a:bodyPr/>
              <a:lstStyle/>
              <a:p>
                <a:pPr lvl="0">
                  <a:defRPr sz="800" b="1" i="0">
                    <a:latin typeface="Times New Roman"/>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 Burn'!$A$2:$A$52</c:f>
              <c:strCache>
                <c:ptCount val="51"/>
                <c:pt idx="0">
                  <c:v>Dia 0</c:v>
                </c:pt>
                <c:pt idx="1">
                  <c:v>Dia 1</c:v>
                </c:pt>
                <c:pt idx="2">
                  <c:v>Dia 2</c:v>
                </c:pt>
                <c:pt idx="3">
                  <c:v>Dia 3</c:v>
                </c:pt>
                <c:pt idx="4">
                  <c:v>Dia 4</c:v>
                </c:pt>
                <c:pt idx="5">
                  <c:v>Dia 5</c:v>
                </c:pt>
                <c:pt idx="6">
                  <c:v>Dia 6</c:v>
                </c:pt>
                <c:pt idx="7">
                  <c:v>Dia 7</c:v>
                </c:pt>
                <c:pt idx="8">
                  <c:v>Dia 8</c:v>
                </c:pt>
                <c:pt idx="9">
                  <c:v>Dia 9</c:v>
                </c:pt>
                <c:pt idx="10">
                  <c:v>Dia 10</c:v>
                </c:pt>
                <c:pt idx="11">
                  <c:v>Dia 11</c:v>
                </c:pt>
                <c:pt idx="12">
                  <c:v>Dia 12</c:v>
                </c:pt>
                <c:pt idx="13">
                  <c:v>Dia 13</c:v>
                </c:pt>
                <c:pt idx="14">
                  <c:v>Dia 14</c:v>
                </c:pt>
                <c:pt idx="15">
                  <c:v>Dia 15</c:v>
                </c:pt>
                <c:pt idx="16">
                  <c:v>Dia 16</c:v>
                </c:pt>
                <c:pt idx="17">
                  <c:v>Dia 17</c:v>
                </c:pt>
                <c:pt idx="18">
                  <c:v>Dia 18</c:v>
                </c:pt>
                <c:pt idx="19">
                  <c:v>Dia 19</c:v>
                </c:pt>
                <c:pt idx="20">
                  <c:v>Dia 20</c:v>
                </c:pt>
                <c:pt idx="21">
                  <c:v>Dia 21</c:v>
                </c:pt>
                <c:pt idx="22">
                  <c:v>Dia 22</c:v>
                </c:pt>
                <c:pt idx="23">
                  <c:v>Dia 23</c:v>
                </c:pt>
                <c:pt idx="24">
                  <c:v>Dia 24</c:v>
                </c:pt>
                <c:pt idx="25">
                  <c:v>Dia 25</c:v>
                </c:pt>
                <c:pt idx="26">
                  <c:v>Dia 26</c:v>
                </c:pt>
                <c:pt idx="27">
                  <c:v>Dia 27</c:v>
                </c:pt>
                <c:pt idx="28">
                  <c:v>Dia 28</c:v>
                </c:pt>
                <c:pt idx="29">
                  <c:v>Dia 29</c:v>
                </c:pt>
                <c:pt idx="30">
                  <c:v>Dia 30</c:v>
                </c:pt>
                <c:pt idx="31">
                  <c:v>Dia 31</c:v>
                </c:pt>
                <c:pt idx="32">
                  <c:v>Dia 32</c:v>
                </c:pt>
                <c:pt idx="33">
                  <c:v>Dia 33</c:v>
                </c:pt>
                <c:pt idx="34">
                  <c:v>Dia 34</c:v>
                </c:pt>
                <c:pt idx="35">
                  <c:v>Dia 35</c:v>
                </c:pt>
                <c:pt idx="36">
                  <c:v>Dia 36</c:v>
                </c:pt>
                <c:pt idx="37">
                  <c:v>Dia 37</c:v>
                </c:pt>
                <c:pt idx="38">
                  <c:v>Dia 38</c:v>
                </c:pt>
                <c:pt idx="39">
                  <c:v>Dia 39</c:v>
                </c:pt>
                <c:pt idx="40">
                  <c:v>Dia 40</c:v>
                </c:pt>
                <c:pt idx="41">
                  <c:v>Dia 41</c:v>
                </c:pt>
                <c:pt idx="42">
                  <c:v>Dia 42</c:v>
                </c:pt>
                <c:pt idx="43">
                  <c:v>Dia 43</c:v>
                </c:pt>
                <c:pt idx="44">
                  <c:v>Dia 44</c:v>
                </c:pt>
                <c:pt idx="45">
                  <c:v>Dia 45</c:v>
                </c:pt>
                <c:pt idx="46">
                  <c:v>Dia 46</c:v>
                </c:pt>
                <c:pt idx="47">
                  <c:v>Dia 47</c:v>
                </c:pt>
                <c:pt idx="48">
                  <c:v>Dia 48</c:v>
                </c:pt>
                <c:pt idx="49">
                  <c:v>Dia 49</c:v>
                </c:pt>
                <c:pt idx="50">
                  <c:v>Dia 50</c:v>
                </c:pt>
              </c:strCache>
            </c:strRef>
          </c:cat>
          <c:val>
            <c:numRef>
              <c:f>'Graficos Burn'!$C$2:$C$52</c:f>
              <c:numCache>
                <c:formatCode>General</c:formatCode>
                <c:ptCount val="51"/>
                <c:pt idx="0">
                  <c:v>0</c:v>
                </c:pt>
                <c:pt idx="1">
                  <c:v>24</c:v>
                </c:pt>
                <c:pt idx="2">
                  <c:v>30</c:v>
                </c:pt>
                <c:pt idx="3">
                  <c:v>30</c:v>
                </c:pt>
                <c:pt idx="4">
                  <c:v>30</c:v>
                </c:pt>
                <c:pt idx="5">
                  <c:v>42</c:v>
                </c:pt>
                <c:pt idx="6">
                  <c:v>42</c:v>
                </c:pt>
                <c:pt idx="7">
                  <c:v>42.5</c:v>
                </c:pt>
                <c:pt idx="8">
                  <c:v>51.5</c:v>
                </c:pt>
                <c:pt idx="9">
                  <c:v>51.5</c:v>
                </c:pt>
                <c:pt idx="10">
                  <c:v>69.5</c:v>
                </c:pt>
                <c:pt idx="11">
                  <c:v>69.5</c:v>
                </c:pt>
                <c:pt idx="12">
                  <c:v>90.5</c:v>
                </c:pt>
                <c:pt idx="13">
                  <c:v>162.5</c:v>
                </c:pt>
                <c:pt idx="14">
                  <c:v>162.5</c:v>
                </c:pt>
                <c:pt idx="15">
                  <c:v>162.5</c:v>
                </c:pt>
                <c:pt idx="16">
                  <c:v>162.5</c:v>
                </c:pt>
                <c:pt idx="17">
                  <c:v>162.5</c:v>
                </c:pt>
                <c:pt idx="18">
                  <c:v>162.5</c:v>
                </c:pt>
                <c:pt idx="19">
                  <c:v>164.5</c:v>
                </c:pt>
                <c:pt idx="20">
                  <c:v>165.5</c:v>
                </c:pt>
                <c:pt idx="21">
                  <c:v>187.5</c:v>
                </c:pt>
                <c:pt idx="22">
                  <c:v>227.5</c:v>
                </c:pt>
                <c:pt idx="23">
                  <c:v>258.5</c:v>
                </c:pt>
                <c:pt idx="24">
                  <c:v>266.5</c:v>
                </c:pt>
                <c:pt idx="25">
                  <c:v>266.5</c:v>
                </c:pt>
                <c:pt idx="26">
                  <c:v>266.5</c:v>
                </c:pt>
                <c:pt idx="27">
                  <c:v>272.5</c:v>
                </c:pt>
                <c:pt idx="28">
                  <c:v>272.5</c:v>
                </c:pt>
                <c:pt idx="29">
                  <c:v>272.5</c:v>
                </c:pt>
                <c:pt idx="30">
                  <c:v>287.5</c:v>
                </c:pt>
                <c:pt idx="31">
                  <c:v>347.5</c:v>
                </c:pt>
                <c:pt idx="32">
                  <c:v>347.5</c:v>
                </c:pt>
                <c:pt idx="33">
                  <c:v>361.5</c:v>
                </c:pt>
                <c:pt idx="34">
                  <c:v>361.5</c:v>
                </c:pt>
                <c:pt idx="35">
                  <c:v>361.5</c:v>
                </c:pt>
                <c:pt idx="36">
                  <c:v>369.5</c:v>
                </c:pt>
                <c:pt idx="37">
                  <c:v>369.5</c:v>
                </c:pt>
                <c:pt idx="38">
                  <c:v>369.5</c:v>
                </c:pt>
                <c:pt idx="39">
                  <c:v>369.5</c:v>
                </c:pt>
                <c:pt idx="40">
                  <c:v>383.5</c:v>
                </c:pt>
                <c:pt idx="41">
                  <c:v>413.5</c:v>
                </c:pt>
                <c:pt idx="42">
                  <c:v>421.5</c:v>
                </c:pt>
                <c:pt idx="43">
                  <c:v>437.5</c:v>
                </c:pt>
                <c:pt idx="44">
                  <c:v>556.5</c:v>
                </c:pt>
                <c:pt idx="45">
                  <c:v>576.5</c:v>
                </c:pt>
                <c:pt idx="46">
                  <c:v>576.5</c:v>
                </c:pt>
                <c:pt idx="47">
                  <c:v>581.5</c:v>
                </c:pt>
                <c:pt idx="48">
                  <c:v>601.5</c:v>
                </c:pt>
                <c:pt idx="49">
                  <c:v>601.5</c:v>
                </c:pt>
                <c:pt idx="50">
                  <c:v>606.5</c:v>
                </c:pt>
              </c:numCache>
            </c:numRef>
          </c:val>
          <c:smooth val="1"/>
          <c:extLst>
            <c:ext xmlns:c16="http://schemas.microsoft.com/office/drawing/2014/chart" uri="{C3380CC4-5D6E-409C-BE32-E72D297353CC}">
              <c16:uniqueId val="{00000001-EF61-4CE7-BD68-3AA7CB72B80D}"/>
            </c:ext>
          </c:extLst>
        </c:ser>
        <c:dLbls>
          <c:showLegendKey val="0"/>
          <c:showVal val="0"/>
          <c:showCatName val="0"/>
          <c:showSerName val="0"/>
          <c:showPercent val="0"/>
          <c:showBubbleSize val="0"/>
        </c:dLbls>
        <c:marker val="1"/>
        <c:smooth val="0"/>
        <c:axId val="374928622"/>
        <c:axId val="616580565"/>
      </c:lineChart>
      <c:catAx>
        <c:axId val="374928622"/>
        <c:scaling>
          <c:orientation val="minMax"/>
        </c:scaling>
        <c:delete val="0"/>
        <c:axPos val="b"/>
        <c:title>
          <c:tx>
            <c:rich>
              <a:bodyPr/>
              <a:lstStyle/>
              <a:p>
                <a:pPr lvl="0">
                  <a:defRPr sz="1400" b="1" i="0">
                    <a:solidFill>
                      <a:srgbClr val="000000"/>
                    </a:solidFill>
                    <a:latin typeface="Times New Roman"/>
                  </a:defRPr>
                </a:pPr>
                <a:r>
                  <a:rPr lang="es-CL" sz="1400" b="1" i="0">
                    <a:solidFill>
                      <a:srgbClr val="000000"/>
                    </a:solidFill>
                    <a:latin typeface="Times New Roman"/>
                  </a:rPr>
                  <a:t>Día</a:t>
                </a:r>
              </a:p>
            </c:rich>
          </c:tx>
          <c:overlay val="0"/>
        </c:title>
        <c:numFmt formatCode="General" sourceLinked="1"/>
        <c:majorTickMark val="none"/>
        <c:minorTickMark val="none"/>
        <c:tickLblPos val="nextTo"/>
        <c:spPr>
          <a:ln>
            <a:noFill/>
            <a:prstDash val="solid"/>
          </a:ln>
        </c:spPr>
        <c:txPr>
          <a:bodyPr rot="5400000"/>
          <a:lstStyle/>
          <a:p>
            <a:pPr lvl="0">
              <a:defRPr sz="1200" b="0" i="0">
                <a:solidFill>
                  <a:srgbClr val="000000"/>
                </a:solidFill>
                <a:latin typeface="Times New Roman"/>
              </a:defRPr>
            </a:pPr>
            <a:endParaRPr lang="es-CL"/>
          </a:p>
        </c:txPr>
        <c:crossAx val="616580565"/>
        <c:crosses val="autoZero"/>
        <c:auto val="1"/>
        <c:lblAlgn val="ctr"/>
        <c:lblOffset val="100"/>
        <c:noMultiLvlLbl val="1"/>
      </c:catAx>
      <c:valAx>
        <c:axId val="616580565"/>
        <c:scaling>
          <c:orientation val="minMax"/>
        </c:scaling>
        <c:delete val="0"/>
        <c:axPos val="l"/>
        <c:majorGridlines>
          <c:spPr>
            <a:ln>
              <a:solidFill>
                <a:srgbClr val="B7B7B7"/>
              </a:solidFill>
              <a:prstDash val="solid"/>
            </a:ln>
          </c:spPr>
        </c:majorGridlines>
        <c:title>
          <c:tx>
            <c:rich>
              <a:bodyPr/>
              <a:lstStyle/>
              <a:p>
                <a:pPr lvl="0">
                  <a:defRPr sz="1400" b="1" i="0">
                    <a:solidFill>
                      <a:srgbClr val="000000"/>
                    </a:solidFill>
                    <a:latin typeface="Times New Roman"/>
                  </a:defRPr>
                </a:pPr>
                <a:r>
                  <a:rPr lang="es-CL" sz="1400" b="1" i="0">
                    <a:solidFill>
                      <a:srgbClr val="000000"/>
                    </a:solidFill>
                    <a:latin typeface="Times New Roman"/>
                  </a:rPr>
                  <a:t>Esfuerzo acumulado [HH]</a:t>
                </a:r>
              </a:p>
            </c:rich>
          </c:tx>
          <c:overlay val="0"/>
        </c:title>
        <c:numFmt formatCode="0" sourceLinked="0"/>
        <c:majorTickMark val="none"/>
        <c:minorTickMark val="none"/>
        <c:tickLblPos val="nextTo"/>
        <c:spPr>
          <a:ln>
            <a:noFill/>
            <a:prstDash val="solid"/>
          </a:ln>
        </c:spPr>
        <c:txPr>
          <a:bodyPr/>
          <a:lstStyle/>
          <a:p>
            <a:pPr lvl="0">
              <a:defRPr sz="1200" b="0" i="0">
                <a:solidFill>
                  <a:srgbClr val="000000"/>
                </a:solidFill>
                <a:latin typeface="Times New Roman"/>
              </a:defRPr>
            </a:pPr>
            <a:endParaRPr lang="es-CL"/>
          </a:p>
        </c:txPr>
        <c:crossAx val="374928622"/>
        <c:crosses val="autoZero"/>
        <c:crossBetween val="between"/>
      </c:valAx>
    </c:plotArea>
    <c:legend>
      <c:legendPos val="r"/>
      <c:layout>
        <c:manualLayout>
          <c:xMode val="edge"/>
          <c:yMode val="edge"/>
          <c:x val="9.2504429979854211E-2"/>
          <c:y val="0.14815404608359509"/>
        </c:manualLayout>
      </c:layout>
      <c:overlay val="0"/>
      <c:txPr>
        <a:bodyPr/>
        <a:lstStyle/>
        <a:p>
          <a:pPr lvl="0">
            <a:defRPr sz="1400" b="0" i="0">
              <a:solidFill>
                <a:srgbClr val="000000"/>
              </a:solidFill>
              <a:latin typeface="Times New Roman"/>
            </a:defRPr>
          </a:pPr>
          <a:endParaRPr lang="es-CL"/>
        </a:p>
      </c:txPr>
    </c:legend>
    <c:plotVisOnly val="1"/>
    <c:dispBlanksAs val="gap"/>
    <c:showDLblsOverMax val="1"/>
  </c:chart>
  <c:spPr>
    <a:solidFill>
      <a:srgbClr val="FFFFFF"/>
    </a:solidFill>
    <a:ln>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sz="2000" b="1" i="0">
                <a:solidFill>
                  <a:srgbClr val="000000"/>
                </a:solidFill>
                <a:latin typeface="Times New Roman"/>
              </a:defRPr>
            </a:pPr>
            <a:r>
              <a:rPr lang="es-CL" sz="2000" b="1" i="0">
                <a:solidFill>
                  <a:srgbClr val="000000"/>
                </a:solidFill>
                <a:latin typeface="Times New Roman"/>
              </a:rPr>
              <a:t>BurnDown - Esfuerzos del Equipo</a:t>
            </a:r>
          </a:p>
        </c:rich>
      </c:tx>
      <c:overlay val="0"/>
    </c:title>
    <c:autoTitleDeleted val="0"/>
    <c:plotArea>
      <c:layout>
        <c:manualLayout>
          <c:layoutTarget val="inner"/>
          <c:xMode val="edge"/>
          <c:yMode val="edge"/>
          <c:x val="9.6573995262382986E-2"/>
          <c:y val="0.11381669356734556"/>
          <c:w val="0.8884454554373592"/>
          <c:h val="0.79347904402928515"/>
        </c:manualLayout>
      </c:layout>
      <c:lineChart>
        <c:grouping val="standard"/>
        <c:varyColors val="1"/>
        <c:ser>
          <c:idx val="0"/>
          <c:order val="0"/>
          <c:tx>
            <c:v>Burndown estimado [HH]</c:v>
          </c:tx>
          <c:spPr>
            <a:ln w="19050" cmpd="sng">
              <a:solidFill>
                <a:srgbClr val="E84040"/>
              </a:solidFill>
              <a:prstDash val="solid"/>
            </a:ln>
          </c:spPr>
          <c:marker>
            <c:symbol val="circle"/>
            <c:size val="5"/>
            <c:spPr>
              <a:solidFill>
                <a:srgbClr val="E84040"/>
              </a:solidFill>
              <a:ln cmpd="sng">
                <a:solidFill>
                  <a:srgbClr val="E84040"/>
                </a:solidFill>
                <a:prstDash val="solid"/>
              </a:ln>
            </c:spPr>
          </c:marker>
          <c:dLbls>
            <c:spPr>
              <a:noFill/>
              <a:ln>
                <a:noFill/>
              </a:ln>
              <a:effectLst/>
            </c:spPr>
            <c:txPr>
              <a:bodyPr/>
              <a:lstStyle/>
              <a:p>
                <a:pPr lvl="0">
                  <a:defRPr sz="800" b="1" i="0">
                    <a:latin typeface="Times New Roman"/>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 Burn'!$E$2:$E$52</c:f>
              <c:strCache>
                <c:ptCount val="51"/>
                <c:pt idx="0">
                  <c:v>Dia 0</c:v>
                </c:pt>
                <c:pt idx="1">
                  <c:v>Dia 1</c:v>
                </c:pt>
                <c:pt idx="2">
                  <c:v>Dia 2</c:v>
                </c:pt>
                <c:pt idx="3">
                  <c:v>Dia 3</c:v>
                </c:pt>
                <c:pt idx="4">
                  <c:v>Dia 4</c:v>
                </c:pt>
                <c:pt idx="5">
                  <c:v>Dia 5</c:v>
                </c:pt>
                <c:pt idx="6">
                  <c:v>Dia 6</c:v>
                </c:pt>
                <c:pt idx="7">
                  <c:v>Dia 7</c:v>
                </c:pt>
                <c:pt idx="8">
                  <c:v>Dia 8</c:v>
                </c:pt>
                <c:pt idx="9">
                  <c:v>Dia 9</c:v>
                </c:pt>
                <c:pt idx="10">
                  <c:v>Dia 10</c:v>
                </c:pt>
                <c:pt idx="11">
                  <c:v>Dia 11</c:v>
                </c:pt>
                <c:pt idx="12">
                  <c:v>Dia 12</c:v>
                </c:pt>
                <c:pt idx="13">
                  <c:v>Dia 13</c:v>
                </c:pt>
                <c:pt idx="14">
                  <c:v>Dia 14</c:v>
                </c:pt>
                <c:pt idx="15">
                  <c:v>Dia 15</c:v>
                </c:pt>
                <c:pt idx="16">
                  <c:v>Dia 16</c:v>
                </c:pt>
                <c:pt idx="17">
                  <c:v>Dia 17</c:v>
                </c:pt>
                <c:pt idx="18">
                  <c:v>Dia 18</c:v>
                </c:pt>
                <c:pt idx="19">
                  <c:v>Dia 19</c:v>
                </c:pt>
                <c:pt idx="20">
                  <c:v>Dia 20</c:v>
                </c:pt>
                <c:pt idx="21">
                  <c:v>Dia 21</c:v>
                </c:pt>
                <c:pt idx="22">
                  <c:v>Dia 22</c:v>
                </c:pt>
                <c:pt idx="23">
                  <c:v>Dia 23</c:v>
                </c:pt>
                <c:pt idx="24">
                  <c:v>Dia 24</c:v>
                </c:pt>
                <c:pt idx="25">
                  <c:v>Dia 25</c:v>
                </c:pt>
                <c:pt idx="26">
                  <c:v>Dia 26</c:v>
                </c:pt>
                <c:pt idx="27">
                  <c:v>Dia 27</c:v>
                </c:pt>
                <c:pt idx="28">
                  <c:v>Dia 28</c:v>
                </c:pt>
                <c:pt idx="29">
                  <c:v>Dia 29</c:v>
                </c:pt>
                <c:pt idx="30">
                  <c:v>Dia 30</c:v>
                </c:pt>
                <c:pt idx="31">
                  <c:v>Dia 31</c:v>
                </c:pt>
                <c:pt idx="32">
                  <c:v>Dia 32</c:v>
                </c:pt>
                <c:pt idx="33">
                  <c:v>Dia 33</c:v>
                </c:pt>
                <c:pt idx="34">
                  <c:v>Dia 34</c:v>
                </c:pt>
                <c:pt idx="35">
                  <c:v>Dia 35</c:v>
                </c:pt>
                <c:pt idx="36">
                  <c:v>Dia 36</c:v>
                </c:pt>
                <c:pt idx="37">
                  <c:v>Dia 37</c:v>
                </c:pt>
                <c:pt idx="38">
                  <c:v>Dia 38</c:v>
                </c:pt>
                <c:pt idx="39">
                  <c:v>Dia 39</c:v>
                </c:pt>
                <c:pt idx="40">
                  <c:v>Dia 40</c:v>
                </c:pt>
                <c:pt idx="41">
                  <c:v>Dia 41</c:v>
                </c:pt>
                <c:pt idx="42">
                  <c:v>Dia 42</c:v>
                </c:pt>
                <c:pt idx="43">
                  <c:v>Dia 43</c:v>
                </c:pt>
                <c:pt idx="44">
                  <c:v>Dia 44</c:v>
                </c:pt>
                <c:pt idx="45">
                  <c:v>Dia 45</c:v>
                </c:pt>
                <c:pt idx="46">
                  <c:v>Dia 46</c:v>
                </c:pt>
                <c:pt idx="47">
                  <c:v>Dia 47</c:v>
                </c:pt>
                <c:pt idx="48">
                  <c:v>Dia 48</c:v>
                </c:pt>
                <c:pt idx="49">
                  <c:v>Dia 49</c:v>
                </c:pt>
                <c:pt idx="50">
                  <c:v>Dia 50</c:v>
                </c:pt>
              </c:strCache>
            </c:strRef>
          </c:cat>
          <c:val>
            <c:numRef>
              <c:f>'Graficos Burn'!$F$2:$F$52</c:f>
              <c:numCache>
                <c:formatCode>General</c:formatCode>
                <c:ptCount val="51"/>
                <c:pt idx="0">
                  <c:v>327</c:v>
                </c:pt>
                <c:pt idx="1">
                  <c:v>305</c:v>
                </c:pt>
                <c:pt idx="2">
                  <c:v>297</c:v>
                </c:pt>
                <c:pt idx="3">
                  <c:v>297</c:v>
                </c:pt>
                <c:pt idx="4">
                  <c:v>297</c:v>
                </c:pt>
                <c:pt idx="5">
                  <c:v>291</c:v>
                </c:pt>
                <c:pt idx="6">
                  <c:v>291</c:v>
                </c:pt>
                <c:pt idx="7">
                  <c:v>290</c:v>
                </c:pt>
                <c:pt idx="8">
                  <c:v>281</c:v>
                </c:pt>
                <c:pt idx="9">
                  <c:v>281</c:v>
                </c:pt>
                <c:pt idx="10">
                  <c:v>263</c:v>
                </c:pt>
                <c:pt idx="11">
                  <c:v>258</c:v>
                </c:pt>
                <c:pt idx="12">
                  <c:v>258</c:v>
                </c:pt>
                <c:pt idx="13">
                  <c:v>210</c:v>
                </c:pt>
                <c:pt idx="14">
                  <c:v>210</c:v>
                </c:pt>
                <c:pt idx="15">
                  <c:v>210</c:v>
                </c:pt>
                <c:pt idx="16">
                  <c:v>210</c:v>
                </c:pt>
                <c:pt idx="17">
                  <c:v>210</c:v>
                </c:pt>
                <c:pt idx="18">
                  <c:v>210</c:v>
                </c:pt>
                <c:pt idx="19">
                  <c:v>209</c:v>
                </c:pt>
                <c:pt idx="20">
                  <c:v>198</c:v>
                </c:pt>
                <c:pt idx="21">
                  <c:v>186</c:v>
                </c:pt>
                <c:pt idx="22">
                  <c:v>176</c:v>
                </c:pt>
                <c:pt idx="23">
                  <c:v>166</c:v>
                </c:pt>
                <c:pt idx="24">
                  <c:v>166</c:v>
                </c:pt>
                <c:pt idx="25">
                  <c:v>166</c:v>
                </c:pt>
                <c:pt idx="26">
                  <c:v>166</c:v>
                </c:pt>
                <c:pt idx="27">
                  <c:v>160</c:v>
                </c:pt>
                <c:pt idx="28">
                  <c:v>132</c:v>
                </c:pt>
                <c:pt idx="29">
                  <c:v>127</c:v>
                </c:pt>
                <c:pt idx="30">
                  <c:v>127</c:v>
                </c:pt>
                <c:pt idx="31">
                  <c:v>127</c:v>
                </c:pt>
                <c:pt idx="32">
                  <c:v>91</c:v>
                </c:pt>
                <c:pt idx="33">
                  <c:v>91</c:v>
                </c:pt>
                <c:pt idx="34">
                  <c:v>91</c:v>
                </c:pt>
                <c:pt idx="35">
                  <c:v>91</c:v>
                </c:pt>
                <c:pt idx="36">
                  <c:v>85</c:v>
                </c:pt>
                <c:pt idx="37">
                  <c:v>77</c:v>
                </c:pt>
                <c:pt idx="38">
                  <c:v>74</c:v>
                </c:pt>
                <c:pt idx="39">
                  <c:v>74</c:v>
                </c:pt>
                <c:pt idx="40">
                  <c:v>74</c:v>
                </c:pt>
                <c:pt idx="41">
                  <c:v>68</c:v>
                </c:pt>
                <c:pt idx="42">
                  <c:v>58</c:v>
                </c:pt>
                <c:pt idx="43">
                  <c:v>58</c:v>
                </c:pt>
                <c:pt idx="44">
                  <c:v>38</c:v>
                </c:pt>
                <c:pt idx="45">
                  <c:v>26</c:v>
                </c:pt>
                <c:pt idx="46">
                  <c:v>26</c:v>
                </c:pt>
                <c:pt idx="47">
                  <c:v>5</c:v>
                </c:pt>
                <c:pt idx="48">
                  <c:v>5</c:v>
                </c:pt>
                <c:pt idx="49">
                  <c:v>0</c:v>
                </c:pt>
                <c:pt idx="50">
                  <c:v>0</c:v>
                </c:pt>
              </c:numCache>
            </c:numRef>
          </c:val>
          <c:smooth val="1"/>
          <c:extLst>
            <c:ext xmlns:c16="http://schemas.microsoft.com/office/drawing/2014/chart" uri="{C3380CC4-5D6E-409C-BE32-E72D297353CC}">
              <c16:uniqueId val="{00000000-C62F-4ED6-8503-1EC88768CC8C}"/>
            </c:ext>
          </c:extLst>
        </c:ser>
        <c:ser>
          <c:idx val="1"/>
          <c:order val="1"/>
          <c:tx>
            <c:v>Burndown real [HH]</c:v>
          </c:tx>
          <c:spPr>
            <a:ln w="19050" cmpd="sng">
              <a:solidFill>
                <a:srgbClr val="2E75B6"/>
              </a:solidFill>
              <a:prstDash val="solid"/>
            </a:ln>
          </c:spPr>
          <c:marker>
            <c:symbol val="circle"/>
            <c:size val="5"/>
            <c:spPr>
              <a:solidFill>
                <a:srgbClr val="2E75B6"/>
              </a:solidFill>
              <a:ln cmpd="sng">
                <a:solidFill>
                  <a:srgbClr val="2E75B6"/>
                </a:solidFill>
                <a:prstDash val="solid"/>
              </a:ln>
            </c:spPr>
          </c:marker>
          <c:dLbls>
            <c:spPr>
              <a:noFill/>
              <a:ln>
                <a:noFill/>
              </a:ln>
              <a:effectLst/>
            </c:spPr>
            <c:txPr>
              <a:bodyPr/>
              <a:lstStyle/>
              <a:p>
                <a:pPr lvl="0">
                  <a:defRPr sz="800" b="1" i="0">
                    <a:latin typeface="Times New Roman"/>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 Burn'!$E$2:$E$52</c:f>
              <c:strCache>
                <c:ptCount val="51"/>
                <c:pt idx="0">
                  <c:v>Dia 0</c:v>
                </c:pt>
                <c:pt idx="1">
                  <c:v>Dia 1</c:v>
                </c:pt>
                <c:pt idx="2">
                  <c:v>Dia 2</c:v>
                </c:pt>
                <c:pt idx="3">
                  <c:v>Dia 3</c:v>
                </c:pt>
                <c:pt idx="4">
                  <c:v>Dia 4</c:v>
                </c:pt>
                <c:pt idx="5">
                  <c:v>Dia 5</c:v>
                </c:pt>
                <c:pt idx="6">
                  <c:v>Dia 6</c:v>
                </c:pt>
                <c:pt idx="7">
                  <c:v>Dia 7</c:v>
                </c:pt>
                <c:pt idx="8">
                  <c:v>Dia 8</c:v>
                </c:pt>
                <c:pt idx="9">
                  <c:v>Dia 9</c:v>
                </c:pt>
                <c:pt idx="10">
                  <c:v>Dia 10</c:v>
                </c:pt>
                <c:pt idx="11">
                  <c:v>Dia 11</c:v>
                </c:pt>
                <c:pt idx="12">
                  <c:v>Dia 12</c:v>
                </c:pt>
                <c:pt idx="13">
                  <c:v>Dia 13</c:v>
                </c:pt>
                <c:pt idx="14">
                  <c:v>Dia 14</c:v>
                </c:pt>
                <c:pt idx="15">
                  <c:v>Dia 15</c:v>
                </c:pt>
                <c:pt idx="16">
                  <c:v>Dia 16</c:v>
                </c:pt>
                <c:pt idx="17">
                  <c:v>Dia 17</c:v>
                </c:pt>
                <c:pt idx="18">
                  <c:v>Dia 18</c:v>
                </c:pt>
                <c:pt idx="19">
                  <c:v>Dia 19</c:v>
                </c:pt>
                <c:pt idx="20">
                  <c:v>Dia 20</c:v>
                </c:pt>
                <c:pt idx="21">
                  <c:v>Dia 21</c:v>
                </c:pt>
                <c:pt idx="22">
                  <c:v>Dia 22</c:v>
                </c:pt>
                <c:pt idx="23">
                  <c:v>Dia 23</c:v>
                </c:pt>
                <c:pt idx="24">
                  <c:v>Dia 24</c:v>
                </c:pt>
                <c:pt idx="25">
                  <c:v>Dia 25</c:v>
                </c:pt>
                <c:pt idx="26">
                  <c:v>Dia 26</c:v>
                </c:pt>
                <c:pt idx="27">
                  <c:v>Dia 27</c:v>
                </c:pt>
                <c:pt idx="28">
                  <c:v>Dia 28</c:v>
                </c:pt>
                <c:pt idx="29">
                  <c:v>Dia 29</c:v>
                </c:pt>
                <c:pt idx="30">
                  <c:v>Dia 30</c:v>
                </c:pt>
                <c:pt idx="31">
                  <c:v>Dia 31</c:v>
                </c:pt>
                <c:pt idx="32">
                  <c:v>Dia 32</c:v>
                </c:pt>
                <c:pt idx="33">
                  <c:v>Dia 33</c:v>
                </c:pt>
                <c:pt idx="34">
                  <c:v>Dia 34</c:v>
                </c:pt>
                <c:pt idx="35">
                  <c:v>Dia 35</c:v>
                </c:pt>
                <c:pt idx="36">
                  <c:v>Dia 36</c:v>
                </c:pt>
                <c:pt idx="37">
                  <c:v>Dia 37</c:v>
                </c:pt>
                <c:pt idx="38">
                  <c:v>Dia 38</c:v>
                </c:pt>
                <c:pt idx="39">
                  <c:v>Dia 39</c:v>
                </c:pt>
                <c:pt idx="40">
                  <c:v>Dia 40</c:v>
                </c:pt>
                <c:pt idx="41">
                  <c:v>Dia 41</c:v>
                </c:pt>
                <c:pt idx="42">
                  <c:v>Dia 42</c:v>
                </c:pt>
                <c:pt idx="43">
                  <c:v>Dia 43</c:v>
                </c:pt>
                <c:pt idx="44">
                  <c:v>Dia 44</c:v>
                </c:pt>
                <c:pt idx="45">
                  <c:v>Dia 45</c:v>
                </c:pt>
                <c:pt idx="46">
                  <c:v>Dia 46</c:v>
                </c:pt>
                <c:pt idx="47">
                  <c:v>Dia 47</c:v>
                </c:pt>
                <c:pt idx="48">
                  <c:v>Dia 48</c:v>
                </c:pt>
                <c:pt idx="49">
                  <c:v>Dia 49</c:v>
                </c:pt>
                <c:pt idx="50">
                  <c:v>Dia 50</c:v>
                </c:pt>
              </c:strCache>
            </c:strRef>
          </c:cat>
          <c:val>
            <c:numRef>
              <c:f>'Graficos Burn'!$G$2:$G$52</c:f>
              <c:numCache>
                <c:formatCode>General</c:formatCode>
                <c:ptCount val="51"/>
                <c:pt idx="0">
                  <c:v>606.5</c:v>
                </c:pt>
                <c:pt idx="1">
                  <c:v>582.5</c:v>
                </c:pt>
                <c:pt idx="2">
                  <c:v>576.5</c:v>
                </c:pt>
                <c:pt idx="3">
                  <c:v>576.5</c:v>
                </c:pt>
                <c:pt idx="4">
                  <c:v>576.5</c:v>
                </c:pt>
                <c:pt idx="5">
                  <c:v>564.5</c:v>
                </c:pt>
                <c:pt idx="6">
                  <c:v>564.5</c:v>
                </c:pt>
                <c:pt idx="7">
                  <c:v>564</c:v>
                </c:pt>
                <c:pt idx="8">
                  <c:v>555</c:v>
                </c:pt>
                <c:pt idx="9">
                  <c:v>555</c:v>
                </c:pt>
                <c:pt idx="10">
                  <c:v>537</c:v>
                </c:pt>
                <c:pt idx="11">
                  <c:v>537</c:v>
                </c:pt>
                <c:pt idx="12">
                  <c:v>516</c:v>
                </c:pt>
                <c:pt idx="13">
                  <c:v>444</c:v>
                </c:pt>
                <c:pt idx="14">
                  <c:v>444</c:v>
                </c:pt>
                <c:pt idx="15">
                  <c:v>444</c:v>
                </c:pt>
                <c:pt idx="16">
                  <c:v>444</c:v>
                </c:pt>
                <c:pt idx="17">
                  <c:v>444</c:v>
                </c:pt>
                <c:pt idx="18">
                  <c:v>444</c:v>
                </c:pt>
                <c:pt idx="19">
                  <c:v>442</c:v>
                </c:pt>
                <c:pt idx="20">
                  <c:v>441</c:v>
                </c:pt>
                <c:pt idx="21">
                  <c:v>419</c:v>
                </c:pt>
                <c:pt idx="22">
                  <c:v>379</c:v>
                </c:pt>
                <c:pt idx="23">
                  <c:v>348</c:v>
                </c:pt>
                <c:pt idx="24">
                  <c:v>340</c:v>
                </c:pt>
                <c:pt idx="25">
                  <c:v>340</c:v>
                </c:pt>
                <c:pt idx="26">
                  <c:v>340</c:v>
                </c:pt>
                <c:pt idx="27">
                  <c:v>334</c:v>
                </c:pt>
                <c:pt idx="28">
                  <c:v>334</c:v>
                </c:pt>
                <c:pt idx="29">
                  <c:v>334</c:v>
                </c:pt>
                <c:pt idx="30">
                  <c:v>319</c:v>
                </c:pt>
                <c:pt idx="31">
                  <c:v>259</c:v>
                </c:pt>
                <c:pt idx="32">
                  <c:v>259</c:v>
                </c:pt>
                <c:pt idx="33">
                  <c:v>245</c:v>
                </c:pt>
                <c:pt idx="34">
                  <c:v>245</c:v>
                </c:pt>
                <c:pt idx="35">
                  <c:v>245</c:v>
                </c:pt>
                <c:pt idx="36">
                  <c:v>237</c:v>
                </c:pt>
                <c:pt idx="37">
                  <c:v>237</c:v>
                </c:pt>
                <c:pt idx="38">
                  <c:v>237</c:v>
                </c:pt>
                <c:pt idx="39">
                  <c:v>237</c:v>
                </c:pt>
                <c:pt idx="40">
                  <c:v>223</c:v>
                </c:pt>
                <c:pt idx="41">
                  <c:v>193</c:v>
                </c:pt>
                <c:pt idx="42">
                  <c:v>185</c:v>
                </c:pt>
                <c:pt idx="43">
                  <c:v>169</c:v>
                </c:pt>
                <c:pt idx="44">
                  <c:v>50</c:v>
                </c:pt>
                <c:pt idx="45">
                  <c:v>30</c:v>
                </c:pt>
                <c:pt idx="46">
                  <c:v>30</c:v>
                </c:pt>
                <c:pt idx="47">
                  <c:v>25</c:v>
                </c:pt>
                <c:pt idx="48">
                  <c:v>5</c:v>
                </c:pt>
                <c:pt idx="49">
                  <c:v>5</c:v>
                </c:pt>
                <c:pt idx="50">
                  <c:v>0</c:v>
                </c:pt>
              </c:numCache>
            </c:numRef>
          </c:val>
          <c:smooth val="1"/>
          <c:extLst>
            <c:ext xmlns:c16="http://schemas.microsoft.com/office/drawing/2014/chart" uri="{C3380CC4-5D6E-409C-BE32-E72D297353CC}">
              <c16:uniqueId val="{00000001-C62F-4ED6-8503-1EC88768CC8C}"/>
            </c:ext>
          </c:extLst>
        </c:ser>
        <c:dLbls>
          <c:showLegendKey val="0"/>
          <c:showVal val="0"/>
          <c:showCatName val="0"/>
          <c:showSerName val="0"/>
          <c:showPercent val="0"/>
          <c:showBubbleSize val="0"/>
        </c:dLbls>
        <c:marker val="1"/>
        <c:smooth val="0"/>
        <c:axId val="514743660"/>
        <c:axId val="377168748"/>
      </c:lineChart>
      <c:catAx>
        <c:axId val="514743660"/>
        <c:scaling>
          <c:orientation val="minMax"/>
        </c:scaling>
        <c:delete val="0"/>
        <c:axPos val="b"/>
        <c:title>
          <c:tx>
            <c:rich>
              <a:bodyPr/>
              <a:lstStyle/>
              <a:p>
                <a:pPr lvl="0">
                  <a:defRPr sz="1000" b="1" i="0">
                    <a:solidFill>
                      <a:srgbClr val="000000"/>
                    </a:solidFill>
                    <a:latin typeface="Aptos Narrow"/>
                  </a:defRPr>
                </a:pPr>
                <a:r>
                  <a:rPr lang="es-CL" sz="1000" b="1" i="0">
                    <a:solidFill>
                      <a:srgbClr val="000000"/>
                    </a:solidFill>
                    <a:latin typeface="Aptos Narrow"/>
                  </a:rPr>
                  <a:t>Día</a:t>
                </a:r>
              </a:p>
            </c:rich>
          </c:tx>
          <c:overlay val="0"/>
        </c:title>
        <c:numFmt formatCode="General" sourceLinked="1"/>
        <c:majorTickMark val="cross"/>
        <c:minorTickMark val="none"/>
        <c:tickLblPos val="nextTo"/>
        <c:spPr>
          <a:ln>
            <a:prstDash val="solid"/>
          </a:ln>
        </c:spPr>
        <c:txPr>
          <a:bodyPr rot="5400000"/>
          <a:lstStyle/>
          <a:p>
            <a:pPr lvl="0">
              <a:defRPr sz="1200" b="0" i="0">
                <a:solidFill>
                  <a:srgbClr val="000000"/>
                </a:solidFill>
                <a:latin typeface="Times New Roman"/>
              </a:defRPr>
            </a:pPr>
            <a:endParaRPr lang="es-CL"/>
          </a:p>
        </c:txPr>
        <c:crossAx val="377168748"/>
        <c:crosses val="autoZero"/>
        <c:auto val="1"/>
        <c:lblAlgn val="ctr"/>
        <c:lblOffset val="100"/>
        <c:noMultiLvlLbl val="1"/>
      </c:catAx>
      <c:valAx>
        <c:axId val="377168748"/>
        <c:scaling>
          <c:orientation val="minMax"/>
        </c:scaling>
        <c:delete val="0"/>
        <c:axPos val="l"/>
        <c:title>
          <c:tx>
            <c:rich>
              <a:bodyPr/>
              <a:lstStyle/>
              <a:p>
                <a:pPr lvl="0">
                  <a:defRPr sz="1400" b="1" i="0">
                    <a:solidFill>
                      <a:srgbClr val="000000"/>
                    </a:solidFill>
                    <a:latin typeface="Times New Roman"/>
                  </a:defRPr>
                </a:pPr>
                <a:r>
                  <a:rPr lang="es-CL" sz="1400" b="1" i="0">
                    <a:solidFill>
                      <a:srgbClr val="000000"/>
                    </a:solidFill>
                    <a:latin typeface="Times New Roman"/>
                  </a:rPr>
                  <a:t>Esfuerzo restante [HH]</a:t>
                </a:r>
              </a:p>
            </c:rich>
          </c:tx>
          <c:overlay val="0"/>
        </c:title>
        <c:numFmt formatCode="0" sourceLinked="0"/>
        <c:majorTickMark val="none"/>
        <c:minorTickMark val="none"/>
        <c:tickLblPos val="nextTo"/>
        <c:spPr>
          <a:ln>
            <a:noFill/>
            <a:prstDash val="solid"/>
          </a:ln>
        </c:spPr>
        <c:txPr>
          <a:bodyPr/>
          <a:lstStyle/>
          <a:p>
            <a:pPr lvl="0">
              <a:defRPr sz="1200" b="0" i="0">
                <a:solidFill>
                  <a:srgbClr val="000000"/>
                </a:solidFill>
                <a:latin typeface="Times New Roman"/>
              </a:defRPr>
            </a:pPr>
            <a:endParaRPr lang="es-CL"/>
          </a:p>
        </c:txPr>
        <c:crossAx val="514743660"/>
        <c:crosses val="autoZero"/>
        <c:crossBetween val="between"/>
      </c:valAx>
    </c:plotArea>
    <c:legend>
      <c:legendPos val="r"/>
      <c:layout>
        <c:manualLayout>
          <c:xMode val="edge"/>
          <c:yMode val="edge"/>
          <c:x val="0.68881857178512818"/>
          <c:y val="0.12913633459744259"/>
        </c:manualLayout>
      </c:layout>
      <c:overlay val="0"/>
      <c:txPr>
        <a:bodyPr/>
        <a:lstStyle/>
        <a:p>
          <a:pPr lvl="0">
            <a:defRPr sz="1400" b="0" i="0">
              <a:solidFill>
                <a:srgbClr val="000000"/>
              </a:solidFill>
              <a:latin typeface="Times New Roman"/>
            </a:defRPr>
          </a:pPr>
          <a:endParaRPr lang="es-CL"/>
        </a:p>
      </c:txPr>
    </c:legend>
    <c:plotVisOnly val="1"/>
    <c:dispBlanksAs val="gap"/>
    <c:showDLblsOverMax val="1"/>
  </c:chart>
  <c:spPr>
    <a:solidFill>
      <a:srgbClr val="FFFFFF"/>
    </a:solidFill>
    <a:ln>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86" name="Google Shape;86;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87" name="Google Shape;87;p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a:t>
            </a:r>
            <a:endParaRPr/>
          </a:p>
        </p:txBody>
      </p:sp>
      <p:sp>
        <p:nvSpPr>
          <p:cNvPr id="89" name="Google Shape;89;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90" name="Google Shape;90;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21" name="Google Shape;121;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22" name="Google Shape;122;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a:t>
            </a:r>
            <a:endParaRPr/>
          </a:p>
        </p:txBody>
      </p:sp>
      <p:sp>
        <p:nvSpPr>
          <p:cNvPr id="124" name="Google Shape;124;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25" name="Google Shape;125;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73" name="Google Shape;173;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74" name="Google Shape;174;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a:t>
            </a:r>
            <a:endParaRPr/>
          </a:p>
        </p:txBody>
      </p:sp>
      <p:sp>
        <p:nvSpPr>
          <p:cNvPr id="176" name="Google Shape;176;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77" name="Google Shape;177;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99" name="Google Shape;199;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00" name="Google Shape;200;p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4</a:t>
            </a:r>
            <a:endParaRPr/>
          </a:p>
        </p:txBody>
      </p:sp>
      <p:sp>
        <p:nvSpPr>
          <p:cNvPr id="202" name="Google Shape;202;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03" name="Google Shape;203;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7" name="Google Shape;237;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38" name="Google Shape;238;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5</a:t>
            </a:r>
            <a:endParaRPr/>
          </a:p>
        </p:txBody>
      </p:sp>
      <p:sp>
        <p:nvSpPr>
          <p:cNvPr id="240" name="Google Shape;240;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41" name="Google Shape;241;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6: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6: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69" name="Google Shape;269;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70" name="Google Shape;270;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6</a:t>
            </a:r>
            <a:endParaRPr/>
          </a:p>
        </p:txBody>
      </p:sp>
      <p:sp>
        <p:nvSpPr>
          <p:cNvPr id="272" name="Google Shape;272;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73" name="Google Shape;273;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86" name="Google Shape;286;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87" name="Google Shape;287;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6</a:t>
            </a:r>
            <a:endParaRPr/>
          </a:p>
        </p:txBody>
      </p:sp>
      <p:sp>
        <p:nvSpPr>
          <p:cNvPr id="289" name="Google Shape;289;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90" name="Google Shape;290;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06" name="Google Shape;306;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07" name="Google Shape;307;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6</a:t>
            </a:r>
            <a:endParaRPr/>
          </a:p>
        </p:txBody>
      </p:sp>
      <p:sp>
        <p:nvSpPr>
          <p:cNvPr id="309" name="Google Shape;309;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10" name="Google Shape;310;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26" name="Google Shape;326;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27" name="Google Shape;327;p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6</a:t>
            </a:r>
            <a:endParaRPr/>
          </a:p>
        </p:txBody>
      </p:sp>
      <p:sp>
        <p:nvSpPr>
          <p:cNvPr id="329" name="Google Shape;329;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30" name="Google Shape;330;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7: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7: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56" name="Google Shape;356;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57" name="Google Shape;357;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10</a:t>
            </a:r>
            <a:endParaRPr/>
          </a:p>
        </p:txBody>
      </p:sp>
      <p:sp>
        <p:nvSpPr>
          <p:cNvPr id="359" name="Google Shape;359;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60" name="Google Shape;360;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12: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edd4c675fa_1_12:notes"/>
          <p:cNvSpPr txBox="1">
            <a:spLocks noGrp="1"/>
          </p:cNvSpPr>
          <p:nvPr>
            <p:ph type="body" idx="1"/>
          </p:nvPr>
        </p:nvSpPr>
        <p:spPr>
          <a:xfrm>
            <a:off x="914400" y="3251200"/>
            <a:ext cx="7315200" cy="3081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g3edd4c675fa_1_12: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edd4c675fa_1_0:notes"/>
          <p:cNvSpPr txBox="1">
            <a:spLocks noGrp="1"/>
          </p:cNvSpPr>
          <p:nvPr>
            <p:ph type="body" idx="1"/>
          </p:nvPr>
        </p:nvSpPr>
        <p:spPr>
          <a:xfrm>
            <a:off x="914400" y="3251200"/>
            <a:ext cx="7315200" cy="3081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g3edd4c675fa_1_0: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edd4c675fa_3_1:notes"/>
          <p:cNvSpPr txBox="1">
            <a:spLocks noGrp="1"/>
          </p:cNvSpPr>
          <p:nvPr>
            <p:ph type="body" idx="1"/>
          </p:nvPr>
        </p:nvSpPr>
        <p:spPr>
          <a:xfrm>
            <a:off x="914400" y="3251200"/>
            <a:ext cx="7315200" cy="3081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3edd4c675fa_3_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447" name="Google Shape;447;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48" name="Google Shape;448;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9" name="Google Shape;449;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a:t>
            </a:r>
            <a:endParaRPr/>
          </a:p>
        </p:txBody>
      </p:sp>
      <p:sp>
        <p:nvSpPr>
          <p:cNvPr id="450" name="Google Shape;450;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51" name="Google Shape;451;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4"/>
          <p:cNvSpPr>
            <a:spLocks noGrp="1"/>
          </p:cNvSpPr>
          <p:nvPr>
            <p:ph type="pic" idx="2"/>
          </p:nvPr>
        </p:nvSpPr>
        <p:spPr>
          <a:xfrm>
            <a:off x="1792288" y="612775"/>
            <a:ext cx="5486400" cy="4114800"/>
          </a:xfrm>
          <a:prstGeom prst="rect">
            <a:avLst/>
          </a:prstGeom>
          <a:noFill/>
          <a:ln>
            <a:noFill/>
          </a:ln>
        </p:spPr>
      </p:sp>
      <p:sp>
        <p:nvSpPr>
          <p:cNvPr id="68" name="Google Shape;68;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91"/>
        <p:cNvGrpSpPr/>
        <p:nvPr/>
      </p:nvGrpSpPr>
      <p:grpSpPr>
        <a:xfrm>
          <a:off x="0" y="0"/>
          <a:ext cx="0" cy="0"/>
          <a:chOff x="0" y="0"/>
          <a:chExt cx="0" cy="0"/>
        </a:xfrm>
      </p:grpSpPr>
      <p:sp>
        <p:nvSpPr>
          <p:cNvPr id="92" name="Google Shape;92;p1"/>
          <p:cNvSpPr/>
          <p:nvPr/>
        </p:nvSpPr>
        <p:spPr>
          <a:xfrm>
            <a:off x="-12697" y="-12697"/>
            <a:ext cx="354615" cy="10312432"/>
          </a:xfrm>
          <a:custGeom>
            <a:avLst/>
            <a:gdLst/>
            <a:ahLst/>
            <a:cxnLst/>
            <a:rect l="l" t="t" r="r" b="b"/>
            <a:pathLst>
              <a:path w="472821" h="13749910" extrusionOk="0">
                <a:moveTo>
                  <a:pt x="0" y="0"/>
                </a:moveTo>
                <a:lnTo>
                  <a:pt x="472821" y="0"/>
                </a:lnTo>
                <a:lnTo>
                  <a:pt x="472821"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93" name="Google Shape;93;p1"/>
          <p:cNvGrpSpPr/>
          <p:nvPr/>
        </p:nvGrpSpPr>
        <p:grpSpPr>
          <a:xfrm>
            <a:off x="914400" y="970121"/>
            <a:ext cx="14264640" cy="675799"/>
            <a:chOff x="0" y="-47625"/>
            <a:chExt cx="19019520" cy="901065"/>
          </a:xfrm>
        </p:grpSpPr>
        <p:sp>
          <p:nvSpPr>
            <p:cNvPr id="94" name="Google Shape;94;p1"/>
            <p:cNvSpPr/>
            <p:nvPr/>
          </p:nvSpPr>
          <p:spPr>
            <a:xfrm>
              <a:off x="0" y="0"/>
              <a:ext cx="19019520" cy="853440"/>
            </a:xfrm>
            <a:custGeom>
              <a:avLst/>
              <a:gdLst/>
              <a:ahLst/>
              <a:cxnLst/>
              <a:rect l="l" t="t" r="r" b="b"/>
              <a:pathLst>
                <a:path w="19019520" h="853440" extrusionOk="0">
                  <a:moveTo>
                    <a:pt x="0" y="0"/>
                  </a:moveTo>
                  <a:lnTo>
                    <a:pt x="19019520" y="0"/>
                  </a:lnTo>
                  <a:lnTo>
                    <a:pt x="19019520" y="853440"/>
                  </a:lnTo>
                  <a:lnTo>
                    <a:pt x="0" y="853440"/>
                  </a:lnTo>
                  <a:close/>
                </a:path>
              </a:pathLst>
            </a:custGeom>
            <a:blipFill rotWithShape="1">
              <a:blip r:embed="rId3">
                <a:alphaModFix amt="0"/>
              </a:blip>
              <a:stretch>
                <a:fillRect t="-384254" b="-384254"/>
              </a:stretch>
            </a:blipFill>
            <a:ln>
              <a:noFill/>
            </a:ln>
          </p:spPr>
          <p:txBody>
            <a:bodyPr/>
            <a:lstStyle/>
            <a:p>
              <a:endParaRPr lang="es-CL"/>
            </a:p>
          </p:txBody>
        </p:sp>
        <p:sp>
          <p:nvSpPr>
            <p:cNvPr id="95" name="Google Shape;95;p1"/>
            <p:cNvSpPr txBox="1"/>
            <p:nvPr/>
          </p:nvSpPr>
          <p:spPr>
            <a:xfrm>
              <a:off x="0" y="-47625"/>
              <a:ext cx="19019520" cy="9010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SISTEMA DE INVENTARIO</a:t>
              </a:r>
              <a:endParaRPr/>
            </a:p>
          </p:txBody>
        </p:sp>
      </p:grpSp>
      <p:grpSp>
        <p:nvGrpSpPr>
          <p:cNvPr id="96" name="Google Shape;96;p1"/>
          <p:cNvGrpSpPr/>
          <p:nvPr/>
        </p:nvGrpSpPr>
        <p:grpSpPr>
          <a:xfrm>
            <a:off x="1028700" y="1844528"/>
            <a:ext cx="14264640" cy="4510564"/>
            <a:chOff x="0" y="-161925"/>
            <a:chExt cx="19019520" cy="6014085"/>
          </a:xfrm>
        </p:grpSpPr>
        <p:sp>
          <p:nvSpPr>
            <p:cNvPr id="97" name="Google Shape;97;p1"/>
            <p:cNvSpPr/>
            <p:nvPr/>
          </p:nvSpPr>
          <p:spPr>
            <a:xfrm>
              <a:off x="0" y="0"/>
              <a:ext cx="19019520" cy="5852160"/>
            </a:xfrm>
            <a:custGeom>
              <a:avLst/>
              <a:gdLst/>
              <a:ahLst/>
              <a:cxnLst/>
              <a:rect l="l" t="t" r="r" b="b"/>
              <a:pathLst>
                <a:path w="19019520" h="5852160" extrusionOk="0">
                  <a:moveTo>
                    <a:pt x="0" y="0"/>
                  </a:moveTo>
                  <a:lnTo>
                    <a:pt x="19019520" y="0"/>
                  </a:lnTo>
                  <a:lnTo>
                    <a:pt x="19019520" y="5852160"/>
                  </a:lnTo>
                  <a:lnTo>
                    <a:pt x="0" y="5852160"/>
                  </a:lnTo>
                  <a:close/>
                </a:path>
              </a:pathLst>
            </a:custGeom>
            <a:blipFill rotWithShape="1">
              <a:blip r:embed="rId3">
                <a:alphaModFix amt="0"/>
              </a:blip>
              <a:stretch>
                <a:fillRect t="-13326" b="-13326"/>
              </a:stretch>
            </a:blipFill>
            <a:ln>
              <a:noFill/>
            </a:ln>
          </p:spPr>
          <p:txBody>
            <a:bodyPr/>
            <a:lstStyle/>
            <a:p>
              <a:endParaRPr lang="es-CL"/>
            </a:p>
          </p:txBody>
        </p:sp>
        <p:sp>
          <p:nvSpPr>
            <p:cNvPr id="98" name="Google Shape;98;p1"/>
            <p:cNvSpPr txBox="1"/>
            <p:nvPr/>
          </p:nvSpPr>
          <p:spPr>
            <a:xfrm>
              <a:off x="0" y="-161925"/>
              <a:ext cx="19019520" cy="601408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PROYECTO INGENIERÍA</a:t>
              </a:r>
              <a:endParaRPr dirty="0"/>
            </a:p>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DE SOFTWARE II</a:t>
              </a:r>
              <a:endParaRPr dirty="0"/>
            </a:p>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INCREMENTO 1 GRUPO 14</a:t>
              </a:r>
              <a:endParaRPr dirty="0"/>
            </a:p>
          </p:txBody>
        </p:sp>
      </p:grpSp>
      <p:sp>
        <p:nvSpPr>
          <p:cNvPr id="99" name="Google Shape;99;p1"/>
          <p:cNvSpPr/>
          <p:nvPr/>
        </p:nvSpPr>
        <p:spPr>
          <a:xfrm>
            <a:off x="901702" y="6075076"/>
            <a:ext cx="11254360" cy="90368"/>
          </a:xfrm>
          <a:custGeom>
            <a:avLst/>
            <a:gdLst/>
            <a:ahLst/>
            <a:cxnLst/>
            <a:rect l="l" t="t" r="r" b="b"/>
            <a:pathLst>
              <a:path w="11006709" h="131445" extrusionOk="0">
                <a:moveTo>
                  <a:pt x="0" y="0"/>
                </a:moveTo>
                <a:lnTo>
                  <a:pt x="11006709" y="0"/>
                </a:lnTo>
                <a:lnTo>
                  <a:pt x="11006709" y="131445"/>
                </a:lnTo>
                <a:lnTo>
                  <a:pt x="0" y="131445"/>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100" name="Google Shape;100;p1"/>
          <p:cNvGrpSpPr/>
          <p:nvPr/>
        </p:nvGrpSpPr>
        <p:grpSpPr>
          <a:xfrm>
            <a:off x="914400" y="6547961"/>
            <a:ext cx="8229600" cy="584359"/>
            <a:chOff x="0" y="-47625"/>
            <a:chExt cx="10972800" cy="779145"/>
          </a:xfrm>
        </p:grpSpPr>
        <p:sp>
          <p:nvSpPr>
            <p:cNvPr id="101" name="Google Shape;101;p1"/>
            <p:cNvSpPr/>
            <p:nvPr/>
          </p:nvSpPr>
          <p:spPr>
            <a:xfrm>
              <a:off x="0" y="0"/>
              <a:ext cx="10972800" cy="731520"/>
            </a:xfrm>
            <a:custGeom>
              <a:avLst/>
              <a:gdLst/>
              <a:ahLst/>
              <a:cxnLst/>
              <a:rect l="l" t="t" r="r" b="b"/>
              <a:pathLst>
                <a:path w="10972800" h="731520" extrusionOk="0">
                  <a:moveTo>
                    <a:pt x="0" y="0"/>
                  </a:moveTo>
                  <a:lnTo>
                    <a:pt x="10972800" y="0"/>
                  </a:lnTo>
                  <a:lnTo>
                    <a:pt x="10972800" y="731520"/>
                  </a:lnTo>
                  <a:lnTo>
                    <a:pt x="0" y="731520"/>
                  </a:lnTo>
                  <a:close/>
                </a:path>
              </a:pathLst>
            </a:custGeom>
            <a:blipFill rotWithShape="1">
              <a:blip r:embed="rId3">
                <a:alphaModFix amt="0"/>
              </a:blip>
              <a:stretch>
                <a:fillRect t="-242261" b="-242261"/>
              </a:stretch>
            </a:blipFill>
            <a:ln>
              <a:noFill/>
            </a:ln>
          </p:spPr>
          <p:txBody>
            <a:bodyPr/>
            <a:lstStyle/>
            <a:p>
              <a:endParaRPr lang="es-CL"/>
            </a:p>
          </p:txBody>
        </p:sp>
        <p:sp>
          <p:nvSpPr>
            <p:cNvPr id="102" name="Google Shape;102;p1"/>
            <p:cNvSpPr txBox="1"/>
            <p:nvPr/>
          </p:nvSpPr>
          <p:spPr>
            <a:xfrm>
              <a:off x="0" y="-47625"/>
              <a:ext cx="10972800" cy="77914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Autores:</a:t>
              </a:r>
              <a:endParaRPr/>
            </a:p>
          </p:txBody>
        </p:sp>
      </p:grpSp>
      <p:grpSp>
        <p:nvGrpSpPr>
          <p:cNvPr id="103" name="Google Shape;103;p1"/>
          <p:cNvGrpSpPr/>
          <p:nvPr/>
        </p:nvGrpSpPr>
        <p:grpSpPr>
          <a:xfrm>
            <a:off x="914400" y="7096601"/>
            <a:ext cx="8229600" cy="2413159"/>
            <a:chOff x="0" y="-47625"/>
            <a:chExt cx="10972800" cy="3217545"/>
          </a:xfrm>
        </p:grpSpPr>
        <p:sp>
          <p:nvSpPr>
            <p:cNvPr id="104" name="Google Shape;104;p1"/>
            <p:cNvSpPr/>
            <p:nvPr/>
          </p:nvSpPr>
          <p:spPr>
            <a:xfrm>
              <a:off x="0" y="0"/>
              <a:ext cx="10972800" cy="3169920"/>
            </a:xfrm>
            <a:custGeom>
              <a:avLst/>
              <a:gdLst/>
              <a:ahLst/>
              <a:cxnLst/>
              <a:rect l="l" t="t" r="r" b="b"/>
              <a:pathLst>
                <a:path w="10972800" h="3169920" extrusionOk="0">
                  <a:moveTo>
                    <a:pt x="0" y="0"/>
                  </a:moveTo>
                  <a:lnTo>
                    <a:pt x="10972800" y="0"/>
                  </a:lnTo>
                  <a:lnTo>
                    <a:pt x="10972800" y="3169920"/>
                  </a:lnTo>
                  <a:lnTo>
                    <a:pt x="0" y="3169920"/>
                  </a:lnTo>
                  <a:close/>
                </a:path>
              </a:pathLst>
            </a:custGeom>
            <a:blipFill rotWithShape="1">
              <a:blip r:embed="rId3">
                <a:alphaModFix amt="0"/>
              </a:blip>
              <a:stretch>
                <a:fillRect t="-17447" b="-17447"/>
              </a:stretch>
            </a:blipFill>
            <a:ln>
              <a:noFill/>
            </a:ln>
          </p:spPr>
          <p:txBody>
            <a:bodyPr/>
            <a:lstStyle/>
            <a:p>
              <a:endParaRPr lang="es-CL"/>
            </a:p>
          </p:txBody>
        </p:sp>
        <p:sp>
          <p:nvSpPr>
            <p:cNvPr id="105" name="Google Shape;105;p1"/>
            <p:cNvSpPr txBox="1"/>
            <p:nvPr/>
          </p:nvSpPr>
          <p:spPr>
            <a:xfrm>
              <a:off x="0" y="-47625"/>
              <a:ext cx="10972800" cy="321754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Sofia Isidora Cariñe Valenzuela</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Jhoe Eduardo Castillo Barrios</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Karla Aylin </a:t>
              </a:r>
              <a:r>
                <a:rPr lang="en-US" sz="2100" b="0" i="0" u="none" strike="noStrike" cap="none" dirty="0" err="1">
                  <a:solidFill>
                    <a:srgbClr val="D1D5DB"/>
                  </a:solidFill>
                  <a:latin typeface="Calibri"/>
                  <a:ea typeface="Calibri"/>
                  <a:cs typeface="Calibri"/>
                  <a:sym typeface="Calibri"/>
                </a:rPr>
                <a:t>Curín</a:t>
              </a:r>
              <a:r>
                <a:rPr lang="en-US" sz="2100" b="0" i="0" u="none" strike="noStrike" cap="none" dirty="0">
                  <a:solidFill>
                    <a:srgbClr val="D1D5DB"/>
                  </a:solidFill>
                  <a:latin typeface="Calibri"/>
                  <a:ea typeface="Calibri"/>
                  <a:cs typeface="Calibri"/>
                  <a:sym typeface="Calibri"/>
                </a:rPr>
                <a:t> Navarro</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Omar Adolfo Olmos Hernández</a:t>
              </a:r>
            </a:p>
            <a:p>
              <a:pPr marL="0" marR="0" lvl="0" indent="0" algn="l" rtl="0">
                <a:lnSpc>
                  <a:spcPct val="120000"/>
                </a:lnSpc>
                <a:spcBef>
                  <a:spcPts val="0"/>
                </a:spcBef>
                <a:spcAft>
                  <a:spcPts val="0"/>
                </a:spcAft>
                <a:buNone/>
              </a:pPr>
              <a:r>
                <a:rPr lang="en-US" sz="2100" dirty="0">
                  <a:solidFill>
                    <a:srgbClr val="D1D5DB"/>
                  </a:solidFill>
                  <a:latin typeface="Calibri"/>
                  <a:ea typeface="Calibri"/>
                  <a:cs typeface="Calibri"/>
                  <a:sym typeface="Calibri"/>
                </a:rPr>
                <a:t>Lenin Andrés Reyes Gómez</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Silvio Alberto Villagra Labbé</a:t>
              </a:r>
              <a:endParaRPr dirty="0"/>
            </a:p>
          </p:txBody>
        </p:sp>
      </p:grpSp>
      <p:grpSp>
        <p:nvGrpSpPr>
          <p:cNvPr id="106" name="Google Shape;106;p1"/>
          <p:cNvGrpSpPr/>
          <p:nvPr/>
        </p:nvGrpSpPr>
        <p:grpSpPr>
          <a:xfrm>
            <a:off x="10058400" y="6547961"/>
            <a:ext cx="7680960" cy="1315879"/>
            <a:chOff x="0" y="-47625"/>
            <a:chExt cx="10241280" cy="1754505"/>
          </a:xfrm>
        </p:grpSpPr>
        <p:sp>
          <p:nvSpPr>
            <p:cNvPr id="107" name="Google Shape;107;p1"/>
            <p:cNvSpPr/>
            <p:nvPr/>
          </p:nvSpPr>
          <p:spPr>
            <a:xfrm>
              <a:off x="0" y="0"/>
              <a:ext cx="10241280" cy="1706880"/>
            </a:xfrm>
            <a:custGeom>
              <a:avLst/>
              <a:gdLst/>
              <a:ahLst/>
              <a:cxnLst/>
              <a:rect l="l" t="t" r="r" b="b"/>
              <a:pathLst>
                <a:path w="10241280" h="1706880" extrusionOk="0">
                  <a:moveTo>
                    <a:pt x="0" y="0"/>
                  </a:moveTo>
                  <a:lnTo>
                    <a:pt x="10241280" y="0"/>
                  </a:lnTo>
                  <a:lnTo>
                    <a:pt x="10241280" y="1706880"/>
                  </a:lnTo>
                  <a:lnTo>
                    <a:pt x="0" y="1706880"/>
                  </a:lnTo>
                  <a:close/>
                </a:path>
              </a:pathLst>
            </a:custGeom>
            <a:blipFill rotWithShape="1">
              <a:blip r:embed="rId3">
                <a:alphaModFix amt="0"/>
              </a:blip>
              <a:stretch>
                <a:fillRect t="-66910" b="-66910"/>
              </a:stretch>
            </a:blipFill>
            <a:ln>
              <a:noFill/>
            </a:ln>
          </p:spPr>
          <p:txBody>
            <a:bodyPr/>
            <a:lstStyle/>
            <a:p>
              <a:endParaRPr lang="es-CL"/>
            </a:p>
          </p:txBody>
        </p:sp>
        <p:sp>
          <p:nvSpPr>
            <p:cNvPr id="108" name="Google Shape;108;p1"/>
            <p:cNvSpPr txBox="1"/>
            <p:nvPr/>
          </p:nvSpPr>
          <p:spPr>
            <a:xfrm>
              <a:off x="0" y="-47625"/>
              <a:ext cx="10241280" cy="175450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dirty="0" err="1">
                  <a:solidFill>
                    <a:srgbClr val="9CA3AF"/>
                  </a:solidFill>
                  <a:latin typeface="Calibri"/>
                  <a:ea typeface="Calibri"/>
                  <a:cs typeface="Calibri"/>
                  <a:sym typeface="Calibri"/>
                </a:rPr>
                <a:t>Facultad</a:t>
              </a:r>
              <a:r>
                <a:rPr lang="en-US" sz="2200" b="0" i="0" u="none" strike="noStrike" cap="none" dirty="0">
                  <a:solidFill>
                    <a:srgbClr val="9CA3AF"/>
                  </a:solidFill>
                  <a:latin typeface="Calibri"/>
                  <a:ea typeface="Calibri"/>
                  <a:cs typeface="Calibri"/>
                  <a:sym typeface="Calibri"/>
                </a:rPr>
                <a:t> de Ingeniería</a:t>
              </a:r>
              <a:endParaRPr dirty="0"/>
            </a:p>
            <a:p>
              <a:pPr marL="0" marR="0" lvl="0" indent="0" algn="l" rtl="0">
                <a:lnSpc>
                  <a:spcPct val="120000"/>
                </a:lnSpc>
                <a:spcBef>
                  <a:spcPts val="0"/>
                </a:spcBef>
                <a:spcAft>
                  <a:spcPts val="0"/>
                </a:spcAft>
                <a:buNone/>
              </a:pPr>
              <a:r>
                <a:rPr lang="en-US" sz="2200" b="0" i="0" u="none" strike="noStrike" cap="none" dirty="0">
                  <a:solidFill>
                    <a:srgbClr val="9CA3AF"/>
                  </a:solidFill>
                  <a:latin typeface="Calibri"/>
                  <a:ea typeface="Calibri"/>
                  <a:cs typeface="Calibri"/>
                  <a:sym typeface="Calibri"/>
                </a:rPr>
                <a:t>Ingeniería de Software II</a:t>
              </a:r>
              <a:endParaRPr dirty="0"/>
            </a:p>
          </p:txBody>
        </p:sp>
      </p:grpSp>
      <p:grpSp>
        <p:nvGrpSpPr>
          <p:cNvPr id="109" name="Google Shape;109;p1"/>
          <p:cNvGrpSpPr/>
          <p:nvPr/>
        </p:nvGrpSpPr>
        <p:grpSpPr>
          <a:xfrm>
            <a:off x="10058400" y="7919561"/>
            <a:ext cx="7680960" cy="675799"/>
            <a:chOff x="0" y="-47625"/>
            <a:chExt cx="10241280" cy="901065"/>
          </a:xfrm>
        </p:grpSpPr>
        <p:sp>
          <p:nvSpPr>
            <p:cNvPr id="110" name="Google Shape;110;p1"/>
            <p:cNvSpPr/>
            <p:nvPr/>
          </p:nvSpPr>
          <p:spPr>
            <a:xfrm>
              <a:off x="0" y="0"/>
              <a:ext cx="10241280" cy="853440"/>
            </a:xfrm>
            <a:custGeom>
              <a:avLst/>
              <a:gdLst/>
              <a:ahLst/>
              <a:cxnLst/>
              <a:rect l="l" t="t" r="r" b="b"/>
              <a:pathLst>
                <a:path w="10241280" h="853440" extrusionOk="0">
                  <a:moveTo>
                    <a:pt x="0" y="0"/>
                  </a:moveTo>
                  <a:lnTo>
                    <a:pt x="10241280" y="0"/>
                  </a:lnTo>
                  <a:lnTo>
                    <a:pt x="10241280" y="853440"/>
                  </a:lnTo>
                  <a:lnTo>
                    <a:pt x="0" y="853440"/>
                  </a:lnTo>
                  <a:close/>
                </a:path>
              </a:pathLst>
            </a:custGeom>
            <a:blipFill rotWithShape="1">
              <a:blip r:embed="rId3">
                <a:alphaModFix amt="0"/>
              </a:blip>
              <a:stretch>
                <a:fillRect t="-183820" b="-183820"/>
              </a:stretch>
            </a:blipFill>
            <a:ln>
              <a:noFill/>
            </a:ln>
          </p:spPr>
          <p:txBody>
            <a:bodyPr/>
            <a:lstStyle/>
            <a:p>
              <a:endParaRPr lang="es-CL"/>
            </a:p>
          </p:txBody>
        </p:sp>
        <p:sp>
          <p:nvSpPr>
            <p:cNvPr id="111" name="Google Shape;111;p1"/>
            <p:cNvSpPr txBox="1"/>
            <p:nvPr/>
          </p:nvSpPr>
          <p:spPr>
            <a:xfrm>
              <a:off x="0" y="-47625"/>
              <a:ext cx="10241280" cy="9010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Profesor: </a:t>
              </a:r>
              <a:r>
                <a:rPr lang="en-US" sz="2200" b="0" i="0" u="none" strike="noStrike" cap="none">
                  <a:solidFill>
                    <a:srgbClr val="D1D5DB"/>
                  </a:solidFill>
                  <a:latin typeface="Calibri"/>
                  <a:ea typeface="Calibri"/>
                  <a:cs typeface="Calibri"/>
                  <a:sym typeface="Calibri"/>
                </a:rPr>
                <a:t>Paulo Quinsacara Jofré</a:t>
              </a:r>
              <a:endParaRPr/>
            </a:p>
          </p:txBody>
        </p:sp>
      </p:grpSp>
      <p:grpSp>
        <p:nvGrpSpPr>
          <p:cNvPr id="112" name="Google Shape;112;p1"/>
          <p:cNvGrpSpPr/>
          <p:nvPr/>
        </p:nvGrpSpPr>
        <p:grpSpPr>
          <a:xfrm>
            <a:off x="10058400" y="8658225"/>
            <a:ext cx="7680960" cy="577215"/>
            <a:chOff x="0" y="-38100"/>
            <a:chExt cx="10241280" cy="769620"/>
          </a:xfrm>
        </p:grpSpPr>
        <p:sp>
          <p:nvSpPr>
            <p:cNvPr id="113" name="Google Shape;113;p1"/>
            <p:cNvSpPr/>
            <p:nvPr/>
          </p:nvSpPr>
          <p:spPr>
            <a:xfrm>
              <a:off x="0" y="0"/>
              <a:ext cx="10241280" cy="731520"/>
            </a:xfrm>
            <a:custGeom>
              <a:avLst/>
              <a:gdLst/>
              <a:ahLst/>
              <a:cxnLst/>
              <a:rect l="l" t="t" r="r" b="b"/>
              <a:pathLst>
                <a:path w="10241280" h="731520" extrusionOk="0">
                  <a:moveTo>
                    <a:pt x="0" y="0"/>
                  </a:moveTo>
                  <a:lnTo>
                    <a:pt x="10241280" y="0"/>
                  </a:lnTo>
                  <a:lnTo>
                    <a:pt x="10241280" y="731520"/>
                  </a:lnTo>
                  <a:lnTo>
                    <a:pt x="0" y="731520"/>
                  </a:lnTo>
                  <a:close/>
                </a:path>
              </a:pathLst>
            </a:custGeom>
            <a:blipFill rotWithShape="1">
              <a:blip r:embed="rId3">
                <a:alphaModFix amt="0"/>
              </a:blip>
              <a:stretch>
                <a:fillRect t="-222777" b="-222777"/>
              </a:stretch>
            </a:blipFill>
            <a:ln>
              <a:noFill/>
            </a:ln>
          </p:spPr>
          <p:txBody>
            <a:bodyPr/>
            <a:lstStyle/>
            <a:p>
              <a:endParaRPr lang="es-CL"/>
            </a:p>
          </p:txBody>
        </p:sp>
        <p:sp>
          <p:nvSpPr>
            <p:cNvPr id="114" name="Google Shape;114;p1"/>
            <p:cNvSpPr txBox="1"/>
            <p:nvPr/>
          </p:nvSpPr>
          <p:spPr>
            <a:xfrm>
              <a:off x="0" y="-38100"/>
              <a:ext cx="10241280" cy="7696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9CA3AF"/>
                  </a:solidFill>
                  <a:latin typeface="Calibri"/>
                  <a:ea typeface="Calibri"/>
                  <a:cs typeface="Calibri"/>
                  <a:sym typeface="Calibri"/>
                </a:rPr>
                <a:t>Santiago, Chile · 2026</a:t>
              </a:r>
              <a:endParaRPr/>
            </a:p>
          </p:txBody>
        </p:sp>
      </p:grpSp>
      <p:grpSp>
        <p:nvGrpSpPr>
          <p:cNvPr id="115" name="Google Shape;115;p1"/>
          <p:cNvGrpSpPr/>
          <p:nvPr/>
        </p:nvGrpSpPr>
        <p:grpSpPr>
          <a:xfrm>
            <a:off x="927106" y="1522762"/>
            <a:ext cx="4102098" cy="669557"/>
            <a:chOff x="0" y="-66675"/>
            <a:chExt cx="5469465" cy="892743"/>
          </a:xfrm>
        </p:grpSpPr>
        <p:sp>
          <p:nvSpPr>
            <p:cNvPr id="116" name="Google Shape;116;p1"/>
            <p:cNvSpPr/>
            <p:nvPr/>
          </p:nvSpPr>
          <p:spPr>
            <a:xfrm>
              <a:off x="0" y="0"/>
              <a:ext cx="5469465" cy="826068"/>
            </a:xfrm>
            <a:custGeom>
              <a:avLst/>
              <a:gdLst/>
              <a:ahLst/>
              <a:cxnLst/>
              <a:rect l="l" t="t" r="r" b="b"/>
              <a:pathLst>
                <a:path w="5469465" h="826068" extrusionOk="0">
                  <a:moveTo>
                    <a:pt x="0" y="0"/>
                  </a:moveTo>
                  <a:lnTo>
                    <a:pt x="5469465" y="0"/>
                  </a:lnTo>
                  <a:lnTo>
                    <a:pt x="5469465" y="826068"/>
                  </a:lnTo>
                  <a:lnTo>
                    <a:pt x="0" y="826068"/>
                  </a:lnTo>
                  <a:close/>
                </a:path>
              </a:pathLst>
            </a:custGeom>
            <a:blipFill rotWithShape="1">
              <a:blip r:embed="rId3">
                <a:alphaModFix amt="0"/>
              </a:blip>
              <a:stretch>
                <a:fillRect t="-487830" r="-310156" b="-470484"/>
              </a:stretch>
            </a:blipFill>
            <a:ln>
              <a:noFill/>
            </a:ln>
          </p:spPr>
          <p:txBody>
            <a:bodyPr/>
            <a:lstStyle/>
            <a:p>
              <a:endParaRPr lang="es-CL"/>
            </a:p>
          </p:txBody>
        </p:sp>
        <p:sp>
          <p:nvSpPr>
            <p:cNvPr id="117" name="Google Shape;117;p1"/>
            <p:cNvSpPr txBox="1"/>
            <p:nvPr/>
          </p:nvSpPr>
          <p:spPr>
            <a:xfrm>
              <a:off x="0" y="-66675"/>
              <a:ext cx="5469465" cy="892743"/>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3099" b="0" i="0" u="none" strike="noStrike" cap="none">
                  <a:solidFill>
                    <a:srgbClr val="9CA3AF"/>
                  </a:solidFill>
                  <a:latin typeface="Calibri"/>
                  <a:ea typeface="Calibri"/>
                  <a:cs typeface="Calibri"/>
                  <a:sym typeface="Calibri"/>
                </a:rPr>
                <a:t>Universidad Andrés Bello</a:t>
              </a:r>
              <a:endParaRPr/>
            </a:p>
          </p:txBody>
        </p:sp>
      </p:grpSp>
      <p:sp>
        <p:nvSpPr>
          <p:cNvPr id="118" name="Google Shape;118;p1"/>
          <p:cNvSpPr/>
          <p:nvPr/>
        </p:nvSpPr>
        <p:spPr>
          <a:xfrm>
            <a:off x="15760065" y="91428"/>
            <a:ext cx="2228285" cy="1874544"/>
          </a:xfrm>
          <a:custGeom>
            <a:avLst/>
            <a:gdLst/>
            <a:ahLst/>
            <a:cxnLst/>
            <a:rect l="l" t="t" r="r" b="b"/>
            <a:pathLst>
              <a:path w="2228285" h="1874544" extrusionOk="0">
                <a:moveTo>
                  <a:pt x="0" y="0"/>
                </a:moveTo>
                <a:lnTo>
                  <a:pt x="2228285" y="0"/>
                </a:lnTo>
                <a:lnTo>
                  <a:pt x="2228285" y="1874544"/>
                </a:lnTo>
                <a:lnTo>
                  <a:pt x="0" y="1874544"/>
                </a:lnTo>
                <a:lnTo>
                  <a:pt x="0" y="0"/>
                </a:lnTo>
                <a:close/>
              </a:path>
            </a:pathLst>
          </a:custGeom>
          <a:blipFill rotWithShape="1">
            <a:blip r:embed="rId4">
              <a:alphaModFix/>
            </a:blip>
            <a:stretch>
              <a:fillRect/>
            </a:stretch>
          </a:blipFill>
          <a:ln>
            <a:noFill/>
          </a:ln>
        </p:spPr>
        <p:txBody>
          <a:bodyPr/>
          <a:lstStyle/>
          <a:p>
            <a:endParaRPr lang="es-C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126"/>
        <p:cNvGrpSpPr/>
        <p:nvPr/>
      </p:nvGrpSpPr>
      <p:grpSpPr>
        <a:xfrm>
          <a:off x="0" y="0"/>
          <a:ext cx="0" cy="0"/>
          <a:chOff x="0" y="0"/>
          <a:chExt cx="0" cy="0"/>
        </a:xfrm>
      </p:grpSpPr>
      <p:sp>
        <p:nvSpPr>
          <p:cNvPr id="127" name="Google Shape;127;p2"/>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128" name="Google Shape;128;p2"/>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129" name="Google Shape;129;p2"/>
          <p:cNvGrpSpPr/>
          <p:nvPr/>
        </p:nvGrpSpPr>
        <p:grpSpPr>
          <a:xfrm>
            <a:off x="640080" y="162306"/>
            <a:ext cx="17007840" cy="1062990"/>
            <a:chOff x="0" y="-76200"/>
            <a:chExt cx="22677120" cy="1417320"/>
          </a:xfrm>
        </p:grpSpPr>
        <p:sp>
          <p:nvSpPr>
            <p:cNvPr id="130" name="Google Shape;130;p2"/>
            <p:cNvSpPr/>
            <p:nvPr/>
          </p:nvSpPr>
          <p:spPr>
            <a:xfrm>
              <a:off x="0" y="0"/>
              <a:ext cx="22677120" cy="1341120"/>
            </a:xfrm>
            <a:custGeom>
              <a:avLst/>
              <a:gdLst/>
              <a:ahLst/>
              <a:cxnLst/>
              <a:rect l="l" t="t" r="r" b="b"/>
              <a:pathLst>
                <a:path w="22677120" h="1341120" extrusionOk="0">
                  <a:moveTo>
                    <a:pt x="0" y="0"/>
                  </a:moveTo>
                  <a:lnTo>
                    <a:pt x="22677120" y="0"/>
                  </a:lnTo>
                  <a:lnTo>
                    <a:pt x="22677120" y="1341120"/>
                  </a:lnTo>
                  <a:lnTo>
                    <a:pt x="0" y="1341120"/>
                  </a:lnTo>
                  <a:close/>
                </a:path>
              </a:pathLst>
            </a:custGeom>
            <a:blipFill rotWithShape="1">
              <a:blip r:embed="rId3">
                <a:alphaModFix amt="0"/>
              </a:blip>
              <a:stretch>
                <a:fillRect t="-279467" b="-279467"/>
              </a:stretch>
            </a:blipFill>
            <a:ln>
              <a:noFill/>
            </a:ln>
          </p:spPr>
          <p:txBody>
            <a:bodyPr/>
            <a:lstStyle/>
            <a:p>
              <a:endParaRPr lang="es-CL"/>
            </a:p>
          </p:txBody>
        </p:sp>
        <p:sp>
          <p:nvSpPr>
            <p:cNvPr id="131" name="Google Shape;131;p2"/>
            <p:cNvSpPr txBox="1"/>
            <p:nvPr/>
          </p:nvSpPr>
          <p:spPr>
            <a:xfrm>
              <a:off x="0" y="-76200"/>
              <a:ext cx="22677120"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Incremento 1</a:t>
              </a:r>
              <a:endParaRPr/>
            </a:p>
          </p:txBody>
        </p:sp>
      </p:grpSp>
      <p:grpSp>
        <p:nvGrpSpPr>
          <p:cNvPr id="132" name="Google Shape;132;p2"/>
          <p:cNvGrpSpPr/>
          <p:nvPr/>
        </p:nvGrpSpPr>
        <p:grpSpPr>
          <a:xfrm>
            <a:off x="640080" y="9755505"/>
            <a:ext cx="17007840" cy="430911"/>
            <a:chOff x="0" y="-38100"/>
            <a:chExt cx="22677120" cy="574548"/>
          </a:xfrm>
        </p:grpSpPr>
        <p:sp>
          <p:nvSpPr>
            <p:cNvPr id="133" name="Google Shape;133;p2"/>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134" name="Google Shape;134;p2"/>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pSp>
        <p:nvGrpSpPr>
          <p:cNvPr id="135" name="Google Shape;135;p2"/>
          <p:cNvGrpSpPr/>
          <p:nvPr/>
        </p:nvGrpSpPr>
        <p:grpSpPr>
          <a:xfrm>
            <a:off x="640080" y="1397889"/>
            <a:ext cx="17007840" cy="1125855"/>
            <a:chOff x="0" y="-38100"/>
            <a:chExt cx="22677120" cy="1501140"/>
          </a:xfrm>
        </p:grpSpPr>
        <p:sp>
          <p:nvSpPr>
            <p:cNvPr id="136" name="Google Shape;136;p2"/>
            <p:cNvSpPr/>
            <p:nvPr/>
          </p:nvSpPr>
          <p:spPr>
            <a:xfrm>
              <a:off x="0" y="0"/>
              <a:ext cx="22677120" cy="1463040"/>
            </a:xfrm>
            <a:custGeom>
              <a:avLst/>
              <a:gdLst/>
              <a:ahLst/>
              <a:cxnLst/>
              <a:rect l="l" t="t" r="r" b="b"/>
              <a:pathLst>
                <a:path w="22677120" h="1463040" extrusionOk="0">
                  <a:moveTo>
                    <a:pt x="0" y="0"/>
                  </a:moveTo>
                  <a:lnTo>
                    <a:pt x="22677120" y="0"/>
                  </a:lnTo>
                  <a:lnTo>
                    <a:pt x="22677120" y="1463040"/>
                  </a:lnTo>
                  <a:lnTo>
                    <a:pt x="0" y="1463040"/>
                  </a:lnTo>
                  <a:close/>
                </a:path>
              </a:pathLst>
            </a:custGeom>
            <a:blipFill rotWithShape="1">
              <a:blip r:embed="rId3">
                <a:alphaModFix amt="0"/>
              </a:blip>
              <a:stretch>
                <a:fillRect t="-252005" b="-252005"/>
              </a:stretch>
            </a:blipFill>
            <a:ln>
              <a:noFill/>
            </a:ln>
          </p:spPr>
          <p:txBody>
            <a:bodyPr/>
            <a:lstStyle/>
            <a:p>
              <a:endParaRPr lang="es-CL"/>
            </a:p>
          </p:txBody>
        </p:sp>
        <p:sp>
          <p:nvSpPr>
            <p:cNvPr id="137" name="Google Shape;137;p2"/>
            <p:cNvSpPr txBox="1"/>
            <p:nvPr/>
          </p:nvSpPr>
          <p:spPr>
            <a:xfrm>
              <a:off x="0" y="-38100"/>
              <a:ext cx="22677120" cy="150114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0" i="0" u="none" strike="noStrike" cap="none">
                  <a:solidFill>
                    <a:srgbClr val="D1D5DB"/>
                  </a:solidFill>
                  <a:latin typeface="Calibri"/>
                  <a:ea typeface="Calibri"/>
                  <a:cs typeface="Calibri"/>
                  <a:sym typeface="Calibri"/>
                </a:rPr>
                <a:t>Los requerimientos funcionales del sistema fueron levantados a partir de entrevistas con el usuario , enfocadas en sus necesidades respecto al sistema de gestión de inventario.</a:t>
              </a:r>
              <a:endParaRPr/>
            </a:p>
          </p:txBody>
        </p:sp>
      </p:grpSp>
      <p:sp>
        <p:nvSpPr>
          <p:cNvPr id="138" name="Google Shape;138;p2"/>
          <p:cNvSpPr/>
          <p:nvPr/>
        </p:nvSpPr>
        <p:spPr>
          <a:xfrm>
            <a:off x="621030" y="2632710"/>
            <a:ext cx="5250180" cy="2781300"/>
          </a:xfrm>
          <a:custGeom>
            <a:avLst/>
            <a:gdLst/>
            <a:ahLst/>
            <a:cxnLst/>
            <a:rect l="l" t="t" r="r" b="b"/>
            <a:pathLst>
              <a:path w="7000240" h="3708400" extrusionOk="0">
                <a:moveTo>
                  <a:pt x="0" y="0"/>
                </a:moveTo>
                <a:lnTo>
                  <a:pt x="7000240" y="0"/>
                </a:lnTo>
                <a:lnTo>
                  <a:pt x="7000240" y="3708400"/>
                </a:lnTo>
                <a:lnTo>
                  <a:pt x="0" y="3708400"/>
                </a:lnTo>
                <a:close/>
              </a:path>
            </a:pathLst>
          </a:custGeom>
          <a:solidFill>
            <a:srgbClr val="2E2E2E"/>
          </a:solidFill>
          <a:ln w="38100" cap="sq" cmpd="sng">
            <a:solidFill>
              <a:srgbClr val="F47920"/>
            </a:solidFill>
            <a:prstDash val="solid"/>
            <a:miter lim="8000"/>
            <a:headEnd type="none" w="sm" len="sm"/>
            <a:tailEnd type="none" w="sm" len="sm"/>
          </a:ln>
        </p:spPr>
        <p:txBody>
          <a:bodyPr/>
          <a:lstStyle/>
          <a:p>
            <a:endParaRPr lang="es-CL"/>
          </a:p>
        </p:txBody>
      </p:sp>
      <p:grpSp>
        <p:nvGrpSpPr>
          <p:cNvPr id="139" name="Google Shape;139;p2"/>
          <p:cNvGrpSpPr/>
          <p:nvPr/>
        </p:nvGrpSpPr>
        <p:grpSpPr>
          <a:xfrm>
            <a:off x="822960" y="2741771"/>
            <a:ext cx="4846320" cy="1601629"/>
            <a:chOff x="0" y="-123825"/>
            <a:chExt cx="6461760" cy="2135505"/>
          </a:xfrm>
        </p:grpSpPr>
        <p:sp>
          <p:nvSpPr>
            <p:cNvPr id="140" name="Google Shape;140;p2"/>
            <p:cNvSpPr/>
            <p:nvPr/>
          </p:nvSpPr>
          <p:spPr>
            <a:xfrm>
              <a:off x="0" y="0"/>
              <a:ext cx="6461760" cy="2011680"/>
            </a:xfrm>
            <a:custGeom>
              <a:avLst/>
              <a:gdLst/>
              <a:ahLst/>
              <a:cxnLst/>
              <a:rect l="l" t="t" r="r" b="b"/>
              <a:pathLst>
                <a:path w="6461760" h="2011680" extrusionOk="0">
                  <a:moveTo>
                    <a:pt x="0" y="0"/>
                  </a:moveTo>
                  <a:lnTo>
                    <a:pt x="6461760" y="0"/>
                  </a:lnTo>
                  <a:lnTo>
                    <a:pt x="6461760" y="2011680"/>
                  </a:lnTo>
                  <a:lnTo>
                    <a:pt x="0" y="2011680"/>
                  </a:lnTo>
                  <a:close/>
                </a:path>
              </a:pathLst>
            </a:custGeom>
            <a:blipFill rotWithShape="1">
              <a:blip r:embed="rId3">
                <a:alphaModFix amt="0"/>
              </a:blip>
              <a:stretch>
                <a:fillRect t="-12588" b="-12588"/>
              </a:stretch>
            </a:blipFill>
            <a:ln>
              <a:noFill/>
            </a:ln>
          </p:spPr>
          <p:txBody>
            <a:bodyPr/>
            <a:lstStyle/>
            <a:p>
              <a:endParaRPr lang="es-CL"/>
            </a:p>
          </p:txBody>
        </p:sp>
        <p:sp>
          <p:nvSpPr>
            <p:cNvPr id="141" name="Google Shape;141;p2"/>
            <p:cNvSpPr txBox="1"/>
            <p:nvPr/>
          </p:nvSpPr>
          <p:spPr>
            <a:xfrm>
              <a:off x="0" y="-123825"/>
              <a:ext cx="6461760" cy="2135505"/>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F47920"/>
                  </a:solidFill>
                  <a:latin typeface="Calibri"/>
                  <a:ea typeface="Calibri"/>
                  <a:cs typeface="Calibri"/>
                  <a:sym typeface="Calibri"/>
                </a:rPr>
                <a:t>83</a:t>
              </a:r>
              <a:endParaRPr/>
            </a:p>
          </p:txBody>
        </p:sp>
      </p:grpSp>
      <p:sp>
        <p:nvSpPr>
          <p:cNvPr id="142" name="Google Shape;142;p2"/>
          <p:cNvSpPr txBox="1"/>
          <p:nvPr/>
        </p:nvSpPr>
        <p:spPr>
          <a:xfrm>
            <a:off x="822960" y="4250055"/>
            <a:ext cx="4846320" cy="10900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Requerimientos</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Funcionales totales</a:t>
            </a:r>
            <a:endParaRPr/>
          </a:p>
        </p:txBody>
      </p:sp>
      <p:sp>
        <p:nvSpPr>
          <p:cNvPr id="143" name="Google Shape;143;p2"/>
          <p:cNvSpPr/>
          <p:nvPr/>
        </p:nvSpPr>
        <p:spPr>
          <a:xfrm>
            <a:off x="6198870" y="2632710"/>
            <a:ext cx="5250180" cy="2781300"/>
          </a:xfrm>
          <a:custGeom>
            <a:avLst/>
            <a:gdLst/>
            <a:ahLst/>
            <a:cxnLst/>
            <a:rect l="l" t="t" r="r" b="b"/>
            <a:pathLst>
              <a:path w="7000240" h="3708400" extrusionOk="0">
                <a:moveTo>
                  <a:pt x="0" y="0"/>
                </a:moveTo>
                <a:lnTo>
                  <a:pt x="7000240" y="0"/>
                </a:lnTo>
                <a:lnTo>
                  <a:pt x="7000240" y="3708400"/>
                </a:lnTo>
                <a:lnTo>
                  <a:pt x="0" y="3708400"/>
                </a:lnTo>
                <a:close/>
              </a:path>
            </a:pathLst>
          </a:custGeom>
          <a:solidFill>
            <a:srgbClr val="2E2E2E"/>
          </a:solidFill>
          <a:ln w="38100" cap="sq" cmpd="sng">
            <a:solidFill>
              <a:srgbClr val="FF9A45"/>
            </a:solidFill>
            <a:prstDash val="solid"/>
            <a:miter lim="8000"/>
            <a:headEnd type="none" w="sm" len="sm"/>
            <a:tailEnd type="none" w="sm" len="sm"/>
          </a:ln>
        </p:spPr>
        <p:txBody>
          <a:bodyPr/>
          <a:lstStyle/>
          <a:p>
            <a:endParaRPr lang="es-CL"/>
          </a:p>
        </p:txBody>
      </p:sp>
      <p:grpSp>
        <p:nvGrpSpPr>
          <p:cNvPr id="144" name="Google Shape;144;p2"/>
          <p:cNvGrpSpPr/>
          <p:nvPr/>
        </p:nvGrpSpPr>
        <p:grpSpPr>
          <a:xfrm>
            <a:off x="6400800" y="2741771"/>
            <a:ext cx="4846320" cy="1601629"/>
            <a:chOff x="0" y="-123825"/>
            <a:chExt cx="6461760" cy="2135505"/>
          </a:xfrm>
        </p:grpSpPr>
        <p:sp>
          <p:nvSpPr>
            <p:cNvPr id="145" name="Google Shape;145;p2"/>
            <p:cNvSpPr/>
            <p:nvPr/>
          </p:nvSpPr>
          <p:spPr>
            <a:xfrm>
              <a:off x="0" y="0"/>
              <a:ext cx="6461760" cy="2011680"/>
            </a:xfrm>
            <a:custGeom>
              <a:avLst/>
              <a:gdLst/>
              <a:ahLst/>
              <a:cxnLst/>
              <a:rect l="l" t="t" r="r" b="b"/>
              <a:pathLst>
                <a:path w="6461760" h="2011680" extrusionOk="0">
                  <a:moveTo>
                    <a:pt x="0" y="0"/>
                  </a:moveTo>
                  <a:lnTo>
                    <a:pt x="6461760" y="0"/>
                  </a:lnTo>
                  <a:lnTo>
                    <a:pt x="6461760" y="2011680"/>
                  </a:lnTo>
                  <a:lnTo>
                    <a:pt x="0" y="2011680"/>
                  </a:lnTo>
                  <a:close/>
                </a:path>
              </a:pathLst>
            </a:custGeom>
            <a:blipFill rotWithShape="1">
              <a:blip r:embed="rId3">
                <a:alphaModFix amt="0"/>
              </a:blip>
              <a:stretch>
                <a:fillRect t="-12588" b="-12588"/>
              </a:stretch>
            </a:blipFill>
            <a:ln>
              <a:noFill/>
            </a:ln>
          </p:spPr>
          <p:txBody>
            <a:bodyPr/>
            <a:lstStyle/>
            <a:p>
              <a:endParaRPr lang="es-CL"/>
            </a:p>
          </p:txBody>
        </p:sp>
        <p:sp>
          <p:nvSpPr>
            <p:cNvPr id="146" name="Google Shape;146;p2"/>
            <p:cNvSpPr txBox="1"/>
            <p:nvPr/>
          </p:nvSpPr>
          <p:spPr>
            <a:xfrm>
              <a:off x="0" y="-123825"/>
              <a:ext cx="6461760" cy="2135505"/>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FF9A45"/>
                  </a:solidFill>
                  <a:latin typeface="Calibri"/>
                  <a:ea typeface="Calibri"/>
                  <a:cs typeface="Calibri"/>
                  <a:sym typeface="Calibri"/>
                </a:rPr>
                <a:t>28</a:t>
              </a:r>
              <a:endParaRPr/>
            </a:p>
          </p:txBody>
        </p:sp>
      </p:grpSp>
      <p:sp>
        <p:nvSpPr>
          <p:cNvPr id="147" name="Google Shape;147;p2"/>
          <p:cNvSpPr txBox="1"/>
          <p:nvPr/>
        </p:nvSpPr>
        <p:spPr>
          <a:xfrm>
            <a:off x="6400800" y="4250055"/>
            <a:ext cx="4846320" cy="10900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RF contemplados</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en Incremento 1</a:t>
            </a:r>
            <a:endParaRPr/>
          </a:p>
        </p:txBody>
      </p:sp>
      <p:sp>
        <p:nvSpPr>
          <p:cNvPr id="148" name="Google Shape;148;p2"/>
          <p:cNvSpPr/>
          <p:nvPr/>
        </p:nvSpPr>
        <p:spPr>
          <a:xfrm>
            <a:off x="11776710" y="2632710"/>
            <a:ext cx="5890260" cy="2781300"/>
          </a:xfrm>
          <a:custGeom>
            <a:avLst/>
            <a:gdLst/>
            <a:ahLst/>
            <a:cxnLst/>
            <a:rect l="l" t="t" r="r" b="b"/>
            <a:pathLst>
              <a:path w="7853680" h="3708400" extrusionOk="0">
                <a:moveTo>
                  <a:pt x="0" y="0"/>
                </a:moveTo>
                <a:lnTo>
                  <a:pt x="7853680" y="0"/>
                </a:lnTo>
                <a:lnTo>
                  <a:pt x="7853680" y="3708400"/>
                </a:lnTo>
                <a:lnTo>
                  <a:pt x="0" y="3708400"/>
                </a:lnTo>
                <a:close/>
              </a:path>
            </a:pathLst>
          </a:custGeom>
          <a:solidFill>
            <a:srgbClr val="2E2E2E"/>
          </a:solidFill>
          <a:ln w="38100" cap="sq" cmpd="sng">
            <a:solidFill>
              <a:srgbClr val="F47920"/>
            </a:solidFill>
            <a:prstDash val="solid"/>
            <a:miter lim="8000"/>
            <a:headEnd type="none" w="sm" len="sm"/>
            <a:tailEnd type="none" w="sm" len="sm"/>
          </a:ln>
        </p:spPr>
        <p:txBody>
          <a:bodyPr/>
          <a:lstStyle/>
          <a:p>
            <a:endParaRPr lang="es-CL"/>
          </a:p>
        </p:txBody>
      </p:sp>
      <p:grpSp>
        <p:nvGrpSpPr>
          <p:cNvPr id="149" name="Google Shape;149;p2"/>
          <p:cNvGrpSpPr/>
          <p:nvPr/>
        </p:nvGrpSpPr>
        <p:grpSpPr>
          <a:xfrm>
            <a:off x="11978640" y="2741771"/>
            <a:ext cx="5486400" cy="1601629"/>
            <a:chOff x="0" y="-123825"/>
            <a:chExt cx="7315200" cy="2135505"/>
          </a:xfrm>
        </p:grpSpPr>
        <p:sp>
          <p:nvSpPr>
            <p:cNvPr id="150" name="Google Shape;150;p2"/>
            <p:cNvSpPr/>
            <p:nvPr/>
          </p:nvSpPr>
          <p:spPr>
            <a:xfrm>
              <a:off x="0" y="0"/>
              <a:ext cx="7315200" cy="2011680"/>
            </a:xfrm>
            <a:custGeom>
              <a:avLst/>
              <a:gdLst/>
              <a:ahLst/>
              <a:cxnLst/>
              <a:rect l="l" t="t" r="r" b="b"/>
              <a:pathLst>
                <a:path w="7315200" h="2011680" extrusionOk="0">
                  <a:moveTo>
                    <a:pt x="0" y="0"/>
                  </a:moveTo>
                  <a:lnTo>
                    <a:pt x="7315200" y="0"/>
                  </a:lnTo>
                  <a:lnTo>
                    <a:pt x="7315200" y="2011680"/>
                  </a:lnTo>
                  <a:lnTo>
                    <a:pt x="0" y="2011680"/>
                  </a:lnTo>
                  <a:close/>
                </a:path>
              </a:pathLst>
            </a:custGeom>
            <a:blipFill rotWithShape="1">
              <a:blip r:embed="rId3">
                <a:alphaModFix amt="0"/>
              </a:blip>
              <a:stretch>
                <a:fillRect t="-20854" b="-20854"/>
              </a:stretch>
            </a:blipFill>
            <a:ln>
              <a:noFill/>
            </a:ln>
          </p:spPr>
          <p:txBody>
            <a:bodyPr/>
            <a:lstStyle/>
            <a:p>
              <a:endParaRPr lang="es-CL"/>
            </a:p>
          </p:txBody>
        </p:sp>
        <p:sp>
          <p:nvSpPr>
            <p:cNvPr id="151" name="Google Shape;151;p2"/>
            <p:cNvSpPr txBox="1"/>
            <p:nvPr/>
          </p:nvSpPr>
          <p:spPr>
            <a:xfrm>
              <a:off x="0" y="-123825"/>
              <a:ext cx="7315200" cy="2135505"/>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F47920"/>
                  </a:solidFill>
                  <a:latin typeface="Calibri"/>
                  <a:ea typeface="Calibri"/>
                  <a:cs typeface="Calibri"/>
                  <a:sym typeface="Calibri"/>
                </a:rPr>
                <a:t>33,73%</a:t>
              </a:r>
              <a:endParaRPr/>
            </a:p>
          </p:txBody>
        </p:sp>
      </p:grpSp>
      <p:sp>
        <p:nvSpPr>
          <p:cNvPr id="152" name="Google Shape;152;p2"/>
          <p:cNvSpPr txBox="1"/>
          <p:nvPr/>
        </p:nvSpPr>
        <p:spPr>
          <a:xfrm>
            <a:off x="11978640" y="4250055"/>
            <a:ext cx="5486400" cy="10900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Del total de RF</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cubiertos en Inc. 1</a:t>
            </a:r>
            <a:endParaRPr/>
          </a:p>
        </p:txBody>
      </p:sp>
      <p:sp>
        <p:nvSpPr>
          <p:cNvPr id="153" name="Google Shape;153;p2"/>
          <p:cNvSpPr/>
          <p:nvPr/>
        </p:nvSpPr>
        <p:spPr>
          <a:xfrm>
            <a:off x="621030" y="6381750"/>
            <a:ext cx="5250180" cy="2872740"/>
          </a:xfrm>
          <a:custGeom>
            <a:avLst/>
            <a:gdLst/>
            <a:ahLst/>
            <a:cxnLst/>
            <a:rect l="l" t="t" r="r" b="b"/>
            <a:pathLst>
              <a:path w="7000240" h="3830320" extrusionOk="0">
                <a:moveTo>
                  <a:pt x="0" y="0"/>
                </a:moveTo>
                <a:lnTo>
                  <a:pt x="7000240" y="0"/>
                </a:lnTo>
                <a:lnTo>
                  <a:pt x="7000240" y="3830320"/>
                </a:lnTo>
                <a:lnTo>
                  <a:pt x="0" y="3830320"/>
                </a:lnTo>
                <a:close/>
              </a:path>
            </a:pathLst>
          </a:custGeom>
          <a:solidFill>
            <a:srgbClr val="2E2E2E"/>
          </a:solidFill>
          <a:ln w="38100" cap="sq" cmpd="sng">
            <a:solidFill>
              <a:srgbClr val="9CA3AF"/>
            </a:solidFill>
            <a:prstDash val="solid"/>
            <a:miter lim="8000"/>
            <a:headEnd type="none" w="sm" len="sm"/>
            <a:tailEnd type="none" w="sm" len="sm"/>
          </a:ln>
        </p:spPr>
        <p:txBody>
          <a:bodyPr/>
          <a:lstStyle/>
          <a:p>
            <a:endParaRPr lang="es-CL"/>
          </a:p>
        </p:txBody>
      </p:sp>
      <p:grpSp>
        <p:nvGrpSpPr>
          <p:cNvPr id="154" name="Google Shape;154;p2"/>
          <p:cNvGrpSpPr/>
          <p:nvPr/>
        </p:nvGrpSpPr>
        <p:grpSpPr>
          <a:xfrm>
            <a:off x="822960" y="6490811"/>
            <a:ext cx="4846320" cy="1651921"/>
            <a:chOff x="0" y="-123825"/>
            <a:chExt cx="6461760" cy="2202561"/>
          </a:xfrm>
        </p:grpSpPr>
        <p:sp>
          <p:nvSpPr>
            <p:cNvPr id="155" name="Google Shape;155;p2"/>
            <p:cNvSpPr/>
            <p:nvPr/>
          </p:nvSpPr>
          <p:spPr>
            <a:xfrm>
              <a:off x="0" y="0"/>
              <a:ext cx="6461760" cy="2078736"/>
            </a:xfrm>
            <a:custGeom>
              <a:avLst/>
              <a:gdLst/>
              <a:ahLst/>
              <a:cxnLst/>
              <a:rect l="l" t="t" r="r" b="b"/>
              <a:pathLst>
                <a:path w="6461760" h="2078736" extrusionOk="0">
                  <a:moveTo>
                    <a:pt x="0" y="0"/>
                  </a:moveTo>
                  <a:lnTo>
                    <a:pt x="6461760" y="0"/>
                  </a:lnTo>
                  <a:lnTo>
                    <a:pt x="6461760" y="2078736"/>
                  </a:lnTo>
                  <a:lnTo>
                    <a:pt x="0" y="2078736"/>
                  </a:lnTo>
                  <a:close/>
                </a:path>
              </a:pathLst>
            </a:custGeom>
            <a:blipFill rotWithShape="1">
              <a:blip r:embed="rId3">
                <a:alphaModFix amt="0"/>
              </a:blip>
              <a:stretch>
                <a:fillRect t="-10569" b="-10569"/>
              </a:stretch>
            </a:blipFill>
            <a:ln>
              <a:noFill/>
            </a:ln>
          </p:spPr>
          <p:txBody>
            <a:bodyPr/>
            <a:lstStyle/>
            <a:p>
              <a:endParaRPr lang="es-CL"/>
            </a:p>
          </p:txBody>
        </p:sp>
        <p:sp>
          <p:nvSpPr>
            <p:cNvPr id="156" name="Google Shape;156;p2"/>
            <p:cNvSpPr txBox="1"/>
            <p:nvPr/>
          </p:nvSpPr>
          <p:spPr>
            <a:xfrm>
              <a:off x="0" y="-123825"/>
              <a:ext cx="6461760" cy="2202561"/>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9CA3AF"/>
                  </a:solidFill>
                  <a:latin typeface="Calibri"/>
                  <a:ea typeface="Calibri"/>
                  <a:cs typeface="Calibri"/>
                  <a:sym typeface="Calibri"/>
                </a:rPr>
                <a:t>28</a:t>
              </a:r>
              <a:endParaRPr/>
            </a:p>
          </p:txBody>
        </p:sp>
      </p:grpSp>
      <p:sp>
        <p:nvSpPr>
          <p:cNvPr id="157" name="Google Shape;157;p2"/>
          <p:cNvSpPr txBox="1"/>
          <p:nvPr/>
        </p:nvSpPr>
        <p:spPr>
          <a:xfrm>
            <a:off x="822960" y="8053959"/>
            <a:ext cx="4846320" cy="112478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Requerimientos</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de Usuario (UR)</a:t>
            </a:r>
            <a:endParaRPr/>
          </a:p>
        </p:txBody>
      </p:sp>
      <p:sp>
        <p:nvSpPr>
          <p:cNvPr id="158" name="Google Shape;158;p2"/>
          <p:cNvSpPr/>
          <p:nvPr/>
        </p:nvSpPr>
        <p:spPr>
          <a:xfrm>
            <a:off x="6198870" y="6381750"/>
            <a:ext cx="5250180" cy="2872740"/>
          </a:xfrm>
          <a:custGeom>
            <a:avLst/>
            <a:gdLst/>
            <a:ahLst/>
            <a:cxnLst/>
            <a:rect l="l" t="t" r="r" b="b"/>
            <a:pathLst>
              <a:path w="7000240" h="3830320" extrusionOk="0">
                <a:moveTo>
                  <a:pt x="0" y="0"/>
                </a:moveTo>
                <a:lnTo>
                  <a:pt x="7000240" y="0"/>
                </a:lnTo>
                <a:lnTo>
                  <a:pt x="7000240" y="3830320"/>
                </a:lnTo>
                <a:lnTo>
                  <a:pt x="0" y="3830320"/>
                </a:lnTo>
                <a:close/>
              </a:path>
            </a:pathLst>
          </a:custGeom>
          <a:solidFill>
            <a:srgbClr val="2E2E2E"/>
          </a:solidFill>
          <a:ln w="38100" cap="sq" cmpd="sng">
            <a:solidFill>
              <a:srgbClr val="9CA3AF"/>
            </a:solidFill>
            <a:prstDash val="solid"/>
            <a:miter lim="8000"/>
            <a:headEnd type="none" w="sm" len="sm"/>
            <a:tailEnd type="none" w="sm" len="sm"/>
          </a:ln>
        </p:spPr>
        <p:txBody>
          <a:bodyPr/>
          <a:lstStyle/>
          <a:p>
            <a:endParaRPr lang="es-CL"/>
          </a:p>
        </p:txBody>
      </p:sp>
      <p:grpSp>
        <p:nvGrpSpPr>
          <p:cNvPr id="159" name="Google Shape;159;p2"/>
          <p:cNvGrpSpPr/>
          <p:nvPr/>
        </p:nvGrpSpPr>
        <p:grpSpPr>
          <a:xfrm>
            <a:off x="6400800" y="6490811"/>
            <a:ext cx="4846320" cy="1651921"/>
            <a:chOff x="0" y="-123825"/>
            <a:chExt cx="6461760" cy="2202561"/>
          </a:xfrm>
        </p:grpSpPr>
        <p:sp>
          <p:nvSpPr>
            <p:cNvPr id="160" name="Google Shape;160;p2"/>
            <p:cNvSpPr/>
            <p:nvPr/>
          </p:nvSpPr>
          <p:spPr>
            <a:xfrm>
              <a:off x="0" y="0"/>
              <a:ext cx="6461760" cy="2078736"/>
            </a:xfrm>
            <a:custGeom>
              <a:avLst/>
              <a:gdLst/>
              <a:ahLst/>
              <a:cxnLst/>
              <a:rect l="l" t="t" r="r" b="b"/>
              <a:pathLst>
                <a:path w="6461760" h="2078736" extrusionOk="0">
                  <a:moveTo>
                    <a:pt x="0" y="0"/>
                  </a:moveTo>
                  <a:lnTo>
                    <a:pt x="6461760" y="0"/>
                  </a:lnTo>
                  <a:lnTo>
                    <a:pt x="6461760" y="2078736"/>
                  </a:lnTo>
                  <a:lnTo>
                    <a:pt x="0" y="2078736"/>
                  </a:lnTo>
                  <a:close/>
                </a:path>
              </a:pathLst>
            </a:custGeom>
            <a:blipFill rotWithShape="1">
              <a:blip r:embed="rId3">
                <a:alphaModFix amt="0"/>
              </a:blip>
              <a:stretch>
                <a:fillRect t="-10569" b="-10569"/>
              </a:stretch>
            </a:blipFill>
            <a:ln>
              <a:noFill/>
            </a:ln>
          </p:spPr>
          <p:txBody>
            <a:bodyPr/>
            <a:lstStyle/>
            <a:p>
              <a:endParaRPr lang="es-CL"/>
            </a:p>
          </p:txBody>
        </p:sp>
        <p:sp>
          <p:nvSpPr>
            <p:cNvPr id="161" name="Google Shape;161;p2"/>
            <p:cNvSpPr txBox="1"/>
            <p:nvPr/>
          </p:nvSpPr>
          <p:spPr>
            <a:xfrm>
              <a:off x="0" y="-123825"/>
              <a:ext cx="6461760" cy="2202561"/>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9CA3AF"/>
                  </a:solidFill>
                  <a:latin typeface="Calibri"/>
                  <a:ea typeface="Calibri"/>
                  <a:cs typeface="Calibri"/>
                  <a:sym typeface="Calibri"/>
                </a:rPr>
                <a:t>41</a:t>
              </a:r>
              <a:endParaRPr/>
            </a:p>
          </p:txBody>
        </p:sp>
      </p:grpSp>
      <p:sp>
        <p:nvSpPr>
          <p:cNvPr id="162" name="Google Shape;162;p2"/>
          <p:cNvSpPr txBox="1"/>
          <p:nvPr/>
        </p:nvSpPr>
        <p:spPr>
          <a:xfrm>
            <a:off x="6400800" y="8053959"/>
            <a:ext cx="4846320" cy="112478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Casos de Uso</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(CU)</a:t>
            </a:r>
            <a:endParaRPr/>
          </a:p>
        </p:txBody>
      </p:sp>
      <p:sp>
        <p:nvSpPr>
          <p:cNvPr id="163" name="Google Shape;163;p2"/>
          <p:cNvSpPr/>
          <p:nvPr/>
        </p:nvSpPr>
        <p:spPr>
          <a:xfrm>
            <a:off x="11776710" y="6381750"/>
            <a:ext cx="5890260" cy="2872740"/>
          </a:xfrm>
          <a:custGeom>
            <a:avLst/>
            <a:gdLst/>
            <a:ahLst/>
            <a:cxnLst/>
            <a:rect l="l" t="t" r="r" b="b"/>
            <a:pathLst>
              <a:path w="7853680" h="3830320" extrusionOk="0">
                <a:moveTo>
                  <a:pt x="0" y="0"/>
                </a:moveTo>
                <a:lnTo>
                  <a:pt x="7853680" y="0"/>
                </a:lnTo>
                <a:lnTo>
                  <a:pt x="7853680" y="3830320"/>
                </a:lnTo>
                <a:lnTo>
                  <a:pt x="0" y="3830320"/>
                </a:lnTo>
                <a:close/>
              </a:path>
            </a:pathLst>
          </a:custGeom>
          <a:solidFill>
            <a:srgbClr val="2E2E2E"/>
          </a:solidFill>
          <a:ln w="38100" cap="sq" cmpd="sng">
            <a:solidFill>
              <a:srgbClr val="9CA3AF"/>
            </a:solidFill>
            <a:prstDash val="solid"/>
            <a:miter lim="8000"/>
            <a:headEnd type="none" w="sm" len="sm"/>
            <a:tailEnd type="none" w="sm" len="sm"/>
          </a:ln>
        </p:spPr>
        <p:txBody>
          <a:bodyPr/>
          <a:lstStyle/>
          <a:p>
            <a:endParaRPr lang="es-CL"/>
          </a:p>
        </p:txBody>
      </p:sp>
      <p:grpSp>
        <p:nvGrpSpPr>
          <p:cNvPr id="164" name="Google Shape;164;p2"/>
          <p:cNvGrpSpPr/>
          <p:nvPr/>
        </p:nvGrpSpPr>
        <p:grpSpPr>
          <a:xfrm>
            <a:off x="11978640" y="6490811"/>
            <a:ext cx="5486400" cy="1651921"/>
            <a:chOff x="0" y="-123825"/>
            <a:chExt cx="7315200" cy="2202561"/>
          </a:xfrm>
        </p:grpSpPr>
        <p:sp>
          <p:nvSpPr>
            <p:cNvPr id="165" name="Google Shape;165;p2"/>
            <p:cNvSpPr/>
            <p:nvPr/>
          </p:nvSpPr>
          <p:spPr>
            <a:xfrm>
              <a:off x="0" y="0"/>
              <a:ext cx="7315200" cy="2078736"/>
            </a:xfrm>
            <a:custGeom>
              <a:avLst/>
              <a:gdLst/>
              <a:ahLst/>
              <a:cxnLst/>
              <a:rect l="l" t="t" r="r" b="b"/>
              <a:pathLst>
                <a:path w="7315200" h="2078736" extrusionOk="0">
                  <a:moveTo>
                    <a:pt x="0" y="0"/>
                  </a:moveTo>
                  <a:lnTo>
                    <a:pt x="7315200" y="0"/>
                  </a:lnTo>
                  <a:lnTo>
                    <a:pt x="7315200" y="2078736"/>
                  </a:lnTo>
                  <a:lnTo>
                    <a:pt x="0" y="2078736"/>
                  </a:lnTo>
                  <a:close/>
                </a:path>
              </a:pathLst>
            </a:custGeom>
            <a:blipFill rotWithShape="1">
              <a:blip r:embed="rId3">
                <a:alphaModFix amt="0"/>
              </a:blip>
              <a:stretch>
                <a:fillRect t="-18568" b="-18568"/>
              </a:stretch>
            </a:blipFill>
            <a:ln>
              <a:noFill/>
            </a:ln>
          </p:spPr>
          <p:txBody>
            <a:bodyPr/>
            <a:lstStyle/>
            <a:p>
              <a:endParaRPr lang="es-CL"/>
            </a:p>
          </p:txBody>
        </p:sp>
        <p:sp>
          <p:nvSpPr>
            <p:cNvPr id="166" name="Google Shape;166;p2"/>
            <p:cNvSpPr txBox="1"/>
            <p:nvPr/>
          </p:nvSpPr>
          <p:spPr>
            <a:xfrm>
              <a:off x="0" y="-123825"/>
              <a:ext cx="7315200" cy="2202561"/>
            </a:xfrm>
            <a:prstGeom prst="rect">
              <a:avLst/>
            </a:prstGeom>
            <a:noFill/>
            <a:ln>
              <a:noFill/>
            </a:ln>
          </p:spPr>
          <p:txBody>
            <a:bodyPr spcFirstLastPara="1" wrap="square" lIns="0" tIns="0" rIns="0" bIns="0" anchor="b" anchorCtr="0">
              <a:noAutofit/>
            </a:bodyPr>
            <a:lstStyle/>
            <a:p>
              <a:pPr marL="0" marR="0" lvl="0" indent="0" algn="ctr" rtl="0">
                <a:lnSpc>
                  <a:spcPct val="120000"/>
                </a:lnSpc>
                <a:spcBef>
                  <a:spcPts val="0"/>
                </a:spcBef>
                <a:spcAft>
                  <a:spcPts val="0"/>
                </a:spcAft>
                <a:buNone/>
              </a:pPr>
              <a:r>
                <a:rPr lang="en-US" sz="6400" b="1" i="0" u="none" strike="noStrike" cap="none">
                  <a:solidFill>
                    <a:srgbClr val="9CA3AF"/>
                  </a:solidFill>
                  <a:latin typeface="Calibri"/>
                  <a:ea typeface="Calibri"/>
                  <a:cs typeface="Calibri"/>
                  <a:sym typeface="Calibri"/>
                </a:rPr>
                <a:t>98</a:t>
              </a:r>
              <a:endParaRPr/>
            </a:p>
          </p:txBody>
        </p:sp>
      </p:grpSp>
      <p:sp>
        <p:nvSpPr>
          <p:cNvPr id="167" name="Google Shape;167;p2"/>
          <p:cNvSpPr txBox="1"/>
          <p:nvPr/>
        </p:nvSpPr>
        <p:spPr>
          <a:xfrm>
            <a:off x="11978640" y="8053959"/>
            <a:ext cx="5486400" cy="112478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Diagramas de</a:t>
            </a:r>
            <a:endParaRPr/>
          </a:p>
          <a:p>
            <a:pPr marL="0" marR="0" lvl="0" indent="0" algn="ctr" rtl="0">
              <a:lnSpc>
                <a:spcPct val="120000"/>
              </a:lnSpc>
              <a:spcBef>
                <a:spcPts val="0"/>
              </a:spcBef>
              <a:spcAft>
                <a:spcPts val="0"/>
              </a:spcAft>
              <a:buNone/>
            </a:pPr>
            <a:r>
              <a:rPr lang="en-US" sz="2200" b="0" i="0" u="none" strike="noStrike" cap="none">
                <a:solidFill>
                  <a:srgbClr val="D1D5DB"/>
                </a:solidFill>
                <a:latin typeface="Calibri"/>
                <a:ea typeface="Calibri"/>
                <a:cs typeface="Calibri"/>
                <a:sym typeface="Calibri"/>
              </a:rPr>
              <a:t>Secuencia</a:t>
            </a:r>
            <a:endParaRPr/>
          </a:p>
        </p:txBody>
      </p:sp>
      <p:grpSp>
        <p:nvGrpSpPr>
          <p:cNvPr id="168" name="Google Shape;168;p2"/>
          <p:cNvGrpSpPr/>
          <p:nvPr/>
        </p:nvGrpSpPr>
        <p:grpSpPr>
          <a:xfrm>
            <a:off x="640080" y="5860161"/>
            <a:ext cx="12070080" cy="540639"/>
            <a:chOff x="0" y="-38100"/>
            <a:chExt cx="16093440" cy="720852"/>
          </a:xfrm>
        </p:grpSpPr>
        <p:sp>
          <p:nvSpPr>
            <p:cNvPr id="169" name="Google Shape;169;p2"/>
            <p:cNvSpPr/>
            <p:nvPr/>
          </p:nvSpPr>
          <p:spPr>
            <a:xfrm>
              <a:off x="0" y="0"/>
              <a:ext cx="16093439" cy="682752"/>
            </a:xfrm>
            <a:custGeom>
              <a:avLst/>
              <a:gdLst/>
              <a:ahLst/>
              <a:cxnLst/>
              <a:rect l="l" t="t" r="r" b="b"/>
              <a:pathLst>
                <a:path w="16093439" h="682752" extrusionOk="0">
                  <a:moveTo>
                    <a:pt x="0" y="0"/>
                  </a:moveTo>
                  <a:lnTo>
                    <a:pt x="16093439" y="0"/>
                  </a:lnTo>
                  <a:lnTo>
                    <a:pt x="16093439" y="682752"/>
                  </a:lnTo>
                  <a:lnTo>
                    <a:pt x="0" y="682752"/>
                  </a:lnTo>
                  <a:close/>
                </a:path>
              </a:pathLst>
            </a:custGeom>
            <a:blipFill rotWithShape="1">
              <a:blip r:embed="rId3">
                <a:alphaModFix amt="0"/>
              </a:blip>
              <a:stretch>
                <a:fillRect t="-409305" b="-409305"/>
              </a:stretch>
            </a:blipFill>
            <a:ln>
              <a:noFill/>
            </a:ln>
          </p:spPr>
          <p:txBody>
            <a:bodyPr/>
            <a:lstStyle/>
            <a:p>
              <a:endParaRPr lang="es-CL"/>
            </a:p>
          </p:txBody>
        </p:sp>
        <p:sp>
          <p:nvSpPr>
            <p:cNvPr id="170" name="Google Shape;170;p2"/>
            <p:cNvSpPr txBox="1"/>
            <p:nvPr/>
          </p:nvSpPr>
          <p:spPr>
            <a:xfrm>
              <a:off x="0" y="-38100"/>
              <a:ext cx="16093440" cy="720852"/>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1" u="none" strike="noStrike" cap="none">
                  <a:solidFill>
                    <a:srgbClr val="F47920"/>
                  </a:solidFill>
                  <a:latin typeface="Calibri"/>
                  <a:ea typeface="Calibri"/>
                  <a:cs typeface="Calibri"/>
                  <a:sym typeface="Calibri"/>
                </a:rPr>
                <a:t>De los cuales se derivan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178"/>
        <p:cNvGrpSpPr/>
        <p:nvPr/>
      </p:nvGrpSpPr>
      <p:grpSpPr>
        <a:xfrm>
          <a:off x="0" y="0"/>
          <a:ext cx="0" cy="0"/>
          <a:chOff x="0" y="0"/>
          <a:chExt cx="0" cy="0"/>
        </a:xfrm>
      </p:grpSpPr>
      <p:sp>
        <p:nvSpPr>
          <p:cNvPr id="179" name="Google Shape;179;p3"/>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180" name="Google Shape;180;p3"/>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181" name="Google Shape;181;p3"/>
          <p:cNvGrpSpPr/>
          <p:nvPr/>
        </p:nvGrpSpPr>
        <p:grpSpPr>
          <a:xfrm>
            <a:off x="640080" y="162306"/>
            <a:ext cx="17007840" cy="1062990"/>
            <a:chOff x="0" y="-76200"/>
            <a:chExt cx="22677120" cy="1417320"/>
          </a:xfrm>
        </p:grpSpPr>
        <p:sp>
          <p:nvSpPr>
            <p:cNvPr id="182" name="Google Shape;182;p3"/>
            <p:cNvSpPr/>
            <p:nvPr/>
          </p:nvSpPr>
          <p:spPr>
            <a:xfrm>
              <a:off x="0" y="0"/>
              <a:ext cx="22677120" cy="1341120"/>
            </a:xfrm>
            <a:custGeom>
              <a:avLst/>
              <a:gdLst/>
              <a:ahLst/>
              <a:cxnLst/>
              <a:rect l="l" t="t" r="r" b="b"/>
              <a:pathLst>
                <a:path w="22677120" h="1341120" extrusionOk="0">
                  <a:moveTo>
                    <a:pt x="0" y="0"/>
                  </a:moveTo>
                  <a:lnTo>
                    <a:pt x="22677120" y="0"/>
                  </a:lnTo>
                  <a:lnTo>
                    <a:pt x="22677120" y="1341120"/>
                  </a:lnTo>
                  <a:lnTo>
                    <a:pt x="0" y="1341120"/>
                  </a:lnTo>
                  <a:close/>
                </a:path>
              </a:pathLst>
            </a:custGeom>
            <a:blipFill rotWithShape="1">
              <a:blip r:embed="rId3">
                <a:alphaModFix amt="0"/>
              </a:blip>
              <a:stretch>
                <a:fillRect t="-279467" b="-279467"/>
              </a:stretch>
            </a:blipFill>
            <a:ln>
              <a:noFill/>
            </a:ln>
          </p:spPr>
          <p:txBody>
            <a:bodyPr/>
            <a:lstStyle/>
            <a:p>
              <a:endParaRPr lang="es-CL"/>
            </a:p>
          </p:txBody>
        </p:sp>
        <p:sp>
          <p:nvSpPr>
            <p:cNvPr id="183" name="Google Shape;183;p3"/>
            <p:cNvSpPr txBox="1"/>
            <p:nvPr/>
          </p:nvSpPr>
          <p:spPr>
            <a:xfrm>
              <a:off x="0" y="-76200"/>
              <a:ext cx="22677120"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Requerimientos Funcionales</a:t>
              </a:r>
              <a:endParaRPr/>
            </a:p>
          </p:txBody>
        </p:sp>
      </p:grpSp>
      <p:grpSp>
        <p:nvGrpSpPr>
          <p:cNvPr id="184" name="Google Shape;184;p3"/>
          <p:cNvGrpSpPr/>
          <p:nvPr/>
        </p:nvGrpSpPr>
        <p:grpSpPr>
          <a:xfrm>
            <a:off x="640080" y="9755505"/>
            <a:ext cx="17007840" cy="430911"/>
            <a:chOff x="0" y="-38100"/>
            <a:chExt cx="22677120" cy="574548"/>
          </a:xfrm>
        </p:grpSpPr>
        <p:sp>
          <p:nvSpPr>
            <p:cNvPr id="185" name="Google Shape;185;p3"/>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186" name="Google Shape;186;p3"/>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sp>
        <p:nvSpPr>
          <p:cNvPr id="187" name="Google Shape;187;p3"/>
          <p:cNvSpPr/>
          <p:nvPr/>
        </p:nvSpPr>
        <p:spPr>
          <a:xfrm>
            <a:off x="627375" y="1413775"/>
            <a:ext cx="7150144" cy="720376"/>
          </a:xfrm>
          <a:custGeom>
            <a:avLst/>
            <a:gdLst/>
            <a:ahLst/>
            <a:cxnLst/>
            <a:rect l="l" t="t" r="r" b="b"/>
            <a:pathLst>
              <a:path w="11128629" h="960501" extrusionOk="0">
                <a:moveTo>
                  <a:pt x="0" y="0"/>
                </a:moveTo>
                <a:lnTo>
                  <a:pt x="11128629" y="0"/>
                </a:lnTo>
                <a:lnTo>
                  <a:pt x="11128629" y="960501"/>
                </a:lnTo>
                <a:lnTo>
                  <a:pt x="0" y="960501"/>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188" name="Google Shape;188;p3"/>
          <p:cNvGrpSpPr/>
          <p:nvPr/>
        </p:nvGrpSpPr>
        <p:grpSpPr>
          <a:xfrm>
            <a:off x="822952" y="1401900"/>
            <a:ext cx="6406652" cy="701231"/>
            <a:chOff x="0" y="-57150"/>
            <a:chExt cx="10607040" cy="934974"/>
          </a:xfrm>
        </p:grpSpPr>
        <p:sp>
          <p:nvSpPr>
            <p:cNvPr id="189" name="Google Shape;189;p3"/>
            <p:cNvSpPr/>
            <p:nvPr/>
          </p:nvSpPr>
          <p:spPr>
            <a:xfrm>
              <a:off x="0" y="0"/>
              <a:ext cx="10607040" cy="877824"/>
            </a:xfrm>
            <a:custGeom>
              <a:avLst/>
              <a:gdLst/>
              <a:ahLst/>
              <a:cxnLst/>
              <a:rect l="l" t="t" r="r" b="b"/>
              <a:pathLst>
                <a:path w="10607040" h="877824" extrusionOk="0">
                  <a:moveTo>
                    <a:pt x="0" y="0"/>
                  </a:moveTo>
                  <a:lnTo>
                    <a:pt x="10607040" y="0"/>
                  </a:lnTo>
                  <a:lnTo>
                    <a:pt x="10607040" y="877824"/>
                  </a:lnTo>
                  <a:lnTo>
                    <a:pt x="0" y="877824"/>
                  </a:lnTo>
                  <a:close/>
                </a:path>
              </a:pathLst>
            </a:custGeom>
            <a:blipFill rotWithShape="1">
              <a:blip r:embed="rId3">
                <a:alphaModFix amt="0"/>
              </a:blip>
              <a:stretch>
                <a:fillRect t="-185449" b="-185449"/>
              </a:stretch>
            </a:blipFill>
            <a:ln>
              <a:noFill/>
            </a:ln>
          </p:spPr>
          <p:txBody>
            <a:bodyPr/>
            <a:lstStyle/>
            <a:p>
              <a:endParaRPr lang="es-CL"/>
            </a:p>
          </p:txBody>
        </p:sp>
        <p:sp>
          <p:nvSpPr>
            <p:cNvPr id="190" name="Google Shape;190;p3"/>
            <p:cNvSpPr txBox="1"/>
            <p:nvPr/>
          </p:nvSpPr>
          <p:spPr>
            <a:xfrm>
              <a:off x="0" y="-57150"/>
              <a:ext cx="10607040" cy="93497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FFFFFF"/>
                  </a:solidFill>
                  <a:latin typeface="Calibri"/>
                  <a:ea typeface="Calibri"/>
                  <a:cs typeface="Calibri"/>
                  <a:sym typeface="Calibri"/>
                </a:rPr>
                <a:t>FR-01 · Material</a:t>
              </a:r>
              <a:endParaRPr/>
            </a:p>
          </p:txBody>
        </p:sp>
      </p:grpSp>
      <p:sp>
        <p:nvSpPr>
          <p:cNvPr id="191" name="Google Shape;191;p3"/>
          <p:cNvSpPr txBox="1"/>
          <p:nvPr/>
        </p:nvSpPr>
        <p:spPr>
          <a:xfrm>
            <a:off x="640075" y="2286525"/>
            <a:ext cx="7129200" cy="5025000"/>
          </a:xfrm>
          <a:prstGeom prst="rect">
            <a:avLst/>
          </a:prstGeom>
          <a:noFill/>
          <a:ln>
            <a:noFill/>
          </a:ln>
        </p:spPr>
        <p:txBody>
          <a:bodyPr spcFirstLastPara="1" wrap="square" lIns="0" tIns="0" rIns="0" bIns="0" anchor="t" anchorCtr="0">
            <a:spAutoFit/>
          </a:bodyPr>
          <a:lstStyle/>
          <a:p>
            <a:pPr marL="0" marR="0" lvl="0" indent="0" algn="just" rtl="0">
              <a:lnSpc>
                <a:spcPct val="120038"/>
              </a:lnSpc>
              <a:spcBef>
                <a:spcPts val="0"/>
              </a:spcBef>
              <a:spcAft>
                <a:spcPts val="0"/>
              </a:spcAft>
              <a:buNone/>
            </a:pPr>
            <a:r>
              <a:rPr lang="en-US" sz="2071" b="1" i="0" u="none" strike="noStrike" cap="none">
                <a:solidFill>
                  <a:srgbClr val="FFFFFF"/>
                </a:solidFill>
                <a:latin typeface="Calibri"/>
                <a:ea typeface="Calibri"/>
                <a:cs typeface="Calibri"/>
                <a:sym typeface="Calibri"/>
              </a:rPr>
              <a:t>F</a:t>
            </a:r>
            <a:r>
              <a:rPr lang="en-US" sz="1800" b="1" i="0" u="none" strike="noStrike" cap="none">
                <a:solidFill>
                  <a:srgbClr val="FFFFFF"/>
                </a:solidFill>
                <a:latin typeface="Calibri"/>
                <a:ea typeface="Calibri"/>
                <a:cs typeface="Calibri"/>
                <a:sym typeface="Calibri"/>
              </a:rPr>
              <a:t>R-01: El sistema debe permitir crear productos con identificador único.</a:t>
            </a:r>
            <a:endParaRPr sz="1800"/>
          </a:p>
          <a:p>
            <a:pPr marL="0" marR="0" lvl="0" indent="0" algn="just" rtl="0">
              <a:lnSpc>
                <a:spcPct val="120038"/>
              </a:lnSpc>
              <a:spcBef>
                <a:spcPts val="0"/>
              </a:spcBef>
              <a:spcAft>
                <a:spcPts val="0"/>
              </a:spcAft>
              <a:buNone/>
            </a:pPr>
            <a:endParaRPr sz="1800" b="1" i="0" u="none" strike="noStrike" cap="none">
              <a:solidFill>
                <a:srgbClr val="FFFFFF"/>
              </a:solidFill>
              <a:latin typeface="Calibri"/>
              <a:ea typeface="Calibri"/>
              <a:cs typeface="Calibri"/>
              <a:sym typeface="Calibri"/>
            </a:endParaRPr>
          </a:p>
          <a:p>
            <a:pPr marL="0" marR="0" lvl="0" indent="0" algn="just" rtl="0">
              <a:lnSpc>
                <a:spcPct val="120038"/>
              </a:lnSpc>
              <a:spcBef>
                <a:spcPts val="0"/>
              </a:spcBef>
              <a:spcAft>
                <a:spcPts val="0"/>
              </a:spcAft>
              <a:buNone/>
            </a:pPr>
            <a:r>
              <a:rPr lang="en-US" sz="1800" b="0" i="0" u="none" strike="noStrike" cap="none">
                <a:solidFill>
                  <a:srgbClr val="FFFFFF"/>
                </a:solidFill>
                <a:latin typeface="Calibri"/>
                <a:ea typeface="Calibri"/>
                <a:cs typeface="Calibri"/>
                <a:sym typeface="Calibri"/>
              </a:rPr>
              <a:t>El sistema debe permitir la creación de productos mediante un formulario dentro del módulo de gestión de productos. Cada producto debe registrarse obligatoriamente con un identificador único denominado SKU (Stock Keeping Unit/unidad de mantenimiento de existencia), el cual permite su identificación dentro del sistema. </a:t>
            </a:r>
            <a:endParaRPr sz="1800"/>
          </a:p>
          <a:p>
            <a:pPr marL="0" marR="0" lvl="0" indent="0" algn="just" rtl="0">
              <a:lnSpc>
                <a:spcPct val="120038"/>
              </a:lnSpc>
              <a:spcBef>
                <a:spcPts val="0"/>
              </a:spcBef>
              <a:spcAft>
                <a:spcPts val="0"/>
              </a:spcAft>
              <a:buNone/>
            </a:pPr>
            <a:endParaRPr sz="1800" b="0" i="0" u="none" strike="noStrike" cap="none">
              <a:solidFill>
                <a:srgbClr val="FFFFFF"/>
              </a:solidFill>
              <a:latin typeface="Calibri"/>
              <a:ea typeface="Calibri"/>
              <a:cs typeface="Calibri"/>
              <a:sym typeface="Calibri"/>
            </a:endParaRPr>
          </a:p>
          <a:p>
            <a:pPr marL="0" marR="0" lvl="0" indent="0" algn="just" rtl="0">
              <a:lnSpc>
                <a:spcPct val="120038"/>
              </a:lnSpc>
              <a:spcBef>
                <a:spcPts val="0"/>
              </a:spcBef>
              <a:spcAft>
                <a:spcPts val="0"/>
              </a:spcAft>
              <a:buNone/>
            </a:pPr>
            <a:r>
              <a:rPr lang="en-US" sz="1800" b="0" i="0" u="none" strike="noStrike" cap="none">
                <a:solidFill>
                  <a:srgbClr val="FFFFFF"/>
                </a:solidFill>
                <a:latin typeface="Calibri"/>
                <a:ea typeface="Calibri"/>
                <a:cs typeface="Calibri"/>
                <a:sym typeface="Calibri"/>
              </a:rPr>
              <a:t>El SKU debe ser de tipo alfanumérico, con una longitud comprendida entre 4 y 16 caracteres, y no debe repetirse en ninguna circunstancia. Este identificador debe seguir una estructura estandarizada que facilite su interpretación, recomendándole el uso de un formato compuesto por categoría, tipo de producto y un código correlativo </a:t>
            </a:r>
            <a:endParaRPr sz="1800"/>
          </a:p>
          <a:p>
            <a:pPr marL="0" marR="0" lvl="0" indent="0" algn="just" rtl="0">
              <a:lnSpc>
                <a:spcPct val="120038"/>
              </a:lnSpc>
              <a:spcBef>
                <a:spcPts val="0"/>
              </a:spcBef>
              <a:spcAft>
                <a:spcPts val="0"/>
              </a:spcAft>
              <a:buNone/>
            </a:pPr>
            <a:r>
              <a:rPr lang="en-US" sz="1800" b="0" i="0" u="none" strike="noStrike" cap="none">
                <a:solidFill>
                  <a:srgbClr val="FFFFFF"/>
                </a:solidFill>
                <a:latin typeface="Calibri"/>
                <a:ea typeface="Calibri"/>
                <a:cs typeface="Calibri"/>
                <a:sym typeface="Calibri"/>
              </a:rPr>
              <a:t>Ejemplo: MAT-CEM-001</a:t>
            </a:r>
            <a:endParaRPr sz="1800"/>
          </a:p>
          <a:p>
            <a:pPr marL="0" marR="0" lvl="0" indent="0" algn="just" rtl="0">
              <a:lnSpc>
                <a:spcPct val="120038"/>
              </a:lnSpc>
              <a:spcBef>
                <a:spcPts val="0"/>
              </a:spcBef>
              <a:spcAft>
                <a:spcPts val="0"/>
              </a:spcAft>
              <a:buNone/>
            </a:pPr>
            <a:endParaRPr sz="2071" b="0" i="0" u="none" strike="noStrike" cap="none">
              <a:solidFill>
                <a:srgbClr val="FFFFFF"/>
              </a:solidFill>
              <a:latin typeface="Calibri"/>
              <a:ea typeface="Calibri"/>
              <a:cs typeface="Calibri"/>
              <a:sym typeface="Calibri"/>
            </a:endParaRPr>
          </a:p>
        </p:txBody>
      </p:sp>
      <p:sp>
        <p:nvSpPr>
          <p:cNvPr id="192" name="Google Shape;192;p3"/>
          <p:cNvSpPr/>
          <p:nvPr/>
        </p:nvSpPr>
        <p:spPr>
          <a:xfrm>
            <a:off x="9314175" y="1413775"/>
            <a:ext cx="8429936" cy="720376"/>
          </a:xfrm>
          <a:custGeom>
            <a:avLst/>
            <a:gdLst/>
            <a:ahLst/>
            <a:cxnLst/>
            <a:rect l="l" t="t" r="r" b="b"/>
            <a:pathLst>
              <a:path w="11128629" h="960501" extrusionOk="0">
                <a:moveTo>
                  <a:pt x="0" y="0"/>
                </a:moveTo>
                <a:lnTo>
                  <a:pt x="11128629" y="0"/>
                </a:lnTo>
                <a:lnTo>
                  <a:pt x="11128629" y="960501"/>
                </a:lnTo>
                <a:lnTo>
                  <a:pt x="0" y="960501"/>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193" name="Google Shape;193;p3"/>
          <p:cNvGrpSpPr/>
          <p:nvPr/>
        </p:nvGrpSpPr>
        <p:grpSpPr>
          <a:xfrm>
            <a:off x="9509752" y="1416175"/>
            <a:ext cx="6298496" cy="686943"/>
            <a:chOff x="0" y="-38100"/>
            <a:chExt cx="10607100" cy="915924"/>
          </a:xfrm>
        </p:grpSpPr>
        <p:sp>
          <p:nvSpPr>
            <p:cNvPr id="194" name="Google Shape;194;p3"/>
            <p:cNvSpPr/>
            <p:nvPr/>
          </p:nvSpPr>
          <p:spPr>
            <a:xfrm>
              <a:off x="0" y="0"/>
              <a:ext cx="10607040" cy="877824"/>
            </a:xfrm>
            <a:custGeom>
              <a:avLst/>
              <a:gdLst/>
              <a:ahLst/>
              <a:cxnLst/>
              <a:rect l="l" t="t" r="r" b="b"/>
              <a:pathLst>
                <a:path w="10607040" h="877824" extrusionOk="0">
                  <a:moveTo>
                    <a:pt x="0" y="0"/>
                  </a:moveTo>
                  <a:lnTo>
                    <a:pt x="10607040" y="0"/>
                  </a:lnTo>
                  <a:lnTo>
                    <a:pt x="10607040" y="877824"/>
                  </a:lnTo>
                  <a:lnTo>
                    <a:pt x="0" y="877824"/>
                  </a:lnTo>
                  <a:close/>
                </a:path>
              </a:pathLst>
            </a:custGeom>
            <a:blipFill rotWithShape="1">
              <a:blip r:embed="rId3">
                <a:alphaModFix amt="0"/>
              </a:blip>
              <a:stretch>
                <a:fillRect t="-185449" b="-185449"/>
              </a:stretch>
            </a:blipFill>
            <a:ln>
              <a:noFill/>
            </a:ln>
          </p:spPr>
          <p:txBody>
            <a:bodyPr/>
            <a:lstStyle/>
            <a:p>
              <a:endParaRPr lang="es-CL"/>
            </a:p>
          </p:txBody>
        </p:sp>
        <p:sp>
          <p:nvSpPr>
            <p:cNvPr id="195" name="Google Shape;195;p3"/>
            <p:cNvSpPr txBox="1"/>
            <p:nvPr/>
          </p:nvSpPr>
          <p:spPr>
            <a:xfrm>
              <a:off x="0" y="-38100"/>
              <a:ext cx="10607100" cy="91590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FFFFFF"/>
                  </a:solidFill>
                  <a:latin typeface="Calibri"/>
                  <a:ea typeface="Calibri"/>
                  <a:cs typeface="Calibri"/>
                  <a:sym typeface="Calibri"/>
                </a:rPr>
                <a:t>FR-19 · Movimiento de Inventario (Salida)</a:t>
              </a:r>
              <a:endParaRPr/>
            </a:p>
          </p:txBody>
        </p:sp>
      </p:grpSp>
      <p:sp>
        <p:nvSpPr>
          <p:cNvPr id="196" name="Google Shape;196;p3"/>
          <p:cNvSpPr txBox="1"/>
          <p:nvPr/>
        </p:nvSpPr>
        <p:spPr>
          <a:xfrm>
            <a:off x="9314175" y="2242056"/>
            <a:ext cx="8508300" cy="75915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00" b="1" i="0" u="none" strike="noStrike" cap="none" dirty="0">
                <a:solidFill>
                  <a:srgbClr val="FFFFFF"/>
                </a:solidFill>
                <a:latin typeface="Calibri"/>
                <a:ea typeface="Calibri"/>
                <a:cs typeface="Calibri"/>
                <a:sym typeface="Calibri"/>
              </a:rPr>
              <a:t>FR-19: El </a:t>
            </a:r>
            <a:r>
              <a:rPr lang="en-US" sz="1800" b="1" i="0" u="none" strike="noStrike" cap="none" dirty="0" err="1">
                <a:solidFill>
                  <a:srgbClr val="FFFFFF"/>
                </a:solidFill>
                <a:latin typeface="Calibri"/>
                <a:ea typeface="Calibri"/>
                <a:cs typeface="Calibri"/>
                <a:sym typeface="Calibri"/>
              </a:rPr>
              <a:t>sistema</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debe</a:t>
            </a:r>
            <a:r>
              <a:rPr lang="en-US" sz="1800" b="1" i="0" u="none" strike="noStrike" cap="none" dirty="0">
                <a:solidFill>
                  <a:srgbClr val="FFFFFF"/>
                </a:solidFill>
                <a:latin typeface="Calibri"/>
                <a:ea typeface="Calibri"/>
                <a:cs typeface="Calibri"/>
                <a:sym typeface="Calibri"/>
              </a:rPr>
              <a:t> registrar </a:t>
            </a:r>
            <a:r>
              <a:rPr lang="en-US" sz="1800" b="1" i="0" u="none" strike="noStrike" cap="none" dirty="0" err="1">
                <a:solidFill>
                  <a:srgbClr val="FFFFFF"/>
                </a:solidFill>
                <a:latin typeface="Calibri"/>
                <a:ea typeface="Calibri"/>
                <a:cs typeface="Calibri"/>
                <a:sym typeface="Calibri"/>
              </a:rPr>
              <a:t>salidas</a:t>
            </a:r>
            <a:r>
              <a:rPr lang="en-US" sz="1800" b="1" i="0" u="none" strike="noStrike" cap="none" dirty="0">
                <a:solidFill>
                  <a:srgbClr val="FFFFFF"/>
                </a:solidFill>
                <a:latin typeface="Calibri"/>
                <a:ea typeface="Calibri"/>
                <a:cs typeface="Calibri"/>
                <a:sym typeface="Calibri"/>
              </a:rPr>
              <a:t> de </a:t>
            </a:r>
            <a:r>
              <a:rPr lang="en-US" sz="1800" b="1" i="0" u="none" strike="noStrike" cap="none" dirty="0" err="1">
                <a:solidFill>
                  <a:srgbClr val="FFFFFF"/>
                </a:solidFill>
                <a:latin typeface="Calibri"/>
                <a:ea typeface="Calibri"/>
                <a:cs typeface="Calibri"/>
                <a:sym typeface="Calibri"/>
              </a:rPr>
              <a:t>inventario</a:t>
            </a:r>
            <a:r>
              <a:rPr lang="en-US" sz="1800" b="1" i="0" u="none" strike="noStrike" cap="none" dirty="0">
                <a:solidFill>
                  <a:srgbClr val="FFFFFF"/>
                </a:solidFill>
                <a:latin typeface="Calibri"/>
                <a:ea typeface="Calibri"/>
                <a:cs typeface="Calibri"/>
                <a:sym typeface="Calibri"/>
              </a:rPr>
              <a:t>. </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El </a:t>
            </a:r>
            <a:r>
              <a:rPr lang="en-US" sz="1800" b="0" i="0" u="none" strike="noStrike" cap="none" dirty="0" err="1">
                <a:solidFill>
                  <a:srgbClr val="FFFFFF"/>
                </a:solidFill>
                <a:latin typeface="Calibri"/>
                <a:ea typeface="Calibri"/>
                <a:cs typeface="Calibri"/>
                <a:sym typeface="Calibri"/>
              </a:rPr>
              <a:t>sistema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permitir</a:t>
            </a:r>
            <a:r>
              <a:rPr lang="en-US" sz="1800" b="0" i="0" u="none" strike="noStrike" cap="none" dirty="0">
                <a:solidFill>
                  <a:srgbClr val="FFFFFF"/>
                </a:solidFill>
                <a:latin typeface="Calibri"/>
                <a:ea typeface="Calibri"/>
                <a:cs typeface="Calibri"/>
                <a:sym typeface="Calibri"/>
              </a:rPr>
              <a:t> registrar </a:t>
            </a:r>
            <a:r>
              <a:rPr lang="en-US" sz="1800" b="0" i="0" u="none" strike="noStrike" cap="none" dirty="0" err="1">
                <a:solidFill>
                  <a:srgbClr val="FFFFFF"/>
                </a:solidFill>
                <a:latin typeface="Calibri"/>
                <a:ea typeface="Calibri"/>
                <a:cs typeface="Calibri"/>
                <a:sym typeface="Calibri"/>
              </a:rPr>
              <a:t>salidas</a:t>
            </a:r>
            <a:r>
              <a:rPr lang="en-US" sz="1800" b="0" i="0" u="none" strike="noStrike" cap="none" dirty="0">
                <a:solidFill>
                  <a:srgbClr val="FFFFFF"/>
                </a:solidFill>
                <a:latin typeface="Calibri"/>
                <a:ea typeface="Calibri"/>
                <a:cs typeface="Calibri"/>
                <a:sym typeface="Calibri"/>
              </a:rPr>
              <a:t> de </a:t>
            </a:r>
            <a:r>
              <a:rPr lang="en-US" sz="1800" b="0" i="0" u="none" strike="noStrike" cap="none" dirty="0" err="1">
                <a:solidFill>
                  <a:srgbClr val="FFFFFF"/>
                </a:solidFill>
                <a:latin typeface="Calibri"/>
                <a:ea typeface="Calibri"/>
                <a:cs typeface="Calibri"/>
                <a:sym typeface="Calibri"/>
              </a:rPr>
              <a:t>inventario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cada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vez</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que</a:t>
            </a:r>
            <a:r>
              <a:rPr lang="en-US" sz="1800" b="0" i="0" u="none" strike="noStrike" cap="none" dirty="0">
                <a:solidFill>
                  <a:srgbClr val="FFFFFF"/>
                </a:solidFill>
                <a:latin typeface="Calibri"/>
                <a:ea typeface="Calibri"/>
                <a:cs typeface="Calibri"/>
                <a:sym typeface="Calibri"/>
              </a:rPr>
              <a:t> un </a:t>
            </a:r>
            <a:r>
              <a:rPr lang="en-US" sz="1800" b="0" i="0" u="none" strike="noStrike" cap="none" dirty="0" err="1">
                <a:solidFill>
                  <a:srgbClr val="FFFFFF"/>
                </a:solidFill>
                <a:latin typeface="Calibri"/>
                <a:ea typeface="Calibri"/>
                <a:cs typeface="Calibri"/>
                <a:sym typeface="Calibri"/>
              </a:rPr>
              <a:t>producto</a:t>
            </a:r>
            <a:r>
              <a:rPr lang="en-US" sz="1800" b="0" i="0" u="none" strike="noStrike" cap="none" dirty="0">
                <a:solidFill>
                  <a:srgbClr val="FFFFFF"/>
                </a:solidFill>
                <a:latin typeface="Calibri"/>
                <a:ea typeface="Calibri"/>
                <a:cs typeface="Calibri"/>
                <a:sym typeface="Calibri"/>
              </a:rPr>
              <a:t> sea </a:t>
            </a:r>
            <a:r>
              <a:rPr lang="en-US" sz="1800" b="0" i="0" u="none" strike="noStrike" cap="none" dirty="0" err="1">
                <a:solidFill>
                  <a:srgbClr val="FFFFFF"/>
                </a:solidFill>
                <a:latin typeface="Calibri"/>
                <a:ea typeface="Calibri"/>
                <a:cs typeface="Calibri"/>
                <a:sym typeface="Calibri"/>
              </a:rPr>
              <a:t>retirado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desde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una</a:t>
            </a:r>
            <a:r>
              <a:rPr lang="en-US" sz="1800" b="0" i="0" u="none" strike="noStrike" cap="none" dirty="0">
                <a:solidFill>
                  <a:srgbClr val="FFFFFF"/>
                </a:solidFill>
                <a:latin typeface="Calibri"/>
                <a:ea typeface="Calibri"/>
                <a:cs typeface="Calibri"/>
                <a:sym typeface="Calibri"/>
              </a:rPr>
              <a:t> bodega.</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Esta </a:t>
            </a:r>
            <a:r>
              <a:rPr lang="en-US" sz="1800" b="0" i="0" u="none" strike="noStrike" cap="none" dirty="0" err="1">
                <a:solidFill>
                  <a:srgbClr val="FFFFFF"/>
                </a:solidFill>
                <a:latin typeface="Calibri"/>
                <a:ea typeface="Calibri"/>
                <a:cs typeface="Calibri"/>
                <a:sym typeface="Calibri"/>
              </a:rPr>
              <a:t>funcionalidad</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estar</a:t>
            </a:r>
            <a:r>
              <a:rPr lang="en-US" sz="1800" b="0" i="0" u="none" strike="noStrike" cap="none" dirty="0">
                <a:solidFill>
                  <a:srgbClr val="FFFFFF"/>
                </a:solidFill>
                <a:latin typeface="Calibri"/>
                <a:ea typeface="Calibri"/>
                <a:cs typeface="Calibri"/>
                <a:sym typeface="Calibri"/>
              </a:rPr>
              <a:t> disponible </a:t>
            </a:r>
            <a:r>
              <a:rPr lang="en-US" sz="1800" b="0" i="0" u="none" strike="noStrike" cap="none" dirty="0" err="1">
                <a:solidFill>
                  <a:srgbClr val="FFFFFF"/>
                </a:solidFill>
                <a:latin typeface="Calibri"/>
                <a:ea typeface="Calibri"/>
                <a:cs typeface="Calibri"/>
                <a:sym typeface="Calibri"/>
              </a:rPr>
              <a:t>en</a:t>
            </a:r>
            <a:r>
              <a:rPr lang="en-US" sz="1800" b="0" i="0" u="none" strike="noStrike" cap="none" dirty="0">
                <a:solidFill>
                  <a:srgbClr val="FFFFFF"/>
                </a:solidFill>
                <a:latin typeface="Calibri"/>
                <a:ea typeface="Calibri"/>
                <a:cs typeface="Calibri"/>
                <a:sym typeface="Calibri"/>
              </a:rPr>
              <a:t> el </a:t>
            </a:r>
            <a:r>
              <a:rPr lang="en-US" sz="1800" b="0" i="0" u="none" strike="noStrike" cap="none" dirty="0" err="1">
                <a:solidFill>
                  <a:srgbClr val="FFFFFF"/>
                </a:solidFill>
                <a:latin typeface="Calibri"/>
                <a:ea typeface="Calibri"/>
                <a:cs typeface="Calibri"/>
                <a:sym typeface="Calibri"/>
              </a:rPr>
              <a:t>módulo</a:t>
            </a:r>
            <a:r>
              <a:rPr lang="en-US" sz="1800" b="0" i="0" u="none" strike="noStrike" cap="none" dirty="0">
                <a:solidFill>
                  <a:srgbClr val="FFFFFF"/>
                </a:solidFill>
                <a:latin typeface="Calibri"/>
                <a:ea typeface="Calibri"/>
                <a:cs typeface="Calibri"/>
                <a:sym typeface="Calibri"/>
              </a:rPr>
              <a:t> de </a:t>
            </a:r>
            <a:r>
              <a:rPr lang="en-US" sz="1800" b="0" i="0" u="none" strike="noStrike" cap="none" dirty="0" err="1">
                <a:solidFill>
                  <a:srgbClr val="FFFFFF"/>
                </a:solidFill>
                <a:latin typeface="Calibri"/>
                <a:ea typeface="Calibri"/>
                <a:cs typeface="Calibri"/>
                <a:sym typeface="Calibri"/>
              </a:rPr>
              <a:t>movimientos</a:t>
            </a:r>
            <a:r>
              <a:rPr lang="en-US" sz="1800" b="0" i="0" u="none" strike="noStrike" cap="none" dirty="0">
                <a:solidFill>
                  <a:srgbClr val="FFFFFF"/>
                </a:solidFill>
                <a:latin typeface="Calibri"/>
                <a:ea typeface="Calibri"/>
                <a:cs typeface="Calibri"/>
                <a:sym typeface="Calibri"/>
              </a:rPr>
              <a:t> de </a:t>
            </a:r>
            <a:r>
              <a:rPr lang="en-US" sz="1800" b="0" i="0" u="none" strike="noStrike" cap="none" dirty="0" err="1">
                <a:solidFill>
                  <a:srgbClr val="FFFFFF"/>
                </a:solidFill>
                <a:latin typeface="Calibri"/>
                <a:ea typeface="Calibri"/>
                <a:cs typeface="Calibri"/>
                <a:sym typeface="Calibri"/>
              </a:rPr>
              <a:t>inventario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donde</a:t>
            </a:r>
            <a:r>
              <a:rPr lang="en-US" sz="1800" b="0" i="0" u="none" strike="noStrike" cap="none" dirty="0">
                <a:solidFill>
                  <a:srgbClr val="FFFFFF"/>
                </a:solidFill>
                <a:latin typeface="Calibri"/>
                <a:ea typeface="Calibri"/>
                <a:cs typeface="Calibri"/>
                <a:sym typeface="Calibri"/>
              </a:rPr>
              <a:t> el </a:t>
            </a:r>
            <a:r>
              <a:rPr lang="en-US" sz="1800" b="0" i="0" u="none" strike="noStrike" cap="none" dirty="0" err="1">
                <a:solidFill>
                  <a:srgbClr val="FFFFFF"/>
                </a:solidFill>
                <a:latin typeface="Calibri"/>
                <a:ea typeface="Calibri"/>
                <a:cs typeface="Calibri"/>
                <a:sym typeface="Calibri"/>
              </a:rPr>
              <a:t>usuario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deberá</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ingresar</a:t>
            </a:r>
            <a:r>
              <a:rPr lang="en-US" sz="1800" b="0" i="0" u="none" strike="noStrike" cap="none" dirty="0">
                <a:solidFill>
                  <a:srgbClr val="FFFFFF"/>
                </a:solidFill>
                <a:latin typeface="Calibri"/>
                <a:ea typeface="Calibri"/>
                <a:cs typeface="Calibri"/>
                <a:sym typeface="Calibri"/>
              </a:rPr>
              <a:t> la </a:t>
            </a:r>
            <a:r>
              <a:rPr lang="en-US" sz="1800" b="0" i="0" u="none" strike="noStrike" cap="none" dirty="0" err="1">
                <a:solidFill>
                  <a:srgbClr val="FFFFFF"/>
                </a:solidFill>
                <a:latin typeface="Calibri"/>
                <a:ea typeface="Calibri"/>
                <a:cs typeface="Calibri"/>
                <a:sym typeface="Calibri"/>
              </a:rPr>
              <a:t>información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correspondiente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mediante</a:t>
            </a:r>
            <a:r>
              <a:rPr lang="en-US" sz="1800" b="0" i="0" u="none" strike="noStrike" cap="none" dirty="0">
                <a:solidFill>
                  <a:srgbClr val="FFFFFF"/>
                </a:solidFill>
                <a:latin typeface="Calibri"/>
                <a:ea typeface="Calibri"/>
                <a:cs typeface="Calibri"/>
                <a:sym typeface="Calibri"/>
              </a:rPr>
              <a:t> un </a:t>
            </a:r>
            <a:r>
              <a:rPr lang="en-US" sz="1800" b="0" i="0" u="none" strike="noStrike" cap="none" dirty="0" err="1">
                <a:solidFill>
                  <a:srgbClr val="FFFFFF"/>
                </a:solidFill>
                <a:latin typeface="Calibri"/>
                <a:ea typeface="Calibri"/>
                <a:cs typeface="Calibri"/>
                <a:sym typeface="Calibri"/>
              </a:rPr>
              <a:t>formulario</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Para registrar </a:t>
            </a:r>
            <a:r>
              <a:rPr lang="en-US" sz="1800" b="0" i="0" u="none" strike="noStrike" cap="none" dirty="0" err="1">
                <a:solidFill>
                  <a:srgbClr val="FFFFFF"/>
                </a:solidFill>
                <a:latin typeface="Calibri"/>
                <a:ea typeface="Calibri"/>
                <a:cs typeface="Calibri"/>
                <a:sym typeface="Calibri"/>
              </a:rPr>
              <a:t>una</a:t>
            </a:r>
            <a:r>
              <a:rPr lang="en-US" sz="1800" b="0" i="0" u="none" strike="noStrike" cap="none" dirty="0">
                <a:solidFill>
                  <a:srgbClr val="FFFFFF"/>
                </a:solidFill>
                <a:latin typeface="Calibri"/>
                <a:ea typeface="Calibri"/>
                <a:cs typeface="Calibri"/>
                <a:sym typeface="Calibri"/>
              </a:rPr>
              <a:t> salida, el </a:t>
            </a:r>
            <a:r>
              <a:rPr lang="en-US" sz="1800" b="0" i="0" u="none" strike="noStrike" cap="none" dirty="0" err="1">
                <a:solidFill>
                  <a:srgbClr val="FFFFFF"/>
                </a:solidFill>
                <a:latin typeface="Calibri"/>
                <a:ea typeface="Calibri"/>
                <a:cs typeface="Calibri"/>
                <a:sym typeface="Calibri"/>
              </a:rPr>
              <a:t>sistema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solicitar</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los</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siguientes</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datos</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SKU del </a:t>
            </a:r>
            <a:r>
              <a:rPr lang="en-US" sz="1800" b="0" i="0" u="none" strike="noStrike" cap="none" dirty="0" err="1">
                <a:solidFill>
                  <a:srgbClr val="FFFFFF"/>
                </a:solidFill>
                <a:latin typeface="Calibri"/>
                <a:ea typeface="Calibri"/>
                <a:cs typeface="Calibri"/>
                <a:sym typeface="Calibri"/>
              </a:rPr>
              <a:t>producto</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Nombre del </a:t>
            </a:r>
            <a:r>
              <a:rPr lang="en-US" sz="1800" b="0" i="0" u="none" strike="noStrike" cap="none" dirty="0" err="1">
                <a:solidFill>
                  <a:srgbClr val="FFFFFF"/>
                </a:solidFill>
                <a:latin typeface="Calibri"/>
                <a:ea typeface="Calibri"/>
                <a:cs typeface="Calibri"/>
                <a:sym typeface="Calibri"/>
              </a:rPr>
              <a:t>producto</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Bodega </a:t>
            </a:r>
            <a:r>
              <a:rPr lang="en-US" sz="1800" b="0" i="0" u="none" strike="noStrike" cap="none" dirty="0" err="1">
                <a:solidFill>
                  <a:srgbClr val="FFFFFF"/>
                </a:solidFill>
                <a:latin typeface="Calibri"/>
                <a:ea typeface="Calibri"/>
                <a:cs typeface="Calibri"/>
                <a:sym typeface="Calibri"/>
              </a:rPr>
              <a:t>desde</a:t>
            </a:r>
            <a:r>
              <a:rPr lang="en-US" sz="1800" b="0" i="0" u="none" strike="noStrike" cap="none" dirty="0">
                <a:solidFill>
                  <a:srgbClr val="FFFFFF"/>
                </a:solidFill>
                <a:latin typeface="Calibri"/>
                <a:ea typeface="Calibri"/>
                <a:cs typeface="Calibri"/>
                <a:sym typeface="Calibri"/>
              </a:rPr>
              <a:t> la </a:t>
            </a:r>
            <a:r>
              <a:rPr lang="en-US" sz="1800" b="0" i="0" u="none" strike="noStrike" cap="none" dirty="0" err="1">
                <a:solidFill>
                  <a:srgbClr val="FFFFFF"/>
                </a:solidFill>
                <a:latin typeface="Calibri"/>
                <a:ea typeface="Calibri"/>
                <a:cs typeface="Calibri"/>
                <a:sym typeface="Calibri"/>
              </a:rPr>
              <a:t>cual</a:t>
            </a:r>
            <a:r>
              <a:rPr lang="en-US" sz="1800" b="0" i="0" u="none" strike="noStrike" cap="none" dirty="0">
                <a:solidFill>
                  <a:srgbClr val="FFFFFF"/>
                </a:solidFill>
                <a:latin typeface="Calibri"/>
                <a:ea typeface="Calibri"/>
                <a:cs typeface="Calibri"/>
                <a:sym typeface="Calibri"/>
              </a:rPr>
              <a:t> se </a:t>
            </a:r>
            <a:r>
              <a:rPr lang="en-US" sz="1800" b="0" i="0" u="none" strike="noStrike" cap="none" dirty="0" err="1">
                <a:solidFill>
                  <a:srgbClr val="FFFFFF"/>
                </a:solidFill>
                <a:latin typeface="Calibri"/>
                <a:ea typeface="Calibri"/>
                <a:cs typeface="Calibri"/>
                <a:sym typeface="Calibri"/>
              </a:rPr>
              <a:t>retira</a:t>
            </a:r>
            <a:r>
              <a:rPr lang="en-US" sz="1800" b="0" i="0" u="none" strike="noStrike" cap="none" dirty="0">
                <a:solidFill>
                  <a:srgbClr val="FFFFFF"/>
                </a:solidFill>
                <a:latin typeface="Calibri"/>
                <a:ea typeface="Calibri"/>
                <a:cs typeface="Calibri"/>
                <a:sym typeface="Calibri"/>
              </a:rPr>
              <a:t> el </a:t>
            </a:r>
            <a:r>
              <a:rPr lang="en-US" sz="1800" b="0" i="0" u="none" strike="noStrike" cap="none" dirty="0" err="1">
                <a:solidFill>
                  <a:srgbClr val="FFFFFF"/>
                </a:solidFill>
                <a:latin typeface="Calibri"/>
                <a:ea typeface="Calibri"/>
                <a:cs typeface="Calibri"/>
                <a:sym typeface="Calibri"/>
              </a:rPr>
              <a:t>producto</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err="1">
                <a:solidFill>
                  <a:srgbClr val="FFFFFF"/>
                </a:solidFill>
                <a:latin typeface="Calibri"/>
                <a:ea typeface="Calibri"/>
                <a:cs typeface="Calibri"/>
                <a:sym typeface="Calibri"/>
              </a:rPr>
              <a:t>Cantidad</a:t>
            </a:r>
            <a:r>
              <a:rPr lang="en-US" sz="1800" b="0" i="0" u="none" strike="noStrike" cap="none" dirty="0">
                <a:solidFill>
                  <a:srgbClr val="FFFFFF"/>
                </a:solidFill>
                <a:latin typeface="Calibri"/>
                <a:ea typeface="Calibri"/>
                <a:cs typeface="Calibri"/>
                <a:sym typeface="Calibri"/>
              </a:rPr>
              <a:t> a </a:t>
            </a:r>
            <a:r>
              <a:rPr lang="en-US" sz="1800" b="0" i="0" u="none" strike="noStrike" cap="none" dirty="0" err="1">
                <a:solidFill>
                  <a:srgbClr val="FFFFFF"/>
                </a:solidFill>
                <a:latin typeface="Calibri"/>
                <a:ea typeface="Calibri"/>
                <a:cs typeface="Calibri"/>
                <a:sym typeface="Calibri"/>
              </a:rPr>
              <a:t>retirar</a:t>
            </a:r>
            <a:r>
              <a:rPr lang="en-US" sz="1800" b="0" i="0" u="none" strike="noStrike" cap="none" dirty="0">
                <a:solidFill>
                  <a:srgbClr val="FFFFFF"/>
                </a:solidFill>
                <a:latin typeface="Calibri"/>
                <a:ea typeface="Calibri"/>
                <a:cs typeface="Calibri"/>
                <a:sym typeface="Calibri"/>
              </a:rPr>
              <a:t>, la </a:t>
            </a:r>
            <a:r>
              <a:rPr lang="en-US" sz="1800" b="0" i="0" u="none" strike="noStrike" cap="none" dirty="0" err="1">
                <a:solidFill>
                  <a:srgbClr val="FFFFFF"/>
                </a:solidFill>
                <a:latin typeface="Calibri"/>
                <a:ea typeface="Calibri"/>
                <a:cs typeface="Calibri"/>
                <a:sym typeface="Calibri"/>
              </a:rPr>
              <a:t>cual</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ser un </a:t>
            </a:r>
            <a:r>
              <a:rPr lang="en-US" sz="1800" b="0" i="0" u="none" strike="noStrike" cap="none" dirty="0" err="1">
                <a:solidFill>
                  <a:srgbClr val="FFFFFF"/>
                </a:solidFill>
                <a:latin typeface="Calibri"/>
                <a:ea typeface="Calibri"/>
                <a:cs typeface="Calibri"/>
                <a:sym typeface="Calibri"/>
              </a:rPr>
              <a:t>número</a:t>
            </a:r>
            <a:r>
              <a:rPr lang="en-US" sz="1800" b="0" i="0" u="none" strike="noStrike" cap="none" dirty="0">
                <a:solidFill>
                  <a:srgbClr val="FFFFFF"/>
                </a:solidFill>
                <a:latin typeface="Calibri"/>
                <a:ea typeface="Calibri"/>
                <a:cs typeface="Calibri"/>
                <a:sym typeface="Calibri"/>
              </a:rPr>
              <a:t> mayor </a:t>
            </a:r>
            <a:r>
              <a:rPr lang="en-US" sz="1800" b="0" i="0" u="none" strike="noStrike" cap="none" dirty="0" err="1">
                <a:solidFill>
                  <a:srgbClr val="FFFFFF"/>
                </a:solidFill>
                <a:latin typeface="Calibri"/>
                <a:ea typeface="Calibri"/>
                <a:cs typeface="Calibri"/>
                <a:sym typeface="Calibri"/>
              </a:rPr>
              <a:t>que</a:t>
            </a:r>
            <a:r>
              <a:rPr lang="en-US" sz="1800" b="0" i="0" u="none" strike="noStrike" cap="none" dirty="0">
                <a:solidFill>
                  <a:srgbClr val="FFFFFF"/>
                </a:solidFill>
                <a:latin typeface="Calibri"/>
                <a:ea typeface="Calibri"/>
                <a:cs typeface="Calibri"/>
                <a:sym typeface="Calibri"/>
              </a:rPr>
              <a:t> 0.</a:t>
            </a:r>
            <a:endParaRPr sz="1800" dirty="0"/>
          </a:p>
          <a:p>
            <a:pPr marL="0" marR="0" lvl="0" indent="0" algn="just" rtl="0">
              <a:lnSpc>
                <a:spcPct val="120000"/>
              </a:lnSpc>
              <a:spcBef>
                <a:spcPts val="0"/>
              </a:spcBef>
              <a:spcAft>
                <a:spcPts val="0"/>
              </a:spcAft>
              <a:buNone/>
            </a:pPr>
            <a:r>
              <a:rPr lang="en-US" sz="1800" b="0" i="0" u="none" strike="noStrike" cap="none" dirty="0" err="1">
                <a:solidFill>
                  <a:srgbClr val="FFFFFF"/>
                </a:solidFill>
                <a:latin typeface="Calibri"/>
                <a:ea typeface="Calibri"/>
                <a:cs typeface="Calibri"/>
                <a:sym typeface="Calibri"/>
              </a:rPr>
              <a:t>Fecha</a:t>
            </a:r>
            <a:r>
              <a:rPr lang="en-US" sz="1800" b="0" i="0" u="none" strike="noStrike" cap="none" dirty="0">
                <a:solidFill>
                  <a:srgbClr val="FFFFFF"/>
                </a:solidFill>
                <a:latin typeface="Calibri"/>
                <a:ea typeface="Calibri"/>
                <a:cs typeface="Calibri"/>
                <a:sym typeface="Calibri"/>
              </a:rPr>
              <a:t> del </a:t>
            </a:r>
            <a:r>
              <a:rPr lang="en-US" sz="1800" b="0" i="0" u="none" strike="noStrike" cap="none" dirty="0" err="1">
                <a:solidFill>
                  <a:srgbClr val="FFFFFF"/>
                </a:solidFill>
                <a:latin typeface="Calibri"/>
                <a:ea typeface="Calibri"/>
                <a:cs typeface="Calibri"/>
                <a:sym typeface="Calibri"/>
              </a:rPr>
              <a:t>movimiento</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err="1">
                <a:solidFill>
                  <a:srgbClr val="FFFFFF"/>
                </a:solidFill>
                <a:latin typeface="Calibri"/>
                <a:ea typeface="Calibri"/>
                <a:cs typeface="Calibri"/>
                <a:sym typeface="Calibri"/>
              </a:rPr>
              <a:t>Clasificación</a:t>
            </a:r>
            <a:r>
              <a:rPr lang="en-US" sz="1800" b="0" i="0" u="none" strike="noStrike" cap="none" dirty="0">
                <a:solidFill>
                  <a:srgbClr val="FFFFFF"/>
                </a:solidFill>
                <a:latin typeface="Calibri"/>
                <a:ea typeface="Calibri"/>
                <a:cs typeface="Calibri"/>
                <a:sym typeface="Calibri"/>
              </a:rPr>
              <a:t> de la salida.</a:t>
            </a:r>
            <a:endParaRPr sz="1800" dirty="0"/>
          </a:p>
          <a:p>
            <a:pPr marL="0" marR="0" lvl="0" indent="0" algn="just" rtl="0">
              <a:lnSpc>
                <a:spcPct val="120000"/>
              </a:lnSpc>
              <a:spcBef>
                <a:spcPts val="0"/>
              </a:spcBef>
              <a:spcAft>
                <a:spcPts val="0"/>
              </a:spcAft>
              <a:buNone/>
            </a:pPr>
            <a:r>
              <a:rPr lang="en-US" sz="1800" b="0" i="0" u="none" strike="noStrike" cap="none" dirty="0" err="1">
                <a:solidFill>
                  <a:srgbClr val="FFFFFF"/>
                </a:solidFill>
                <a:latin typeface="Calibri"/>
                <a:ea typeface="Calibri"/>
                <a:cs typeface="Calibri"/>
                <a:sym typeface="Calibri"/>
              </a:rPr>
              <a:t>Motivo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específico</a:t>
            </a:r>
            <a:r>
              <a:rPr lang="en-US" sz="1800" b="0" i="0" u="none" strike="noStrike" cap="none" dirty="0">
                <a:solidFill>
                  <a:srgbClr val="FFFFFF"/>
                </a:solidFill>
                <a:latin typeface="Calibri"/>
                <a:ea typeface="Calibri"/>
                <a:cs typeface="Calibri"/>
                <a:sym typeface="Calibri"/>
              </a:rPr>
              <a:t> de la salida.</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El </a:t>
            </a:r>
            <a:r>
              <a:rPr lang="en-US" sz="1800" b="0" i="0" u="none" strike="noStrike" cap="none" dirty="0" err="1">
                <a:solidFill>
                  <a:srgbClr val="FFFFFF"/>
                </a:solidFill>
                <a:latin typeface="Calibri"/>
                <a:ea typeface="Calibri"/>
                <a:cs typeface="Calibri"/>
                <a:sym typeface="Calibri"/>
              </a:rPr>
              <a:t>motivo</a:t>
            </a:r>
            <a:r>
              <a:rPr lang="en-US" sz="1800" b="0" i="0" u="none" strike="noStrike" cap="none" dirty="0">
                <a:solidFill>
                  <a:srgbClr val="FFFFFF"/>
                </a:solidFill>
                <a:latin typeface="Calibri"/>
                <a:ea typeface="Calibri"/>
                <a:cs typeface="Calibri"/>
                <a:sym typeface="Calibri"/>
              </a:rPr>
              <a:t> de la salida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seleccionarse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desde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una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lista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predefinida</a:t>
            </a:r>
            <a:r>
              <a:rPr lang="en-US" sz="1800" b="0" i="0" u="none" strike="noStrike" cap="none" dirty="0">
                <a:solidFill>
                  <a:srgbClr val="FFFFFF"/>
                </a:solidFill>
                <a:latin typeface="Calibri"/>
                <a:ea typeface="Calibri"/>
                <a:cs typeface="Calibri"/>
                <a:sym typeface="Calibri"/>
              </a:rPr>
              <a:t> y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estar</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asociado</a:t>
            </a:r>
            <a:r>
              <a:rPr lang="en-US" sz="1800" b="0" i="0" u="none" strike="noStrike" cap="none" dirty="0">
                <a:solidFill>
                  <a:srgbClr val="FFFFFF"/>
                </a:solidFill>
                <a:latin typeface="Calibri"/>
                <a:ea typeface="Calibri"/>
                <a:cs typeface="Calibri"/>
                <a:sym typeface="Calibri"/>
              </a:rPr>
              <a:t> a la </a:t>
            </a:r>
            <a:r>
              <a:rPr lang="en-US" sz="1800" b="0" i="0" u="none" strike="noStrike" cap="none" dirty="0" err="1">
                <a:solidFill>
                  <a:srgbClr val="FFFFFF"/>
                </a:solidFill>
                <a:latin typeface="Calibri"/>
                <a:ea typeface="Calibri"/>
                <a:cs typeface="Calibri"/>
                <a:sym typeface="Calibri"/>
              </a:rPr>
              <a:t>clasificación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seleccionada</a:t>
            </a:r>
            <a:r>
              <a:rPr lang="en-US" sz="1800" b="0" i="0" u="none" strike="noStrike" cap="none" dirty="0">
                <a:solidFill>
                  <a:srgbClr val="FFFFFF"/>
                </a:solidFill>
                <a:latin typeface="Calibri"/>
                <a:ea typeface="Calibri"/>
                <a:cs typeface="Calibri"/>
                <a:sym typeface="Calibri"/>
              </a:rPr>
              <a:t>. Esta </a:t>
            </a:r>
            <a:r>
              <a:rPr lang="en-US" sz="1800" b="0" i="0" u="none" strike="noStrike" cap="none" dirty="0" err="1">
                <a:solidFill>
                  <a:srgbClr val="FFFFFF"/>
                </a:solidFill>
                <a:latin typeface="Calibri"/>
                <a:ea typeface="Calibri"/>
                <a:cs typeface="Calibri"/>
                <a:sym typeface="Calibri"/>
              </a:rPr>
              <a:t>lista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incluir</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los</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siguientes</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ejemplos</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Para </a:t>
            </a:r>
            <a:r>
              <a:rPr lang="en-US" sz="1800" b="0" i="0" u="none" strike="noStrike" cap="none" dirty="0" err="1">
                <a:solidFill>
                  <a:srgbClr val="FFFFFF"/>
                </a:solidFill>
                <a:latin typeface="Calibri"/>
                <a:ea typeface="Calibri"/>
                <a:cs typeface="Calibri"/>
                <a:sym typeface="Calibri"/>
              </a:rPr>
              <a:t>consumo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venta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uso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interno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consumo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producción</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Para </a:t>
            </a:r>
            <a:r>
              <a:rPr lang="en-US" sz="1800" b="0" i="0" u="none" strike="noStrike" cap="none" dirty="0" err="1">
                <a:solidFill>
                  <a:srgbClr val="FFFFFF"/>
                </a:solidFill>
                <a:latin typeface="Calibri"/>
                <a:ea typeface="Calibri"/>
                <a:cs typeface="Calibri"/>
                <a:sym typeface="Calibri"/>
              </a:rPr>
              <a:t>pérdida</a:t>
            </a:r>
            <a:r>
              <a:rPr lang="en-US" sz="1800" b="0" i="0" u="none" strike="noStrike" cap="none" dirty="0">
                <a:solidFill>
                  <a:srgbClr val="FFFFFF"/>
                </a:solidFill>
                <a:latin typeface="Calibri"/>
                <a:ea typeface="Calibri"/>
                <a:cs typeface="Calibri"/>
                <a:sym typeface="Calibri"/>
              </a:rPr>
              <a:t> o </a:t>
            </a:r>
            <a:r>
              <a:rPr lang="en-US" sz="1800" b="0" i="0" u="none" strike="noStrike" cap="none" dirty="0" err="1">
                <a:solidFill>
                  <a:srgbClr val="FFFFFF"/>
                </a:solidFill>
                <a:latin typeface="Calibri"/>
                <a:ea typeface="Calibri"/>
                <a:cs typeface="Calibri"/>
                <a:sym typeface="Calibri"/>
              </a:rPr>
              <a:t>merma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producto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dañado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vencimiento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pérdida</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Para </a:t>
            </a:r>
            <a:r>
              <a:rPr lang="en-US" sz="1800" b="0" i="0" u="none" strike="noStrike" cap="none" dirty="0" err="1">
                <a:solidFill>
                  <a:srgbClr val="FFFFFF"/>
                </a:solidFill>
                <a:latin typeface="Calibri"/>
                <a:ea typeface="Calibri"/>
                <a:cs typeface="Calibri"/>
                <a:sym typeface="Calibri"/>
              </a:rPr>
              <a:t>traslado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traslado</a:t>
            </a:r>
            <a:r>
              <a:rPr lang="en-US" sz="1800" b="0" i="0" u="none" strike="noStrike" cap="none" dirty="0">
                <a:solidFill>
                  <a:srgbClr val="FFFFFF"/>
                </a:solidFill>
                <a:latin typeface="Calibri"/>
                <a:ea typeface="Calibri"/>
                <a:cs typeface="Calibri"/>
                <a:sym typeface="Calibri"/>
              </a:rPr>
              <a:t> a </a:t>
            </a:r>
            <a:r>
              <a:rPr lang="en-US" sz="1800" b="0" i="0" u="none" strike="noStrike" cap="none" dirty="0" err="1">
                <a:solidFill>
                  <a:srgbClr val="FFFFFF"/>
                </a:solidFill>
                <a:latin typeface="Calibri"/>
                <a:ea typeface="Calibri"/>
                <a:cs typeface="Calibri"/>
                <a:sym typeface="Calibri"/>
              </a:rPr>
              <a:t>otra</a:t>
            </a:r>
            <a:r>
              <a:rPr lang="en-US" sz="1800" b="0" i="0" u="none" strike="noStrike" cap="none" dirty="0">
                <a:solidFill>
                  <a:srgbClr val="FFFFFF"/>
                </a:solidFill>
                <a:latin typeface="Calibri"/>
                <a:ea typeface="Calibri"/>
                <a:cs typeface="Calibri"/>
                <a:sym typeface="Calibri"/>
              </a:rPr>
              <a:t> bodega.</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Para </a:t>
            </a:r>
            <a:r>
              <a:rPr lang="en-US" sz="1800" b="0" i="0" u="none" strike="noStrike" cap="none" dirty="0" err="1">
                <a:solidFill>
                  <a:srgbClr val="FFFFFF"/>
                </a:solidFill>
                <a:latin typeface="Calibri"/>
                <a:ea typeface="Calibri"/>
                <a:cs typeface="Calibri"/>
                <a:sym typeface="Calibri"/>
              </a:rPr>
              <a:t>devolución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devolución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por</a:t>
            </a:r>
            <a:r>
              <a:rPr lang="en-US" sz="1800" b="0" i="0" u="none" strike="noStrike" cap="none" dirty="0">
                <a:solidFill>
                  <a:srgbClr val="FFFFFF"/>
                </a:solidFill>
                <a:latin typeface="Calibri"/>
                <a:ea typeface="Calibri"/>
                <a:cs typeface="Calibri"/>
                <a:sym typeface="Calibri"/>
              </a:rPr>
              <a:t> error, </a:t>
            </a:r>
            <a:r>
              <a:rPr lang="en-US" sz="1800" b="0" i="0" u="none" strike="noStrike" cap="none" dirty="0" err="1">
                <a:solidFill>
                  <a:srgbClr val="FFFFFF"/>
                </a:solidFill>
                <a:latin typeface="Calibri"/>
                <a:ea typeface="Calibri"/>
                <a:cs typeface="Calibri"/>
                <a:sym typeface="Calibri"/>
              </a:rPr>
              <a:t>devolución</a:t>
            </a:r>
            <a:r>
              <a:rPr lang="en-US" sz="1800" b="0" i="0" u="none" strike="noStrike" cap="none" dirty="0">
                <a:solidFill>
                  <a:srgbClr val="FFFFFF"/>
                </a:solidFill>
                <a:latin typeface="Calibri"/>
                <a:ea typeface="Calibri"/>
                <a:cs typeface="Calibri"/>
                <a:sym typeface="Calibri"/>
              </a:rPr>
              <a:t> de </a:t>
            </a:r>
            <a:r>
              <a:rPr lang="en-US" sz="1800" b="0" i="0" u="none" strike="noStrike" cap="none" dirty="0" err="1">
                <a:solidFill>
                  <a:srgbClr val="FFFFFF"/>
                </a:solidFill>
                <a:latin typeface="Calibri"/>
                <a:ea typeface="Calibri"/>
                <a:cs typeface="Calibri"/>
                <a:sym typeface="Calibri"/>
              </a:rPr>
              <a:t>cliente</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0" i="0" u="none" strike="noStrike" cap="none" dirty="0">
                <a:solidFill>
                  <a:srgbClr val="FFFFFF"/>
                </a:solidFill>
                <a:latin typeface="Calibri"/>
                <a:ea typeface="Calibri"/>
                <a:cs typeface="Calibri"/>
                <a:sym typeface="Calibri"/>
              </a:rPr>
              <a:t>El </a:t>
            </a:r>
            <a:r>
              <a:rPr lang="en-US" sz="1800" b="0" i="0" u="none" strike="noStrike" cap="none" dirty="0" err="1">
                <a:solidFill>
                  <a:srgbClr val="FFFFFF"/>
                </a:solidFill>
                <a:latin typeface="Calibri"/>
                <a:ea typeface="Calibri"/>
                <a:cs typeface="Calibri"/>
                <a:sym typeface="Calibri"/>
              </a:rPr>
              <a:t>sistema</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debe</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validar</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que</a:t>
            </a:r>
            <a:r>
              <a:rPr lang="en-US" sz="1800" b="0" i="0" u="none" strike="noStrike" cap="none" dirty="0">
                <a:solidFill>
                  <a:srgbClr val="FFFFFF"/>
                </a:solidFill>
                <a:latin typeface="Calibri"/>
                <a:ea typeface="Calibri"/>
                <a:cs typeface="Calibri"/>
                <a:sym typeface="Calibri"/>
              </a:rPr>
              <a:t> el </a:t>
            </a:r>
            <a:r>
              <a:rPr lang="en-US" sz="1800" b="0" i="0" u="none" strike="noStrike" cap="none" dirty="0" err="1">
                <a:solidFill>
                  <a:srgbClr val="FFFFFF"/>
                </a:solidFill>
                <a:latin typeface="Calibri"/>
                <a:ea typeface="Calibri"/>
                <a:cs typeface="Calibri"/>
                <a:sym typeface="Calibri"/>
              </a:rPr>
              <a:t>motivo</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seleccionado</a:t>
            </a:r>
            <a:r>
              <a:rPr lang="en-US" sz="1800" b="0" i="0" u="none" strike="noStrike" cap="none" dirty="0">
                <a:solidFill>
                  <a:srgbClr val="FFFFFF"/>
                </a:solidFill>
                <a:latin typeface="Calibri"/>
                <a:ea typeface="Calibri"/>
                <a:cs typeface="Calibri"/>
                <a:sym typeface="Calibri"/>
              </a:rPr>
              <a:t> sea </a:t>
            </a:r>
            <a:r>
              <a:rPr lang="en-US" sz="1800" b="0" i="0" u="none" strike="noStrike" cap="none" dirty="0" err="1">
                <a:solidFill>
                  <a:srgbClr val="FFFFFF"/>
                </a:solidFill>
                <a:latin typeface="Calibri"/>
                <a:ea typeface="Calibri"/>
                <a:cs typeface="Calibri"/>
                <a:sym typeface="Calibri"/>
              </a:rPr>
              <a:t>coherente</a:t>
            </a:r>
            <a:r>
              <a:rPr lang="en-US" sz="1800" b="0" i="0" u="none" strike="noStrike" cap="none" dirty="0">
                <a:solidFill>
                  <a:srgbClr val="FFFFFF"/>
                </a:solidFill>
                <a:latin typeface="Calibri"/>
                <a:ea typeface="Calibri"/>
                <a:cs typeface="Calibri"/>
                <a:sym typeface="Calibri"/>
              </a:rPr>
              <a:t> con la </a:t>
            </a:r>
            <a:r>
              <a:rPr lang="en-US" sz="1800" b="0" i="0" u="none" strike="noStrike" cap="none" dirty="0" err="1">
                <a:solidFill>
                  <a:srgbClr val="FFFFFF"/>
                </a:solidFill>
                <a:latin typeface="Calibri"/>
                <a:ea typeface="Calibri"/>
                <a:cs typeface="Calibri"/>
                <a:sym typeface="Calibri"/>
              </a:rPr>
              <a:t>clasificación</a:t>
            </a:r>
            <a:r>
              <a:rPr lang="en-US" sz="1800" b="0" i="0" u="none" strike="noStrike" cap="none" dirty="0">
                <a:solidFill>
                  <a:srgbClr val="FFFFFF"/>
                </a:solidFill>
                <a:latin typeface="Calibri"/>
                <a:ea typeface="Calibri"/>
                <a:cs typeface="Calibri"/>
                <a:sym typeface="Calibri"/>
              </a:rPr>
              <a:t> </a:t>
            </a:r>
            <a:r>
              <a:rPr lang="en-US" sz="1800" b="0" i="0" u="none" strike="noStrike" cap="none" dirty="0" err="1">
                <a:solidFill>
                  <a:srgbClr val="FFFFFF"/>
                </a:solidFill>
                <a:latin typeface="Calibri"/>
                <a:ea typeface="Calibri"/>
                <a:cs typeface="Calibri"/>
                <a:sym typeface="Calibri"/>
              </a:rPr>
              <a:t>elegida</a:t>
            </a:r>
            <a:r>
              <a:rPr lang="en-US" sz="1800" b="0" i="0" u="none" strike="noStrike" cap="none" dirty="0">
                <a:solidFill>
                  <a:srgbClr val="FFFFFF"/>
                </a:solidFill>
                <a:latin typeface="Calibri"/>
                <a:ea typeface="Calibri"/>
                <a:cs typeface="Calibri"/>
                <a:sym typeface="Calibri"/>
              </a:rPr>
              <a:t>.</a:t>
            </a:r>
            <a:endParaRPr sz="1800" dirty="0"/>
          </a:p>
          <a:p>
            <a:pPr marL="0" marR="0" lvl="0" indent="0" algn="just" rtl="0">
              <a:lnSpc>
                <a:spcPct val="120000"/>
              </a:lnSpc>
              <a:spcBef>
                <a:spcPts val="0"/>
              </a:spcBef>
              <a:spcAft>
                <a:spcPts val="0"/>
              </a:spcAft>
              <a:buNone/>
            </a:pPr>
            <a:r>
              <a:rPr lang="en-US" sz="1800" b="1" i="0" u="none" strike="noStrike" cap="none" dirty="0">
                <a:solidFill>
                  <a:srgbClr val="FFFFFF"/>
                </a:solidFill>
                <a:latin typeface="Calibri"/>
                <a:ea typeface="Calibri"/>
                <a:cs typeface="Calibri"/>
                <a:sym typeface="Calibri"/>
              </a:rPr>
              <a:t>El </a:t>
            </a:r>
            <a:r>
              <a:rPr lang="en-US" sz="1800" b="1" i="0" u="none" strike="noStrike" cap="none" dirty="0" err="1">
                <a:solidFill>
                  <a:srgbClr val="FFFFFF"/>
                </a:solidFill>
                <a:latin typeface="Calibri"/>
                <a:ea typeface="Calibri"/>
                <a:cs typeface="Calibri"/>
                <a:sym typeface="Calibri"/>
              </a:rPr>
              <a:t>sistema</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debe</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almacenar</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cada</a:t>
            </a:r>
            <a:r>
              <a:rPr lang="en-US" sz="1800" b="1" i="0" u="none" strike="noStrike" cap="none" dirty="0">
                <a:solidFill>
                  <a:srgbClr val="FFFFFF"/>
                </a:solidFill>
                <a:latin typeface="Calibri"/>
                <a:ea typeface="Calibri"/>
                <a:cs typeface="Calibri"/>
                <a:sym typeface="Calibri"/>
              </a:rPr>
              <a:t> salida de </a:t>
            </a:r>
            <a:r>
              <a:rPr lang="en-US" sz="1800" b="1" i="0" u="none" strike="noStrike" cap="none" dirty="0" err="1">
                <a:solidFill>
                  <a:srgbClr val="FFFFFF"/>
                </a:solidFill>
                <a:latin typeface="Calibri"/>
                <a:ea typeface="Calibri"/>
                <a:cs typeface="Calibri"/>
                <a:sym typeface="Calibri"/>
              </a:rPr>
              <a:t>inventario</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permitiendo</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su</a:t>
            </a:r>
            <a:r>
              <a:rPr lang="en-US" sz="1800" b="1" i="0" u="none" strike="noStrike" cap="none" dirty="0">
                <a:solidFill>
                  <a:srgbClr val="FFFFFF"/>
                </a:solidFill>
                <a:latin typeface="Calibri"/>
                <a:ea typeface="Calibri"/>
                <a:cs typeface="Calibri"/>
                <a:sym typeface="Calibri"/>
              </a:rPr>
              <a:t> </a:t>
            </a:r>
            <a:r>
              <a:rPr lang="en-US" sz="1800" b="1" i="0" u="none" strike="noStrike" cap="none" dirty="0" err="1">
                <a:solidFill>
                  <a:srgbClr val="FFFFFF"/>
                </a:solidFill>
                <a:latin typeface="Calibri"/>
                <a:ea typeface="Calibri"/>
                <a:cs typeface="Calibri"/>
                <a:sym typeface="Calibri"/>
              </a:rPr>
              <a:t>trazabilidad</a:t>
            </a:r>
            <a:r>
              <a:rPr lang="en-US" sz="1800" b="1" i="0" u="none" strike="noStrike" cap="none" dirty="0">
                <a:solidFill>
                  <a:srgbClr val="FFFFFF"/>
                </a:solidFill>
                <a:latin typeface="Calibri"/>
                <a:ea typeface="Calibri"/>
                <a:cs typeface="Calibri"/>
                <a:sym typeface="Calibri"/>
              </a:rPr>
              <a:t> y posterior consulta.</a:t>
            </a:r>
            <a:endParaRPr sz="1800" b="1" i="0" u="none" strike="noStrike" cap="none" dirty="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04"/>
        <p:cNvGrpSpPr/>
        <p:nvPr/>
      </p:nvGrpSpPr>
      <p:grpSpPr>
        <a:xfrm>
          <a:off x="0" y="0"/>
          <a:ext cx="0" cy="0"/>
          <a:chOff x="0" y="0"/>
          <a:chExt cx="0" cy="0"/>
        </a:xfrm>
      </p:grpSpPr>
      <p:sp>
        <p:nvSpPr>
          <p:cNvPr id="205" name="Google Shape;205;p4"/>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206" name="Google Shape;206;p4"/>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07" name="Google Shape;207;p4"/>
          <p:cNvGrpSpPr/>
          <p:nvPr/>
        </p:nvGrpSpPr>
        <p:grpSpPr>
          <a:xfrm>
            <a:off x="640080" y="162306"/>
            <a:ext cx="17007840" cy="1062990"/>
            <a:chOff x="0" y="-76200"/>
            <a:chExt cx="22677120" cy="1417320"/>
          </a:xfrm>
        </p:grpSpPr>
        <p:sp>
          <p:nvSpPr>
            <p:cNvPr id="208" name="Google Shape;208;p4"/>
            <p:cNvSpPr/>
            <p:nvPr/>
          </p:nvSpPr>
          <p:spPr>
            <a:xfrm>
              <a:off x="0" y="0"/>
              <a:ext cx="22677120" cy="1341120"/>
            </a:xfrm>
            <a:custGeom>
              <a:avLst/>
              <a:gdLst/>
              <a:ahLst/>
              <a:cxnLst/>
              <a:rect l="l" t="t" r="r" b="b"/>
              <a:pathLst>
                <a:path w="22677120" h="1341120" extrusionOk="0">
                  <a:moveTo>
                    <a:pt x="0" y="0"/>
                  </a:moveTo>
                  <a:lnTo>
                    <a:pt x="22677120" y="0"/>
                  </a:lnTo>
                  <a:lnTo>
                    <a:pt x="22677120" y="1341120"/>
                  </a:lnTo>
                  <a:lnTo>
                    <a:pt x="0" y="1341120"/>
                  </a:lnTo>
                  <a:close/>
                </a:path>
              </a:pathLst>
            </a:custGeom>
            <a:blipFill rotWithShape="1">
              <a:blip r:embed="rId3">
                <a:alphaModFix amt="0"/>
              </a:blip>
              <a:stretch>
                <a:fillRect t="-279467" b="-279467"/>
              </a:stretch>
            </a:blipFill>
            <a:ln>
              <a:noFill/>
            </a:ln>
          </p:spPr>
          <p:txBody>
            <a:bodyPr/>
            <a:lstStyle/>
            <a:p>
              <a:endParaRPr lang="es-CL"/>
            </a:p>
          </p:txBody>
        </p:sp>
        <p:sp>
          <p:nvSpPr>
            <p:cNvPr id="209" name="Google Shape;209;p4"/>
            <p:cNvSpPr txBox="1"/>
            <p:nvPr/>
          </p:nvSpPr>
          <p:spPr>
            <a:xfrm>
              <a:off x="0" y="-76200"/>
              <a:ext cx="22677120"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Requerimientos de Usuario (UR)</a:t>
              </a:r>
              <a:endParaRPr/>
            </a:p>
          </p:txBody>
        </p:sp>
      </p:grpSp>
      <p:grpSp>
        <p:nvGrpSpPr>
          <p:cNvPr id="210" name="Google Shape;210;p4"/>
          <p:cNvGrpSpPr/>
          <p:nvPr/>
        </p:nvGrpSpPr>
        <p:grpSpPr>
          <a:xfrm>
            <a:off x="640080" y="9755505"/>
            <a:ext cx="17007840" cy="430911"/>
            <a:chOff x="0" y="-38100"/>
            <a:chExt cx="22677120" cy="574548"/>
          </a:xfrm>
        </p:grpSpPr>
        <p:sp>
          <p:nvSpPr>
            <p:cNvPr id="211" name="Google Shape;211;p4"/>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212" name="Google Shape;212;p4"/>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sp>
        <p:nvSpPr>
          <p:cNvPr id="213" name="Google Shape;213;p4"/>
          <p:cNvSpPr/>
          <p:nvPr/>
        </p:nvSpPr>
        <p:spPr>
          <a:xfrm>
            <a:off x="621030" y="1480566"/>
            <a:ext cx="17045940" cy="3512820"/>
          </a:xfrm>
          <a:custGeom>
            <a:avLst/>
            <a:gdLst/>
            <a:ahLst/>
            <a:cxnLst/>
            <a:rect l="l" t="t" r="r" b="b"/>
            <a:pathLst>
              <a:path w="22727920" h="4683760" extrusionOk="0">
                <a:moveTo>
                  <a:pt x="0" y="0"/>
                </a:moveTo>
                <a:lnTo>
                  <a:pt x="22727920" y="0"/>
                </a:lnTo>
                <a:lnTo>
                  <a:pt x="22727920" y="4683760"/>
                </a:lnTo>
                <a:lnTo>
                  <a:pt x="0" y="4683760"/>
                </a:lnTo>
                <a:close/>
              </a:path>
            </a:pathLst>
          </a:custGeom>
          <a:solidFill>
            <a:srgbClr val="2E2E2E"/>
          </a:solidFill>
          <a:ln w="38100" cap="sq" cmpd="sng">
            <a:solidFill>
              <a:srgbClr val="F47920"/>
            </a:solidFill>
            <a:prstDash val="solid"/>
            <a:miter lim="8000"/>
            <a:headEnd type="none" w="sm" len="sm"/>
            <a:tailEnd type="none" w="sm" len="sm"/>
          </a:ln>
        </p:spPr>
        <p:txBody>
          <a:bodyPr/>
          <a:lstStyle/>
          <a:p>
            <a:endParaRPr lang="es-CL"/>
          </a:p>
        </p:txBody>
      </p:sp>
      <p:sp>
        <p:nvSpPr>
          <p:cNvPr id="214" name="Google Shape;214;p4"/>
          <p:cNvSpPr/>
          <p:nvPr/>
        </p:nvSpPr>
        <p:spPr>
          <a:xfrm>
            <a:off x="627383" y="1486919"/>
            <a:ext cx="135159" cy="3500151"/>
          </a:xfrm>
          <a:custGeom>
            <a:avLst/>
            <a:gdLst/>
            <a:ahLst/>
            <a:cxnLst/>
            <a:rect l="l" t="t" r="r" b="b"/>
            <a:pathLst>
              <a:path w="180213" h="4666869" extrusionOk="0">
                <a:moveTo>
                  <a:pt x="0" y="0"/>
                </a:moveTo>
                <a:lnTo>
                  <a:pt x="180213" y="0"/>
                </a:lnTo>
                <a:lnTo>
                  <a:pt x="180213" y="4666869"/>
                </a:lnTo>
                <a:lnTo>
                  <a:pt x="0" y="4666869"/>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15" name="Google Shape;215;p4"/>
          <p:cNvGrpSpPr/>
          <p:nvPr/>
        </p:nvGrpSpPr>
        <p:grpSpPr>
          <a:xfrm>
            <a:off x="1005840" y="1573625"/>
            <a:ext cx="16459200" cy="730663"/>
            <a:chOff x="0" y="-47625"/>
            <a:chExt cx="21945600" cy="974217"/>
          </a:xfrm>
        </p:grpSpPr>
        <p:sp>
          <p:nvSpPr>
            <p:cNvPr id="216" name="Google Shape;216;p4"/>
            <p:cNvSpPr/>
            <p:nvPr/>
          </p:nvSpPr>
          <p:spPr>
            <a:xfrm>
              <a:off x="0" y="0"/>
              <a:ext cx="21945600" cy="926592"/>
            </a:xfrm>
            <a:custGeom>
              <a:avLst/>
              <a:gdLst/>
              <a:ahLst/>
              <a:cxnLst/>
              <a:rect l="l" t="t" r="r" b="b"/>
              <a:pathLst>
                <a:path w="21945600" h="926592" extrusionOk="0">
                  <a:moveTo>
                    <a:pt x="0" y="0"/>
                  </a:moveTo>
                  <a:lnTo>
                    <a:pt x="21945600" y="0"/>
                  </a:lnTo>
                  <a:lnTo>
                    <a:pt x="21945600" y="926592"/>
                  </a:lnTo>
                  <a:lnTo>
                    <a:pt x="0" y="926592"/>
                  </a:lnTo>
                  <a:close/>
                </a:path>
              </a:pathLst>
            </a:custGeom>
            <a:blipFill rotWithShape="1">
              <a:blip r:embed="rId3">
                <a:alphaModFix amt="0"/>
              </a:blip>
              <a:stretch>
                <a:fillRect t="-411510" b="-411510"/>
              </a:stretch>
            </a:blipFill>
            <a:ln>
              <a:noFill/>
            </a:ln>
          </p:spPr>
          <p:txBody>
            <a:bodyPr/>
            <a:lstStyle/>
            <a:p>
              <a:endParaRPr lang="es-CL"/>
            </a:p>
          </p:txBody>
        </p:sp>
        <p:sp>
          <p:nvSpPr>
            <p:cNvPr id="217" name="Google Shape;217;p4"/>
            <p:cNvSpPr txBox="1"/>
            <p:nvPr/>
          </p:nvSpPr>
          <p:spPr>
            <a:xfrm>
              <a:off x="0" y="-47625"/>
              <a:ext cx="21945600" cy="974217"/>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None/>
              </a:pPr>
              <a:r>
                <a:rPr lang="en-US" sz="2799" b="1" i="0" u="none" strike="noStrike" cap="none">
                  <a:solidFill>
                    <a:srgbClr val="F47920"/>
                  </a:solidFill>
                  <a:latin typeface="Calibri"/>
                  <a:ea typeface="Calibri"/>
                  <a:cs typeface="Calibri"/>
                  <a:sym typeface="Calibri"/>
                </a:rPr>
                <a:t>UR 1.1 · Crear productos con identificadores únicos</a:t>
              </a:r>
              <a:endParaRPr/>
            </a:p>
          </p:txBody>
        </p:sp>
      </p:grpSp>
      <p:grpSp>
        <p:nvGrpSpPr>
          <p:cNvPr id="218" name="Google Shape;218;p4"/>
          <p:cNvGrpSpPr/>
          <p:nvPr/>
        </p:nvGrpSpPr>
        <p:grpSpPr>
          <a:xfrm>
            <a:off x="1005840" y="2305145"/>
            <a:ext cx="16459200" cy="2413159"/>
            <a:chOff x="0" y="-47625"/>
            <a:chExt cx="21945600" cy="3217545"/>
          </a:xfrm>
        </p:grpSpPr>
        <p:sp>
          <p:nvSpPr>
            <p:cNvPr id="219" name="Google Shape;219;p4"/>
            <p:cNvSpPr/>
            <p:nvPr/>
          </p:nvSpPr>
          <p:spPr>
            <a:xfrm>
              <a:off x="0" y="0"/>
              <a:ext cx="21945600" cy="3169920"/>
            </a:xfrm>
            <a:custGeom>
              <a:avLst/>
              <a:gdLst/>
              <a:ahLst/>
              <a:cxnLst/>
              <a:rect l="l" t="t" r="r" b="b"/>
              <a:pathLst>
                <a:path w="21945600" h="3169920" extrusionOk="0">
                  <a:moveTo>
                    <a:pt x="0" y="0"/>
                  </a:moveTo>
                  <a:lnTo>
                    <a:pt x="21945600" y="0"/>
                  </a:lnTo>
                  <a:lnTo>
                    <a:pt x="21945600" y="3169920"/>
                  </a:lnTo>
                  <a:lnTo>
                    <a:pt x="0" y="3169920"/>
                  </a:lnTo>
                  <a:close/>
                </a:path>
              </a:pathLst>
            </a:custGeom>
            <a:blipFill rotWithShape="1">
              <a:blip r:embed="rId3">
                <a:alphaModFix amt="0"/>
              </a:blip>
              <a:stretch>
                <a:fillRect t="-84894" b="-84894"/>
              </a:stretch>
            </a:blipFill>
            <a:ln>
              <a:noFill/>
            </a:ln>
          </p:spPr>
          <p:txBody>
            <a:bodyPr/>
            <a:lstStyle/>
            <a:p>
              <a:endParaRPr lang="es-CL"/>
            </a:p>
          </p:txBody>
        </p:sp>
        <p:sp>
          <p:nvSpPr>
            <p:cNvPr id="220" name="Google Shape;220;p4"/>
            <p:cNvSpPr txBox="1"/>
            <p:nvPr/>
          </p:nvSpPr>
          <p:spPr>
            <a:xfrm>
              <a:off x="0" y="-47625"/>
              <a:ext cx="21945600" cy="3217545"/>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D1D5DB"/>
                  </a:solidFill>
                  <a:latin typeface="Calibri"/>
                  <a:ea typeface="Calibri"/>
                  <a:cs typeface="Calibri"/>
                  <a:sym typeface="Calibri"/>
                </a:rPr>
                <a:t>Como gerencia, quiero registrar nuevos productos en el sistema asignándoles un código SKU único a cada uno, para identificarlos de manera exacta y evitar duplicidades o errores en la gestión del stock.</a:t>
              </a:r>
              <a:endParaRPr/>
            </a:p>
          </p:txBody>
        </p:sp>
      </p:grpSp>
      <p:sp>
        <p:nvSpPr>
          <p:cNvPr id="221" name="Google Shape;221;p4"/>
          <p:cNvSpPr/>
          <p:nvPr/>
        </p:nvSpPr>
        <p:spPr>
          <a:xfrm>
            <a:off x="621030" y="5375910"/>
            <a:ext cx="17045940" cy="3512820"/>
          </a:xfrm>
          <a:custGeom>
            <a:avLst/>
            <a:gdLst/>
            <a:ahLst/>
            <a:cxnLst/>
            <a:rect l="l" t="t" r="r" b="b"/>
            <a:pathLst>
              <a:path w="22727920" h="4683760" extrusionOk="0">
                <a:moveTo>
                  <a:pt x="0" y="0"/>
                </a:moveTo>
                <a:lnTo>
                  <a:pt x="22727920" y="0"/>
                </a:lnTo>
                <a:lnTo>
                  <a:pt x="22727920" y="4683760"/>
                </a:lnTo>
                <a:lnTo>
                  <a:pt x="0" y="4683760"/>
                </a:lnTo>
                <a:close/>
              </a:path>
            </a:pathLst>
          </a:custGeom>
          <a:solidFill>
            <a:srgbClr val="2E2E2E"/>
          </a:solidFill>
          <a:ln w="38100" cap="sq" cmpd="sng">
            <a:solidFill>
              <a:srgbClr val="F47920"/>
            </a:solidFill>
            <a:prstDash val="solid"/>
            <a:miter lim="8000"/>
            <a:headEnd type="none" w="sm" len="sm"/>
            <a:tailEnd type="none" w="sm" len="sm"/>
          </a:ln>
        </p:spPr>
        <p:txBody>
          <a:bodyPr/>
          <a:lstStyle/>
          <a:p>
            <a:endParaRPr lang="es-CL"/>
          </a:p>
        </p:txBody>
      </p:sp>
      <p:sp>
        <p:nvSpPr>
          <p:cNvPr id="222" name="Google Shape;222;p4"/>
          <p:cNvSpPr/>
          <p:nvPr/>
        </p:nvSpPr>
        <p:spPr>
          <a:xfrm>
            <a:off x="627383" y="5382263"/>
            <a:ext cx="135159" cy="3500151"/>
          </a:xfrm>
          <a:custGeom>
            <a:avLst/>
            <a:gdLst/>
            <a:ahLst/>
            <a:cxnLst/>
            <a:rect l="l" t="t" r="r" b="b"/>
            <a:pathLst>
              <a:path w="180213" h="4666869" extrusionOk="0">
                <a:moveTo>
                  <a:pt x="0" y="0"/>
                </a:moveTo>
                <a:lnTo>
                  <a:pt x="180213" y="0"/>
                </a:lnTo>
                <a:lnTo>
                  <a:pt x="180213" y="4666869"/>
                </a:lnTo>
                <a:lnTo>
                  <a:pt x="0" y="4666869"/>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23" name="Google Shape;223;p4"/>
          <p:cNvGrpSpPr/>
          <p:nvPr/>
        </p:nvGrpSpPr>
        <p:grpSpPr>
          <a:xfrm>
            <a:off x="1005840" y="5468969"/>
            <a:ext cx="16459200" cy="730663"/>
            <a:chOff x="0" y="-47625"/>
            <a:chExt cx="21945600" cy="974217"/>
          </a:xfrm>
        </p:grpSpPr>
        <p:sp>
          <p:nvSpPr>
            <p:cNvPr id="224" name="Google Shape;224;p4"/>
            <p:cNvSpPr/>
            <p:nvPr/>
          </p:nvSpPr>
          <p:spPr>
            <a:xfrm>
              <a:off x="0" y="0"/>
              <a:ext cx="21945600" cy="926592"/>
            </a:xfrm>
            <a:custGeom>
              <a:avLst/>
              <a:gdLst/>
              <a:ahLst/>
              <a:cxnLst/>
              <a:rect l="l" t="t" r="r" b="b"/>
              <a:pathLst>
                <a:path w="21945600" h="926592" extrusionOk="0">
                  <a:moveTo>
                    <a:pt x="0" y="0"/>
                  </a:moveTo>
                  <a:lnTo>
                    <a:pt x="21945600" y="0"/>
                  </a:lnTo>
                  <a:lnTo>
                    <a:pt x="21945600" y="926592"/>
                  </a:lnTo>
                  <a:lnTo>
                    <a:pt x="0" y="926592"/>
                  </a:lnTo>
                  <a:close/>
                </a:path>
              </a:pathLst>
            </a:custGeom>
            <a:blipFill rotWithShape="1">
              <a:blip r:embed="rId3">
                <a:alphaModFix amt="0"/>
              </a:blip>
              <a:stretch>
                <a:fillRect t="-411510" b="-411510"/>
              </a:stretch>
            </a:blipFill>
            <a:ln>
              <a:noFill/>
            </a:ln>
          </p:spPr>
          <p:txBody>
            <a:bodyPr/>
            <a:lstStyle/>
            <a:p>
              <a:endParaRPr lang="es-CL"/>
            </a:p>
          </p:txBody>
        </p:sp>
        <p:sp>
          <p:nvSpPr>
            <p:cNvPr id="225" name="Google Shape;225;p4"/>
            <p:cNvSpPr txBox="1"/>
            <p:nvPr/>
          </p:nvSpPr>
          <p:spPr>
            <a:xfrm>
              <a:off x="0" y="-47625"/>
              <a:ext cx="21945600" cy="974217"/>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None/>
              </a:pPr>
              <a:r>
                <a:rPr lang="en-US" sz="2799" b="1" i="0" u="none" strike="noStrike" cap="none">
                  <a:solidFill>
                    <a:srgbClr val="F47920"/>
                  </a:solidFill>
                  <a:latin typeface="Calibri"/>
                  <a:ea typeface="Calibri"/>
                  <a:cs typeface="Calibri"/>
                  <a:sym typeface="Calibri"/>
                </a:rPr>
                <a:t>UR 3.2 · Registrar salidas de inventario</a:t>
              </a:r>
              <a:endParaRPr/>
            </a:p>
          </p:txBody>
        </p:sp>
      </p:grpSp>
      <p:grpSp>
        <p:nvGrpSpPr>
          <p:cNvPr id="226" name="Google Shape;226;p4"/>
          <p:cNvGrpSpPr/>
          <p:nvPr/>
        </p:nvGrpSpPr>
        <p:grpSpPr>
          <a:xfrm>
            <a:off x="1005840" y="6200489"/>
            <a:ext cx="16459200" cy="2413159"/>
            <a:chOff x="0" y="-47625"/>
            <a:chExt cx="21945600" cy="3217545"/>
          </a:xfrm>
        </p:grpSpPr>
        <p:sp>
          <p:nvSpPr>
            <p:cNvPr id="227" name="Google Shape;227;p4"/>
            <p:cNvSpPr/>
            <p:nvPr/>
          </p:nvSpPr>
          <p:spPr>
            <a:xfrm>
              <a:off x="0" y="0"/>
              <a:ext cx="21945600" cy="3169920"/>
            </a:xfrm>
            <a:custGeom>
              <a:avLst/>
              <a:gdLst/>
              <a:ahLst/>
              <a:cxnLst/>
              <a:rect l="l" t="t" r="r" b="b"/>
              <a:pathLst>
                <a:path w="21945600" h="3169920" extrusionOk="0">
                  <a:moveTo>
                    <a:pt x="0" y="0"/>
                  </a:moveTo>
                  <a:lnTo>
                    <a:pt x="21945600" y="0"/>
                  </a:lnTo>
                  <a:lnTo>
                    <a:pt x="21945600" y="3169920"/>
                  </a:lnTo>
                  <a:lnTo>
                    <a:pt x="0" y="3169920"/>
                  </a:lnTo>
                  <a:close/>
                </a:path>
              </a:pathLst>
            </a:custGeom>
            <a:blipFill rotWithShape="1">
              <a:blip r:embed="rId3">
                <a:alphaModFix amt="0"/>
              </a:blip>
              <a:stretch>
                <a:fillRect t="-84894" b="-84894"/>
              </a:stretch>
            </a:blipFill>
            <a:ln>
              <a:noFill/>
            </a:ln>
          </p:spPr>
          <p:txBody>
            <a:bodyPr/>
            <a:lstStyle/>
            <a:p>
              <a:endParaRPr lang="es-CL"/>
            </a:p>
          </p:txBody>
        </p:sp>
        <p:sp>
          <p:nvSpPr>
            <p:cNvPr id="228" name="Google Shape;228;p4"/>
            <p:cNvSpPr txBox="1"/>
            <p:nvPr/>
          </p:nvSpPr>
          <p:spPr>
            <a:xfrm>
              <a:off x="0" y="-47625"/>
              <a:ext cx="21945600" cy="3217545"/>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D1D5DB"/>
                  </a:solidFill>
                  <a:latin typeface="Calibri"/>
                  <a:ea typeface="Calibri"/>
                  <a:cs typeface="Calibri"/>
                  <a:sym typeface="Calibri"/>
                </a:rPr>
                <a:t>Como usuario, quiero registrar retiros especificando el SKU, la cantidad y el motivo correspondiente, para asegurar que cada salida de bodega esté debidamente justificada y sea trazable.</a:t>
              </a:r>
              <a:endParaRPr/>
            </a:p>
          </p:txBody>
        </p:sp>
      </p:grpSp>
      <p:grpSp>
        <p:nvGrpSpPr>
          <p:cNvPr id="229" name="Google Shape;229;p4"/>
          <p:cNvGrpSpPr/>
          <p:nvPr/>
        </p:nvGrpSpPr>
        <p:grpSpPr>
          <a:xfrm>
            <a:off x="912321" y="4461129"/>
            <a:ext cx="7315200" cy="485775"/>
            <a:chOff x="0" y="-38100"/>
            <a:chExt cx="9753600" cy="647700"/>
          </a:xfrm>
        </p:grpSpPr>
        <p:sp>
          <p:nvSpPr>
            <p:cNvPr id="230" name="Google Shape;230;p4"/>
            <p:cNvSpPr/>
            <p:nvPr/>
          </p:nvSpPr>
          <p:spPr>
            <a:xfrm>
              <a:off x="0" y="0"/>
              <a:ext cx="9753600" cy="609600"/>
            </a:xfrm>
            <a:custGeom>
              <a:avLst/>
              <a:gdLst/>
              <a:ahLst/>
              <a:cxnLst/>
              <a:rect l="l" t="t" r="r" b="b"/>
              <a:pathLst>
                <a:path w="9753600" h="609600" extrusionOk="0">
                  <a:moveTo>
                    <a:pt x="0" y="0"/>
                  </a:moveTo>
                  <a:lnTo>
                    <a:pt x="9753600" y="0"/>
                  </a:lnTo>
                  <a:lnTo>
                    <a:pt x="9753600" y="609600"/>
                  </a:lnTo>
                  <a:lnTo>
                    <a:pt x="0" y="609600"/>
                  </a:lnTo>
                  <a:close/>
                </a:path>
              </a:pathLst>
            </a:custGeom>
            <a:blipFill rotWithShape="1">
              <a:blip r:embed="rId3">
                <a:alphaModFix amt="0"/>
              </a:blip>
              <a:stretch>
                <a:fillRect t="-261760" b="-261760"/>
              </a:stretch>
            </a:blipFill>
            <a:ln>
              <a:noFill/>
            </a:ln>
          </p:spPr>
          <p:txBody>
            <a:bodyPr/>
            <a:lstStyle/>
            <a:p>
              <a:endParaRPr lang="es-CL"/>
            </a:p>
          </p:txBody>
        </p:sp>
        <p:sp>
          <p:nvSpPr>
            <p:cNvPr id="231" name="Google Shape;231;p4"/>
            <p:cNvSpPr txBox="1"/>
            <p:nvPr/>
          </p:nvSpPr>
          <p:spPr>
            <a:xfrm>
              <a:off x="0" y="-38100"/>
              <a:ext cx="9753600" cy="6477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900" b="0" i="1" u="none" strike="noStrike" cap="none">
                  <a:solidFill>
                    <a:srgbClr val="F47920"/>
                  </a:solidFill>
                  <a:latin typeface="Calibri"/>
                  <a:ea typeface="Calibri"/>
                  <a:cs typeface="Calibri"/>
                  <a:sym typeface="Calibri"/>
                </a:rPr>
                <a:t>Relacionado con: FR-01</a:t>
              </a:r>
              <a:endParaRPr/>
            </a:p>
          </p:txBody>
        </p:sp>
      </p:grpSp>
      <p:grpSp>
        <p:nvGrpSpPr>
          <p:cNvPr id="232" name="Google Shape;232;p4"/>
          <p:cNvGrpSpPr/>
          <p:nvPr/>
        </p:nvGrpSpPr>
        <p:grpSpPr>
          <a:xfrm>
            <a:off x="912321" y="8352282"/>
            <a:ext cx="7315200" cy="485775"/>
            <a:chOff x="0" y="-38100"/>
            <a:chExt cx="9753600" cy="647700"/>
          </a:xfrm>
        </p:grpSpPr>
        <p:sp>
          <p:nvSpPr>
            <p:cNvPr id="233" name="Google Shape;233;p4"/>
            <p:cNvSpPr/>
            <p:nvPr/>
          </p:nvSpPr>
          <p:spPr>
            <a:xfrm>
              <a:off x="0" y="0"/>
              <a:ext cx="9753600" cy="609600"/>
            </a:xfrm>
            <a:custGeom>
              <a:avLst/>
              <a:gdLst/>
              <a:ahLst/>
              <a:cxnLst/>
              <a:rect l="l" t="t" r="r" b="b"/>
              <a:pathLst>
                <a:path w="9753600" h="609600" extrusionOk="0">
                  <a:moveTo>
                    <a:pt x="0" y="0"/>
                  </a:moveTo>
                  <a:lnTo>
                    <a:pt x="9753600" y="0"/>
                  </a:lnTo>
                  <a:lnTo>
                    <a:pt x="9753600" y="609600"/>
                  </a:lnTo>
                  <a:lnTo>
                    <a:pt x="0" y="609600"/>
                  </a:lnTo>
                  <a:close/>
                </a:path>
              </a:pathLst>
            </a:custGeom>
            <a:blipFill rotWithShape="1">
              <a:blip r:embed="rId3">
                <a:alphaModFix amt="0"/>
              </a:blip>
              <a:stretch>
                <a:fillRect t="-261760" b="-261760"/>
              </a:stretch>
            </a:blipFill>
            <a:ln>
              <a:noFill/>
            </a:ln>
          </p:spPr>
          <p:txBody>
            <a:bodyPr/>
            <a:lstStyle/>
            <a:p>
              <a:endParaRPr lang="es-CL"/>
            </a:p>
          </p:txBody>
        </p:sp>
        <p:sp>
          <p:nvSpPr>
            <p:cNvPr id="234" name="Google Shape;234;p4"/>
            <p:cNvSpPr txBox="1"/>
            <p:nvPr/>
          </p:nvSpPr>
          <p:spPr>
            <a:xfrm>
              <a:off x="0" y="-38100"/>
              <a:ext cx="9753600" cy="6477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900" b="0" i="1" u="none" strike="noStrike" cap="none">
                  <a:solidFill>
                    <a:srgbClr val="F47920"/>
                  </a:solidFill>
                  <a:latin typeface="Calibri"/>
                  <a:ea typeface="Calibri"/>
                  <a:cs typeface="Calibri"/>
                  <a:sym typeface="Calibri"/>
                </a:rPr>
                <a:t>Relacionado con: FR-19</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42"/>
        <p:cNvGrpSpPr/>
        <p:nvPr/>
      </p:nvGrpSpPr>
      <p:grpSpPr>
        <a:xfrm>
          <a:off x="0" y="0"/>
          <a:ext cx="0" cy="0"/>
          <a:chOff x="0" y="0"/>
          <a:chExt cx="0" cy="0"/>
        </a:xfrm>
      </p:grpSpPr>
      <p:sp>
        <p:nvSpPr>
          <p:cNvPr id="243" name="Google Shape;243;p5"/>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244" name="Google Shape;244;p5"/>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45" name="Google Shape;245;p5"/>
          <p:cNvGrpSpPr/>
          <p:nvPr/>
        </p:nvGrpSpPr>
        <p:grpSpPr>
          <a:xfrm>
            <a:off x="640080" y="113758"/>
            <a:ext cx="15798262" cy="1062990"/>
            <a:chOff x="0" y="-76200"/>
            <a:chExt cx="21064349" cy="1417320"/>
          </a:xfrm>
        </p:grpSpPr>
        <p:sp>
          <p:nvSpPr>
            <p:cNvPr id="246" name="Google Shape;246;p5"/>
            <p:cNvSpPr/>
            <p:nvPr/>
          </p:nvSpPr>
          <p:spPr>
            <a:xfrm>
              <a:off x="0" y="0"/>
              <a:ext cx="21064348" cy="1341120"/>
            </a:xfrm>
            <a:custGeom>
              <a:avLst/>
              <a:gdLst/>
              <a:ahLst/>
              <a:cxnLst/>
              <a:rect l="l" t="t" r="r" b="b"/>
              <a:pathLst>
                <a:path w="21064348" h="1341120" extrusionOk="0">
                  <a:moveTo>
                    <a:pt x="0" y="0"/>
                  </a:moveTo>
                  <a:lnTo>
                    <a:pt x="21064348" y="0"/>
                  </a:lnTo>
                  <a:lnTo>
                    <a:pt x="21064348" y="1341120"/>
                  </a:lnTo>
                  <a:lnTo>
                    <a:pt x="0" y="1341120"/>
                  </a:lnTo>
                  <a:close/>
                </a:path>
              </a:pathLst>
            </a:custGeom>
            <a:blipFill rotWithShape="1">
              <a:blip r:embed="rId3">
                <a:alphaModFix amt="0"/>
              </a:blip>
              <a:stretch>
                <a:fillRect t="-279467" r="-7657" b="-279467"/>
              </a:stretch>
            </a:blipFill>
            <a:ln>
              <a:noFill/>
            </a:ln>
          </p:spPr>
          <p:txBody>
            <a:bodyPr/>
            <a:lstStyle/>
            <a:p>
              <a:endParaRPr lang="es-CL"/>
            </a:p>
          </p:txBody>
        </p:sp>
        <p:sp>
          <p:nvSpPr>
            <p:cNvPr id="247" name="Google Shape;247;p5"/>
            <p:cNvSpPr txBox="1"/>
            <p:nvPr/>
          </p:nvSpPr>
          <p:spPr>
            <a:xfrm>
              <a:off x="0" y="-76200"/>
              <a:ext cx="21064349"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Caso de Uso: CU-01 y CU-02 asociados al UR 1.1</a:t>
              </a:r>
              <a:endParaRPr/>
            </a:p>
          </p:txBody>
        </p:sp>
      </p:grpSp>
      <p:grpSp>
        <p:nvGrpSpPr>
          <p:cNvPr id="248" name="Google Shape;248;p5"/>
          <p:cNvGrpSpPr/>
          <p:nvPr/>
        </p:nvGrpSpPr>
        <p:grpSpPr>
          <a:xfrm>
            <a:off x="640080" y="9755505"/>
            <a:ext cx="17007840" cy="430911"/>
            <a:chOff x="0" y="-38100"/>
            <a:chExt cx="22677120" cy="574548"/>
          </a:xfrm>
        </p:grpSpPr>
        <p:sp>
          <p:nvSpPr>
            <p:cNvPr id="249" name="Google Shape;249;p5"/>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250" name="Google Shape;250;p5"/>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aphicFrame>
        <p:nvGraphicFramePr>
          <p:cNvPr id="251" name="Google Shape;251;p5"/>
          <p:cNvGraphicFramePr/>
          <p:nvPr/>
        </p:nvGraphicFramePr>
        <p:xfrm>
          <a:off x="640080" y="1176748"/>
          <a:ext cx="6597625" cy="8036700"/>
        </p:xfrm>
        <a:graphic>
          <a:graphicData uri="http://schemas.openxmlformats.org/drawingml/2006/table">
            <a:tbl>
              <a:tblPr>
                <a:noFill/>
                <a:tableStyleId>{708157BA-94AC-4061-82BE-E242863FAF11}</a:tableStyleId>
              </a:tblPr>
              <a:tblGrid>
                <a:gridCol w="1510150">
                  <a:extLst>
                    <a:ext uri="{9D8B030D-6E8A-4147-A177-3AD203B41FA5}">
                      <a16:colId xmlns:a16="http://schemas.microsoft.com/office/drawing/2014/main" val="20000"/>
                    </a:ext>
                  </a:extLst>
                </a:gridCol>
                <a:gridCol w="5087475">
                  <a:extLst>
                    <a:ext uri="{9D8B030D-6E8A-4147-A177-3AD203B41FA5}">
                      <a16:colId xmlns:a16="http://schemas.microsoft.com/office/drawing/2014/main" val="20001"/>
                    </a:ext>
                  </a:extLst>
                </a:gridCol>
              </a:tblGrid>
              <a:tr h="539675">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Campo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extLst>
                  <a:ext uri="{0D108BD9-81ED-4DB2-BD59-A6C34878D82A}">
                    <a16:rowId xmlns:a16="http://schemas.microsoft.com/office/drawing/2014/main" val="10000"/>
                  </a:ext>
                </a:extLst>
              </a:tr>
              <a:tr h="5396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CU-01: Registrando producto con SKU único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1"/>
                  </a:ext>
                </a:extLst>
              </a:tr>
              <a:tr h="5396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Actor(es)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Gerencia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2"/>
                  </a:ext>
                </a:extLst>
              </a:tr>
              <a:tr h="7887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Resumen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Permite asignar un código SKU único al registrar un nuevo producto para evitar duplicidades.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3"/>
                  </a:ext>
                </a:extLst>
              </a:tr>
              <a:tr h="5396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Frecuencia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Alta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4"/>
                  </a:ext>
                </a:extLst>
              </a:tr>
              <a:tr h="7887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Precondiciones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sistema debe estar en la interfaz de «Crear Producto».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5"/>
                  </a:ext>
                </a:extLst>
              </a:tr>
              <a:tr h="15322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sistema habilita el campo de identificación, usuario ingresa SKU [Exc.1] , sistema valida longitud y formato [Exc.2], sistema verifica disponibilidad en BD [Exc.3], confirma e identifica el identificador como válido.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6"/>
                  </a:ext>
                </a:extLst>
              </a:tr>
              <a:tr h="12869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Excepciones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Exc.1: Campo vacío, solicita ingreso obligatorio.</a:t>
                      </a:r>
                      <a:endParaRPr sz="1100" u="none" strike="noStrike" cap="none"/>
                    </a:p>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Exc.2: Formato fuera de rango (4–16 car.)  informa reglas del SKU.</a:t>
                      </a:r>
                      <a:endParaRPr/>
                    </a:p>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Exc.3: SKU ya registrado, solicita código distinto.</a:t>
                      </a:r>
                      <a:endParaRPr/>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7"/>
                  </a:ext>
                </a:extLst>
              </a:tr>
              <a:tr h="7887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Postcondiciones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producto queda identificado de forma única en la plataforma.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8"/>
                  </a:ext>
                </a:extLst>
              </a:tr>
              <a:tr h="6925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Dependencias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300" u="none" strike="noStrike" cap="none">
                          <a:solidFill>
                            <a:srgbClr val="D1D5DB"/>
                          </a:solidFill>
                          <a:latin typeface="Calibri"/>
                          <a:ea typeface="Calibri"/>
                          <a:cs typeface="Calibri"/>
                          <a:sym typeface="Calibri"/>
                        </a:rPr>
                        <a:t>UR 1.1</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9"/>
                  </a:ext>
                </a:extLst>
              </a:tr>
            </a:tbl>
          </a:graphicData>
        </a:graphic>
      </p:graphicFrame>
      <p:graphicFrame>
        <p:nvGraphicFramePr>
          <p:cNvPr id="252" name="Google Shape;252;p5"/>
          <p:cNvGraphicFramePr/>
          <p:nvPr/>
        </p:nvGraphicFramePr>
        <p:xfrm>
          <a:off x="8874379" y="1176748"/>
          <a:ext cx="6574850" cy="8423429"/>
        </p:xfrm>
        <a:graphic>
          <a:graphicData uri="http://schemas.openxmlformats.org/drawingml/2006/table">
            <a:tbl>
              <a:tblPr>
                <a:noFill/>
                <a:tableStyleId>{708157BA-94AC-4061-82BE-E242863FAF11}</a:tableStyleId>
              </a:tblPr>
              <a:tblGrid>
                <a:gridCol w="2497600">
                  <a:extLst>
                    <a:ext uri="{9D8B030D-6E8A-4147-A177-3AD203B41FA5}">
                      <a16:colId xmlns:a16="http://schemas.microsoft.com/office/drawing/2014/main" val="20000"/>
                    </a:ext>
                  </a:extLst>
                </a:gridCol>
                <a:gridCol w="4077250">
                  <a:extLst>
                    <a:ext uri="{9D8B030D-6E8A-4147-A177-3AD203B41FA5}">
                      <a16:colId xmlns:a16="http://schemas.microsoft.com/office/drawing/2014/main" val="20001"/>
                    </a:ext>
                  </a:extLst>
                </a:gridCol>
              </a:tblGrid>
              <a:tr h="500750">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Campo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extLst>
                  <a:ext uri="{0D108BD9-81ED-4DB2-BD59-A6C34878D82A}">
                    <a16:rowId xmlns:a16="http://schemas.microsoft.com/office/drawing/2014/main" val="10000"/>
                  </a:ext>
                </a:extLst>
              </a:tr>
              <a:tr h="5007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CU-02: Buscando producto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1"/>
                  </a:ext>
                </a:extLst>
              </a:tr>
              <a:tr h="5007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Actor(es)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Gerencia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2"/>
                  </a:ext>
                </a:extLst>
              </a:tr>
              <a:tr h="7295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Resumen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Permite localizar rápidamente un producto específico mediante su SKU o 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3"/>
                  </a:ext>
                </a:extLst>
              </a:tr>
              <a:tr h="5007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Frecuencia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Alta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4"/>
                  </a:ext>
                </a:extLst>
              </a:tr>
              <a:tr h="10492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Precondiciones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sistema debe tener productos registrados.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5"/>
                  </a:ext>
                </a:extLst>
              </a:tr>
              <a:tr h="16395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sistema habilita la barra de búsqueda, el usuario ingresa el SKU o parte del nombre [Excepción 1], el sistema filtra la base de datos en tiempo real [Excepción 2], el sistema despliega las coincidencias encontradas, el usuario identifica el producto deseado.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6"/>
                  </a:ext>
                </a:extLst>
              </a:tr>
              <a:tr h="11870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Excepciones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Excepción 1: Campo de búsqueda vacío. El sistema solicita ingresar 3 caracteres.Excepción 2: Sin resultados. El sistema informa que no existen coincidencias y sugiere revisar el SKU.</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7"/>
                  </a:ext>
                </a:extLst>
              </a:tr>
              <a:tr h="7295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Postcondiciones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usuario localiza el registro para posteriores acciones (editar, ver o mover).</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8"/>
                  </a:ext>
                </a:extLst>
              </a:tr>
              <a:tr h="842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Dependencias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300" u="none" strike="noStrike" cap="none">
                          <a:solidFill>
                            <a:srgbClr val="D1D5DB"/>
                          </a:solidFill>
                          <a:latin typeface="Calibri"/>
                          <a:ea typeface="Calibri"/>
                          <a:cs typeface="Calibri"/>
                          <a:sym typeface="Calibri"/>
                        </a:rPr>
                        <a:t>UR 1.1</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56"/>
        <p:cNvGrpSpPr/>
        <p:nvPr/>
      </p:nvGrpSpPr>
      <p:grpSpPr>
        <a:xfrm>
          <a:off x="0" y="0"/>
          <a:ext cx="0" cy="0"/>
          <a:chOff x="0" y="0"/>
          <a:chExt cx="0" cy="0"/>
        </a:xfrm>
      </p:grpSpPr>
      <p:graphicFrame>
        <p:nvGraphicFramePr>
          <p:cNvPr id="257" name="Google Shape;257;p6"/>
          <p:cNvGraphicFramePr/>
          <p:nvPr/>
        </p:nvGraphicFramePr>
        <p:xfrm>
          <a:off x="390697" y="1359549"/>
          <a:ext cx="7245025" cy="8235850"/>
        </p:xfrm>
        <a:graphic>
          <a:graphicData uri="http://schemas.openxmlformats.org/drawingml/2006/table">
            <a:tbl>
              <a:tblPr>
                <a:noFill/>
                <a:tableStyleId>{708157BA-94AC-4061-82BE-E242863FAF11}</a:tableStyleId>
              </a:tblPr>
              <a:tblGrid>
                <a:gridCol w="2752175">
                  <a:extLst>
                    <a:ext uri="{9D8B030D-6E8A-4147-A177-3AD203B41FA5}">
                      <a16:colId xmlns:a16="http://schemas.microsoft.com/office/drawing/2014/main" val="20000"/>
                    </a:ext>
                  </a:extLst>
                </a:gridCol>
                <a:gridCol w="4492850">
                  <a:extLst>
                    <a:ext uri="{9D8B030D-6E8A-4147-A177-3AD203B41FA5}">
                      <a16:colId xmlns:a16="http://schemas.microsoft.com/office/drawing/2014/main" val="20001"/>
                    </a:ext>
                  </a:extLst>
                </a:gridCol>
              </a:tblGrid>
              <a:tr h="553325">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Campo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extLst>
                  <a:ext uri="{0D108BD9-81ED-4DB2-BD59-A6C34878D82A}">
                    <a16:rowId xmlns:a16="http://schemas.microsoft.com/office/drawing/2014/main" val="10000"/>
                  </a:ext>
                </a:extLst>
              </a:tr>
              <a:tr h="5533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CU-03: Consultando ficha de producto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1"/>
                  </a:ext>
                </a:extLst>
              </a:tr>
              <a:tr h="5533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Actor(es)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Gerencia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2"/>
                  </a:ext>
                </a:extLst>
              </a:tr>
              <a:tr h="8087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Resumen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Permite visualizar toda la información técnica, categorías y parámetros de stock de un producto.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3"/>
                  </a:ext>
                </a:extLst>
              </a:tr>
              <a:tr h="5533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Frecuencia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Alta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4"/>
                  </a:ext>
                </a:extLst>
              </a:tr>
              <a:tr h="8047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Precondiciones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producto debe haber sido seleccionado previamente.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5"/>
                  </a:ext>
                </a:extLst>
              </a:tr>
              <a:tr h="15748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usuario solicita ver el detalle del producto, el sistema recupera la ficha completa (Nombre, SKU, Categorías, Unidades, Criticidad, Stocks), el sistema despliega la información en modo lectura [Excepción 1], el usuario finaliza la revisión.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6"/>
                  </a:ext>
                </a:extLst>
              </a:tr>
              <a:tr h="13155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Excepciones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Excepción 1: Error de carga de datos. El sistema solicita refrescar la vista.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7"/>
                  </a:ext>
                </a:extLst>
              </a:tr>
              <a:tr h="8087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Postcondiciones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usuario obtiene la visión completa de los atributos del material.</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8"/>
                  </a:ext>
                </a:extLst>
              </a:tr>
              <a:tr h="71002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Dependencias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300" u="none" strike="noStrike" cap="none">
                          <a:solidFill>
                            <a:srgbClr val="D1D5DB"/>
                          </a:solidFill>
                          <a:latin typeface="Calibri"/>
                          <a:ea typeface="Calibri"/>
                          <a:cs typeface="Calibri"/>
                          <a:sym typeface="Calibri"/>
                        </a:rPr>
                        <a:t>UR 1.1</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9"/>
                  </a:ext>
                </a:extLst>
              </a:tr>
            </a:tbl>
          </a:graphicData>
        </a:graphic>
      </p:graphicFrame>
      <p:grpSp>
        <p:nvGrpSpPr>
          <p:cNvPr id="258" name="Google Shape;258;p6"/>
          <p:cNvGrpSpPr/>
          <p:nvPr/>
        </p:nvGrpSpPr>
        <p:grpSpPr>
          <a:xfrm>
            <a:off x="390697" y="146249"/>
            <a:ext cx="16521745" cy="1062990"/>
            <a:chOff x="0" y="-76200"/>
            <a:chExt cx="22028993" cy="1417320"/>
          </a:xfrm>
        </p:grpSpPr>
        <p:sp>
          <p:nvSpPr>
            <p:cNvPr id="259" name="Google Shape;259;p6"/>
            <p:cNvSpPr/>
            <p:nvPr/>
          </p:nvSpPr>
          <p:spPr>
            <a:xfrm>
              <a:off x="0" y="0"/>
              <a:ext cx="22028993" cy="1341120"/>
            </a:xfrm>
            <a:custGeom>
              <a:avLst/>
              <a:gdLst/>
              <a:ahLst/>
              <a:cxnLst/>
              <a:rect l="l" t="t" r="r" b="b"/>
              <a:pathLst>
                <a:path w="22028993" h="1341120" extrusionOk="0">
                  <a:moveTo>
                    <a:pt x="0" y="0"/>
                  </a:moveTo>
                  <a:lnTo>
                    <a:pt x="22028993" y="0"/>
                  </a:lnTo>
                  <a:lnTo>
                    <a:pt x="22028993" y="1341120"/>
                  </a:lnTo>
                  <a:lnTo>
                    <a:pt x="0" y="1341120"/>
                  </a:lnTo>
                  <a:close/>
                </a:path>
              </a:pathLst>
            </a:custGeom>
            <a:blipFill rotWithShape="1">
              <a:blip r:embed="rId3">
                <a:alphaModFix amt="0"/>
              </a:blip>
              <a:stretch>
                <a:fillRect t="-279467" r="-2942" b="-279467"/>
              </a:stretch>
            </a:blipFill>
            <a:ln>
              <a:noFill/>
            </a:ln>
          </p:spPr>
          <p:txBody>
            <a:bodyPr/>
            <a:lstStyle/>
            <a:p>
              <a:endParaRPr lang="es-CL"/>
            </a:p>
          </p:txBody>
        </p:sp>
        <p:sp>
          <p:nvSpPr>
            <p:cNvPr id="260" name="Google Shape;260;p6"/>
            <p:cNvSpPr txBox="1"/>
            <p:nvPr/>
          </p:nvSpPr>
          <p:spPr>
            <a:xfrm>
              <a:off x="0" y="-76200"/>
              <a:ext cx="22028993"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Caso de Uso: CU-03 y CU-04 asociados al UR 1.1</a:t>
              </a:r>
              <a:endParaRPr/>
            </a:p>
          </p:txBody>
        </p:sp>
      </p:grpSp>
      <p:sp>
        <p:nvSpPr>
          <p:cNvPr id="261" name="Google Shape;261;p6"/>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262" name="Google Shape;262;p6"/>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63" name="Google Shape;263;p6"/>
          <p:cNvGrpSpPr/>
          <p:nvPr/>
        </p:nvGrpSpPr>
        <p:grpSpPr>
          <a:xfrm>
            <a:off x="640080" y="9755505"/>
            <a:ext cx="17007840" cy="430911"/>
            <a:chOff x="0" y="-38100"/>
            <a:chExt cx="22677120" cy="574548"/>
          </a:xfrm>
        </p:grpSpPr>
        <p:sp>
          <p:nvSpPr>
            <p:cNvPr id="264" name="Google Shape;264;p6"/>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265" name="Google Shape;265;p6"/>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aphicFrame>
        <p:nvGraphicFramePr>
          <p:cNvPr id="266" name="Google Shape;266;p6"/>
          <p:cNvGraphicFramePr/>
          <p:nvPr/>
        </p:nvGraphicFramePr>
        <p:xfrm>
          <a:off x="9651809" y="1359549"/>
          <a:ext cx="7260625" cy="8289600"/>
        </p:xfrm>
        <a:graphic>
          <a:graphicData uri="http://schemas.openxmlformats.org/drawingml/2006/table">
            <a:tbl>
              <a:tblPr>
                <a:noFill/>
                <a:tableStyleId>{708157BA-94AC-4061-82BE-E242863FAF11}</a:tableStyleId>
              </a:tblPr>
              <a:tblGrid>
                <a:gridCol w="2758100">
                  <a:extLst>
                    <a:ext uri="{9D8B030D-6E8A-4147-A177-3AD203B41FA5}">
                      <a16:colId xmlns:a16="http://schemas.microsoft.com/office/drawing/2014/main" val="20000"/>
                    </a:ext>
                  </a:extLst>
                </a:gridCol>
                <a:gridCol w="4502525">
                  <a:extLst>
                    <a:ext uri="{9D8B030D-6E8A-4147-A177-3AD203B41FA5}">
                      <a16:colId xmlns:a16="http://schemas.microsoft.com/office/drawing/2014/main" val="20001"/>
                    </a:ext>
                  </a:extLst>
                </a:gridCol>
              </a:tblGrid>
              <a:tr h="567175">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Campo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extLst>
                  <a:ext uri="{0D108BD9-81ED-4DB2-BD59-A6C34878D82A}">
                    <a16:rowId xmlns:a16="http://schemas.microsoft.com/office/drawing/2014/main" val="10000"/>
                  </a:ext>
                </a:extLst>
              </a:tr>
              <a:tr h="567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CU-04: Eliminando producto del sistema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1"/>
                  </a:ext>
                </a:extLst>
              </a:tr>
              <a:tr h="567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Actor(es)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Gerencia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2"/>
                  </a:ext>
                </a:extLst>
              </a:tr>
              <a:tr h="8289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Resumen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Permite remover definitivamente un producto del catálogo maestro.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3"/>
                  </a:ext>
                </a:extLst>
              </a:tr>
              <a:tr h="567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Frecuencia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Baja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4"/>
                  </a:ext>
                </a:extLst>
              </a:tr>
              <a:tr h="8289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Precondiciones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producto debe existir y el usuario debe tener rol de Gerencia.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5"/>
                  </a:ext>
                </a:extLst>
              </a:tr>
              <a:tr h="16143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usuario solicita la eliminación, el sistema verifica si el producto tiene historial de movimientos o stock [Excepción 1], el sistema solicita una confirmación final [Excepción 2], el sistema borra el registro de la base de datos y confirma la acción.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6"/>
                  </a:ext>
                </a:extLst>
              </a:tr>
              <a:tr h="16143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Excepciones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Excepción 1: Producto con movimientos asociados. El sistema impide el borrado por integridad referencial e indica que solo puede "Desactivarse".Excepción 2: Usuario cancela la confirmación. El sistema aborta la eliminación.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7"/>
                  </a:ext>
                </a:extLst>
              </a:tr>
              <a:tr h="567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Postcondiciones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registro desaparece de la base de datos.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8"/>
                  </a:ext>
                </a:extLst>
              </a:tr>
              <a:tr h="567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Dependencias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300" u="none" strike="noStrike" cap="none">
                          <a:solidFill>
                            <a:srgbClr val="D1D5DB"/>
                          </a:solidFill>
                          <a:latin typeface="Calibri"/>
                          <a:ea typeface="Calibri"/>
                          <a:cs typeface="Calibri"/>
                          <a:sym typeface="Calibri"/>
                        </a:rPr>
                        <a:t>UR 1.1</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74"/>
        <p:cNvGrpSpPr/>
        <p:nvPr/>
      </p:nvGrpSpPr>
      <p:grpSpPr>
        <a:xfrm>
          <a:off x="0" y="0"/>
          <a:ext cx="0" cy="0"/>
          <a:chOff x="0" y="0"/>
          <a:chExt cx="0" cy="0"/>
        </a:xfrm>
      </p:grpSpPr>
      <p:sp>
        <p:nvSpPr>
          <p:cNvPr id="275" name="Google Shape;275;p8"/>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276" name="Google Shape;276;p8"/>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77" name="Google Shape;277;p8"/>
          <p:cNvGrpSpPr/>
          <p:nvPr/>
        </p:nvGrpSpPr>
        <p:grpSpPr>
          <a:xfrm>
            <a:off x="640080" y="65284"/>
            <a:ext cx="17493301" cy="1062990"/>
            <a:chOff x="0" y="-76200"/>
            <a:chExt cx="23324401" cy="1417320"/>
          </a:xfrm>
        </p:grpSpPr>
        <p:sp>
          <p:nvSpPr>
            <p:cNvPr id="278" name="Google Shape;278;p8"/>
            <p:cNvSpPr/>
            <p:nvPr/>
          </p:nvSpPr>
          <p:spPr>
            <a:xfrm>
              <a:off x="0" y="0"/>
              <a:ext cx="23324401" cy="1341120"/>
            </a:xfrm>
            <a:custGeom>
              <a:avLst/>
              <a:gdLst/>
              <a:ahLst/>
              <a:cxnLst/>
              <a:rect l="l" t="t" r="r" b="b"/>
              <a:pathLst>
                <a:path w="23324401" h="1341120" extrusionOk="0">
                  <a:moveTo>
                    <a:pt x="0" y="0"/>
                  </a:moveTo>
                  <a:lnTo>
                    <a:pt x="23324401" y="0"/>
                  </a:lnTo>
                  <a:lnTo>
                    <a:pt x="23324401" y="1341120"/>
                  </a:lnTo>
                  <a:lnTo>
                    <a:pt x="0" y="1341120"/>
                  </a:lnTo>
                  <a:close/>
                </a:path>
              </a:pathLst>
            </a:custGeom>
            <a:blipFill rotWithShape="1">
              <a:blip r:embed="rId3">
                <a:alphaModFix amt="0"/>
              </a:blip>
              <a:stretch>
                <a:fillRect t="-279467" r="2775" b="-279467"/>
              </a:stretch>
            </a:blipFill>
            <a:ln>
              <a:noFill/>
            </a:ln>
          </p:spPr>
          <p:txBody>
            <a:bodyPr/>
            <a:lstStyle/>
            <a:p>
              <a:endParaRPr lang="es-CL"/>
            </a:p>
          </p:txBody>
        </p:sp>
        <p:sp>
          <p:nvSpPr>
            <p:cNvPr id="279" name="Google Shape;279;p8"/>
            <p:cNvSpPr txBox="1"/>
            <p:nvPr/>
          </p:nvSpPr>
          <p:spPr>
            <a:xfrm>
              <a:off x="0" y="-76200"/>
              <a:ext cx="23324401"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Caso de Uso: CU-25 · Registrando salidas de inventario, asociado al UR 3.2</a:t>
              </a:r>
              <a:endParaRPr/>
            </a:p>
          </p:txBody>
        </p:sp>
      </p:grpSp>
      <p:grpSp>
        <p:nvGrpSpPr>
          <p:cNvPr id="280" name="Google Shape;280;p8"/>
          <p:cNvGrpSpPr/>
          <p:nvPr/>
        </p:nvGrpSpPr>
        <p:grpSpPr>
          <a:xfrm>
            <a:off x="640080" y="9755505"/>
            <a:ext cx="17007840" cy="430911"/>
            <a:chOff x="0" y="-38100"/>
            <a:chExt cx="22677120" cy="574548"/>
          </a:xfrm>
        </p:grpSpPr>
        <p:sp>
          <p:nvSpPr>
            <p:cNvPr id="281" name="Google Shape;281;p8"/>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282" name="Google Shape;282;p8"/>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aphicFrame>
        <p:nvGraphicFramePr>
          <p:cNvPr id="283" name="Google Shape;283;p8"/>
          <p:cNvGraphicFramePr/>
          <p:nvPr/>
        </p:nvGraphicFramePr>
        <p:xfrm>
          <a:off x="4986903" y="1319095"/>
          <a:ext cx="8314200" cy="7648875"/>
        </p:xfrm>
        <a:graphic>
          <a:graphicData uri="http://schemas.openxmlformats.org/drawingml/2006/table">
            <a:tbl>
              <a:tblPr>
                <a:noFill/>
                <a:tableStyleId>{708157BA-94AC-4061-82BE-E242863FAF11}</a:tableStyleId>
              </a:tblPr>
              <a:tblGrid>
                <a:gridCol w="2505675">
                  <a:extLst>
                    <a:ext uri="{9D8B030D-6E8A-4147-A177-3AD203B41FA5}">
                      <a16:colId xmlns:a16="http://schemas.microsoft.com/office/drawing/2014/main" val="20000"/>
                    </a:ext>
                  </a:extLst>
                </a:gridCol>
                <a:gridCol w="5808525">
                  <a:extLst>
                    <a:ext uri="{9D8B030D-6E8A-4147-A177-3AD203B41FA5}">
                      <a16:colId xmlns:a16="http://schemas.microsoft.com/office/drawing/2014/main" val="20001"/>
                    </a:ext>
                  </a:extLst>
                </a:gridCol>
              </a:tblGrid>
              <a:tr h="607600">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Campo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tc>
                  <a:txBody>
                    <a:bodyPr/>
                    <a:lstStyle/>
                    <a:p>
                      <a:pPr marL="0" marR="0" lvl="0" indent="0" algn="l" rtl="0">
                        <a:lnSpc>
                          <a:spcPct val="120000"/>
                        </a:lnSpc>
                        <a:spcBef>
                          <a:spcPts val="0"/>
                        </a:spcBef>
                        <a:spcAft>
                          <a:spcPts val="0"/>
                        </a:spcAft>
                        <a:buNone/>
                      </a:pPr>
                      <a:r>
                        <a:rPr lang="en-US" sz="1500" b="1" u="none" strike="noStrike" cap="none">
                          <a:solidFill>
                            <a:srgbClr val="FFFFFF"/>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47920"/>
                    </a:solidFill>
                  </a:tcPr>
                </a:tc>
                <a:extLst>
                  <a:ext uri="{0D108BD9-81ED-4DB2-BD59-A6C34878D82A}">
                    <a16:rowId xmlns:a16="http://schemas.microsoft.com/office/drawing/2014/main" val="10000"/>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Nombre</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CU-25: Registrando salidas de inventario</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1"/>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Actor(es)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Gerencia / JOP</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2"/>
                  </a:ext>
                </a:extLst>
              </a:tr>
              <a:tr h="922175">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Resumen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Permite registrar retiros de bodega especificando el motivo para justificar la salida.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3"/>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Frecuencia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Alta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4"/>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Precondiciones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Debe existir stock suficiente en la bodega de origen.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5"/>
                  </a:ext>
                </a:extLst>
              </a:tr>
              <a:tr h="12367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Descripción</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sistema solicita los datos del retiro, usuario ingresa SKU, cantidad y motivo [Exc.1], sistema valida disponibilidad física [Exc.2], descuenta material aplicando lógica FIFO y confirma la salida.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6"/>
                  </a:ext>
                </a:extLst>
              </a:tr>
              <a:tr h="123675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Excepciones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Exc.1: Falta de motivo, sistema informa que es campo obligatorio.</a:t>
                      </a:r>
                      <a:endParaRPr sz="1100" u="none" strike="noStrike" cap="none"/>
                    </a:p>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Exc.2: Stock insuficiente, sistema bloquea el retiro e indica la cantidad máxima disponible.</a:t>
                      </a:r>
                      <a:endParaRPr/>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7"/>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Postcondiciones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El stock disminuye y el movimiento queda registrado para auditoría.</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8"/>
                  </a:ext>
                </a:extLst>
              </a:tr>
              <a:tr h="607600">
                <a:tc>
                  <a:txBody>
                    <a:bodyPr/>
                    <a:lstStyle/>
                    <a:p>
                      <a:pPr marL="0" marR="0" lvl="0" indent="0" algn="l" rtl="0">
                        <a:lnSpc>
                          <a:spcPct val="120000"/>
                        </a:lnSpc>
                        <a:spcBef>
                          <a:spcPts val="0"/>
                        </a:spcBef>
                        <a:spcAft>
                          <a:spcPts val="0"/>
                        </a:spcAft>
                        <a:buNone/>
                      </a:pPr>
                      <a:r>
                        <a:rPr lang="en-US" sz="1500" b="1" u="none" strike="noStrike" cap="none">
                          <a:solidFill>
                            <a:srgbClr val="F47920"/>
                          </a:solidFill>
                          <a:latin typeface="Calibri"/>
                          <a:ea typeface="Calibri"/>
                          <a:cs typeface="Calibri"/>
                          <a:sym typeface="Calibri"/>
                        </a:rPr>
                        <a:t>Dependencias</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E2E2E"/>
                    </a:solidFill>
                  </a:tcPr>
                </a:tc>
                <a:tc>
                  <a:txBody>
                    <a:bodyPr/>
                    <a:lstStyle/>
                    <a:p>
                      <a:pPr marL="0" marR="0" lvl="0" indent="0" algn="l" rtl="0">
                        <a:lnSpc>
                          <a:spcPct val="120000"/>
                        </a:lnSpc>
                        <a:spcBef>
                          <a:spcPts val="0"/>
                        </a:spcBef>
                        <a:spcAft>
                          <a:spcPts val="0"/>
                        </a:spcAft>
                        <a:buNone/>
                      </a:pPr>
                      <a:r>
                        <a:rPr lang="en-US" sz="1500" u="none" strike="noStrike" cap="none">
                          <a:solidFill>
                            <a:srgbClr val="D1D5DB"/>
                          </a:solidFill>
                          <a:latin typeface="Calibri"/>
                          <a:ea typeface="Calibri"/>
                          <a:cs typeface="Calibri"/>
                          <a:sym typeface="Calibri"/>
                        </a:rPr>
                        <a:t>UR 3.2</a:t>
                      </a:r>
                      <a:endParaRPr sz="1100" u="none" strike="noStrike" cap="none"/>
                    </a:p>
                  </a:txBody>
                  <a:tcPr marL="91450" marR="91450" marT="91450" marB="9145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2A2A2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91"/>
        <p:cNvGrpSpPr/>
        <p:nvPr/>
      </p:nvGrpSpPr>
      <p:grpSpPr>
        <a:xfrm>
          <a:off x="0" y="0"/>
          <a:ext cx="0" cy="0"/>
          <a:chOff x="0" y="0"/>
          <a:chExt cx="0" cy="0"/>
        </a:xfrm>
      </p:grpSpPr>
      <p:sp>
        <p:nvSpPr>
          <p:cNvPr id="292" name="Google Shape;292;p10"/>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293" name="Google Shape;293;p10"/>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294" name="Google Shape;294;p10"/>
          <p:cNvGrpSpPr/>
          <p:nvPr/>
        </p:nvGrpSpPr>
        <p:grpSpPr>
          <a:xfrm>
            <a:off x="640080" y="162306"/>
            <a:ext cx="4385861" cy="1062990"/>
            <a:chOff x="0" y="-76200"/>
            <a:chExt cx="5847815" cy="1417320"/>
          </a:xfrm>
        </p:grpSpPr>
        <p:sp>
          <p:nvSpPr>
            <p:cNvPr id="295" name="Google Shape;295;p10"/>
            <p:cNvSpPr/>
            <p:nvPr/>
          </p:nvSpPr>
          <p:spPr>
            <a:xfrm>
              <a:off x="0" y="0"/>
              <a:ext cx="5847815" cy="1341120"/>
            </a:xfrm>
            <a:custGeom>
              <a:avLst/>
              <a:gdLst/>
              <a:ahLst/>
              <a:cxnLst/>
              <a:rect l="l" t="t" r="r" b="b"/>
              <a:pathLst>
                <a:path w="5847815" h="1341120" extrusionOk="0">
                  <a:moveTo>
                    <a:pt x="0" y="0"/>
                  </a:moveTo>
                  <a:lnTo>
                    <a:pt x="5847815" y="0"/>
                  </a:lnTo>
                  <a:lnTo>
                    <a:pt x="5847815" y="1341120"/>
                  </a:lnTo>
                  <a:lnTo>
                    <a:pt x="0" y="1341120"/>
                  </a:lnTo>
                  <a:close/>
                </a:path>
              </a:pathLst>
            </a:custGeom>
            <a:blipFill rotWithShape="1">
              <a:blip r:embed="rId3">
                <a:alphaModFix amt="0"/>
              </a:blip>
              <a:stretch>
                <a:fillRect t="-279467" r="-287792" b="-279467"/>
              </a:stretch>
            </a:blipFill>
            <a:ln>
              <a:noFill/>
            </a:ln>
          </p:spPr>
          <p:txBody>
            <a:bodyPr/>
            <a:lstStyle/>
            <a:p>
              <a:endParaRPr lang="es-CL"/>
            </a:p>
          </p:txBody>
        </p:sp>
        <p:sp>
          <p:nvSpPr>
            <p:cNvPr id="296" name="Google Shape;296;p10"/>
            <p:cNvSpPr txBox="1"/>
            <p:nvPr/>
          </p:nvSpPr>
          <p:spPr>
            <a:xfrm>
              <a:off x="0" y="-76200"/>
              <a:ext cx="5847815"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Modelo Físico</a:t>
              </a:r>
              <a:endParaRPr/>
            </a:p>
          </p:txBody>
        </p:sp>
      </p:grpSp>
      <p:grpSp>
        <p:nvGrpSpPr>
          <p:cNvPr id="297" name="Google Shape;297;p10"/>
          <p:cNvGrpSpPr/>
          <p:nvPr/>
        </p:nvGrpSpPr>
        <p:grpSpPr>
          <a:xfrm>
            <a:off x="640080" y="9755505"/>
            <a:ext cx="17007840" cy="430911"/>
            <a:chOff x="0" y="-38100"/>
            <a:chExt cx="22677120" cy="574548"/>
          </a:xfrm>
        </p:grpSpPr>
        <p:sp>
          <p:nvSpPr>
            <p:cNvPr id="298" name="Google Shape;298;p10"/>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299" name="Google Shape;299;p10"/>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pSp>
        <p:nvGrpSpPr>
          <p:cNvPr id="300" name="Google Shape;300;p10"/>
          <p:cNvGrpSpPr/>
          <p:nvPr/>
        </p:nvGrpSpPr>
        <p:grpSpPr>
          <a:xfrm>
            <a:off x="640080" y="1184701"/>
            <a:ext cx="3115405" cy="755072"/>
            <a:chOff x="0" y="-76200"/>
            <a:chExt cx="5847815" cy="1417320"/>
          </a:xfrm>
        </p:grpSpPr>
        <p:sp>
          <p:nvSpPr>
            <p:cNvPr id="301" name="Google Shape;301;p10"/>
            <p:cNvSpPr/>
            <p:nvPr/>
          </p:nvSpPr>
          <p:spPr>
            <a:xfrm>
              <a:off x="0" y="0"/>
              <a:ext cx="5847815" cy="1341120"/>
            </a:xfrm>
            <a:custGeom>
              <a:avLst/>
              <a:gdLst/>
              <a:ahLst/>
              <a:cxnLst/>
              <a:rect l="l" t="t" r="r" b="b"/>
              <a:pathLst>
                <a:path w="5847815" h="1341120" extrusionOk="0">
                  <a:moveTo>
                    <a:pt x="0" y="0"/>
                  </a:moveTo>
                  <a:lnTo>
                    <a:pt x="5847815" y="0"/>
                  </a:lnTo>
                  <a:lnTo>
                    <a:pt x="5847815" y="1341120"/>
                  </a:lnTo>
                  <a:lnTo>
                    <a:pt x="0" y="1341120"/>
                  </a:lnTo>
                  <a:close/>
                </a:path>
              </a:pathLst>
            </a:custGeom>
            <a:blipFill rotWithShape="1">
              <a:blip r:embed="rId3">
                <a:alphaModFix amt="0"/>
              </a:blip>
              <a:stretch>
                <a:fillRect t="-279467" r="-287792" b="-279467"/>
              </a:stretch>
            </a:blipFill>
            <a:ln>
              <a:noFill/>
            </a:ln>
          </p:spPr>
          <p:txBody>
            <a:bodyPr/>
            <a:lstStyle/>
            <a:p>
              <a:endParaRPr lang="es-CL"/>
            </a:p>
          </p:txBody>
        </p:sp>
        <p:sp>
          <p:nvSpPr>
            <p:cNvPr id="302" name="Google Shape;302;p10"/>
            <p:cNvSpPr txBox="1"/>
            <p:nvPr/>
          </p:nvSpPr>
          <p:spPr>
            <a:xfrm>
              <a:off x="0" y="-76200"/>
              <a:ext cx="5847815"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3500" b="0" i="0" u="none" strike="noStrike" cap="none">
                  <a:solidFill>
                    <a:srgbClr val="FFFFFF"/>
                  </a:solidFill>
                  <a:latin typeface="Calibri"/>
                  <a:ea typeface="Calibri"/>
                  <a:cs typeface="Calibri"/>
                  <a:sym typeface="Calibri"/>
                </a:rPr>
                <a:t>Tabla MATERIAL</a:t>
              </a:r>
              <a:endParaRPr/>
            </a:p>
          </p:txBody>
        </p:sp>
      </p:grpSp>
      <p:sp>
        <p:nvSpPr>
          <p:cNvPr id="303" name="Google Shape;303;p10"/>
          <p:cNvSpPr/>
          <p:nvPr/>
        </p:nvSpPr>
        <p:spPr>
          <a:xfrm>
            <a:off x="4368857" y="1582535"/>
            <a:ext cx="9550285" cy="7542048"/>
          </a:xfrm>
          <a:custGeom>
            <a:avLst/>
            <a:gdLst/>
            <a:ahLst/>
            <a:cxnLst/>
            <a:rect l="l" t="t" r="r" b="b"/>
            <a:pathLst>
              <a:path w="9550285" h="7542048" extrusionOk="0">
                <a:moveTo>
                  <a:pt x="0" y="0"/>
                </a:moveTo>
                <a:lnTo>
                  <a:pt x="9550286" y="0"/>
                </a:lnTo>
                <a:lnTo>
                  <a:pt x="9550286" y="7542047"/>
                </a:lnTo>
                <a:lnTo>
                  <a:pt x="0" y="7542047"/>
                </a:lnTo>
                <a:lnTo>
                  <a:pt x="0" y="0"/>
                </a:lnTo>
                <a:close/>
              </a:path>
            </a:pathLst>
          </a:custGeom>
          <a:blipFill rotWithShape="1">
            <a:blip r:embed="rId4">
              <a:alphaModFix/>
            </a:blip>
            <a:stretch>
              <a:fillRect/>
            </a:stretch>
          </a:blipFill>
          <a:ln>
            <a:noFill/>
          </a:ln>
        </p:spPr>
        <p:txBody>
          <a:bodyPr/>
          <a:lstStyle/>
          <a:p>
            <a:endParaRPr lang="es-C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11"/>
        <p:cNvGrpSpPr/>
        <p:nvPr/>
      </p:nvGrpSpPr>
      <p:grpSpPr>
        <a:xfrm>
          <a:off x="0" y="0"/>
          <a:ext cx="0" cy="0"/>
          <a:chOff x="0" y="0"/>
          <a:chExt cx="0" cy="0"/>
        </a:xfrm>
      </p:grpSpPr>
      <p:sp>
        <p:nvSpPr>
          <p:cNvPr id="312" name="Google Shape;312;p11"/>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313" name="Google Shape;313;p11"/>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14" name="Google Shape;314;p11"/>
          <p:cNvGrpSpPr/>
          <p:nvPr/>
        </p:nvGrpSpPr>
        <p:grpSpPr>
          <a:xfrm>
            <a:off x="640080" y="162306"/>
            <a:ext cx="4385861" cy="1062990"/>
            <a:chOff x="0" y="-76200"/>
            <a:chExt cx="5847815" cy="1417320"/>
          </a:xfrm>
        </p:grpSpPr>
        <p:sp>
          <p:nvSpPr>
            <p:cNvPr id="315" name="Google Shape;315;p11"/>
            <p:cNvSpPr/>
            <p:nvPr/>
          </p:nvSpPr>
          <p:spPr>
            <a:xfrm>
              <a:off x="0" y="0"/>
              <a:ext cx="5847815" cy="1341120"/>
            </a:xfrm>
            <a:custGeom>
              <a:avLst/>
              <a:gdLst/>
              <a:ahLst/>
              <a:cxnLst/>
              <a:rect l="l" t="t" r="r" b="b"/>
              <a:pathLst>
                <a:path w="5847815" h="1341120" extrusionOk="0">
                  <a:moveTo>
                    <a:pt x="0" y="0"/>
                  </a:moveTo>
                  <a:lnTo>
                    <a:pt x="5847815" y="0"/>
                  </a:lnTo>
                  <a:lnTo>
                    <a:pt x="5847815" y="1341120"/>
                  </a:lnTo>
                  <a:lnTo>
                    <a:pt x="0" y="1341120"/>
                  </a:lnTo>
                  <a:close/>
                </a:path>
              </a:pathLst>
            </a:custGeom>
            <a:blipFill rotWithShape="1">
              <a:blip r:embed="rId3">
                <a:alphaModFix amt="0"/>
              </a:blip>
              <a:stretch>
                <a:fillRect t="-279467" r="-287792" b="-279467"/>
              </a:stretch>
            </a:blipFill>
            <a:ln>
              <a:noFill/>
            </a:ln>
          </p:spPr>
          <p:txBody>
            <a:bodyPr/>
            <a:lstStyle/>
            <a:p>
              <a:endParaRPr lang="es-CL"/>
            </a:p>
          </p:txBody>
        </p:sp>
        <p:sp>
          <p:nvSpPr>
            <p:cNvPr id="316" name="Google Shape;316;p11"/>
            <p:cNvSpPr txBox="1"/>
            <p:nvPr/>
          </p:nvSpPr>
          <p:spPr>
            <a:xfrm>
              <a:off x="0" y="-76200"/>
              <a:ext cx="5847815"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i="0" u="none" strike="noStrike" cap="none">
                  <a:solidFill>
                    <a:srgbClr val="FFFFFF"/>
                  </a:solidFill>
                  <a:latin typeface="Calibri"/>
                  <a:ea typeface="Calibri"/>
                  <a:cs typeface="Calibri"/>
                  <a:sym typeface="Calibri"/>
                </a:rPr>
                <a:t>Modelo Físico</a:t>
              </a:r>
              <a:endParaRPr/>
            </a:p>
          </p:txBody>
        </p:sp>
      </p:grpSp>
      <p:grpSp>
        <p:nvGrpSpPr>
          <p:cNvPr id="317" name="Google Shape;317;p11"/>
          <p:cNvGrpSpPr/>
          <p:nvPr/>
        </p:nvGrpSpPr>
        <p:grpSpPr>
          <a:xfrm>
            <a:off x="640080" y="9755505"/>
            <a:ext cx="17007840" cy="430911"/>
            <a:chOff x="0" y="-38100"/>
            <a:chExt cx="22677120" cy="574548"/>
          </a:xfrm>
        </p:grpSpPr>
        <p:sp>
          <p:nvSpPr>
            <p:cNvPr id="318" name="Google Shape;318;p11"/>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319" name="Google Shape;319;p11"/>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pSp>
        <p:nvGrpSpPr>
          <p:cNvPr id="320" name="Google Shape;320;p11"/>
          <p:cNvGrpSpPr/>
          <p:nvPr/>
        </p:nvGrpSpPr>
        <p:grpSpPr>
          <a:xfrm>
            <a:off x="640080" y="1184701"/>
            <a:ext cx="9469704" cy="755072"/>
            <a:chOff x="0" y="-76200"/>
            <a:chExt cx="17775241" cy="1417320"/>
          </a:xfrm>
        </p:grpSpPr>
        <p:sp>
          <p:nvSpPr>
            <p:cNvPr id="321" name="Google Shape;321;p11"/>
            <p:cNvSpPr/>
            <p:nvPr/>
          </p:nvSpPr>
          <p:spPr>
            <a:xfrm>
              <a:off x="0" y="0"/>
              <a:ext cx="17775241" cy="1341120"/>
            </a:xfrm>
            <a:custGeom>
              <a:avLst/>
              <a:gdLst/>
              <a:ahLst/>
              <a:cxnLst/>
              <a:rect l="l" t="t" r="r" b="b"/>
              <a:pathLst>
                <a:path w="17775241" h="1341120" extrusionOk="0">
                  <a:moveTo>
                    <a:pt x="0" y="0"/>
                  </a:moveTo>
                  <a:lnTo>
                    <a:pt x="17775241" y="0"/>
                  </a:lnTo>
                  <a:lnTo>
                    <a:pt x="17775241" y="1341120"/>
                  </a:lnTo>
                  <a:lnTo>
                    <a:pt x="0" y="1341120"/>
                  </a:lnTo>
                  <a:close/>
                </a:path>
              </a:pathLst>
            </a:custGeom>
            <a:blipFill rotWithShape="1">
              <a:blip r:embed="rId3">
                <a:alphaModFix amt="0"/>
              </a:blip>
              <a:stretch>
                <a:fillRect t="-279467" r="-27577" b="-279467"/>
              </a:stretch>
            </a:blipFill>
            <a:ln>
              <a:noFill/>
            </a:ln>
          </p:spPr>
          <p:txBody>
            <a:bodyPr/>
            <a:lstStyle/>
            <a:p>
              <a:endParaRPr lang="es-CL"/>
            </a:p>
          </p:txBody>
        </p:sp>
        <p:sp>
          <p:nvSpPr>
            <p:cNvPr id="322" name="Google Shape;322;p11"/>
            <p:cNvSpPr txBox="1"/>
            <p:nvPr/>
          </p:nvSpPr>
          <p:spPr>
            <a:xfrm>
              <a:off x="0" y="-76200"/>
              <a:ext cx="17775240"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3500" b="0" i="0" u="none" strike="noStrike" cap="none">
                  <a:solidFill>
                    <a:srgbClr val="FFFFFF"/>
                  </a:solidFill>
                  <a:latin typeface="Calibri"/>
                  <a:ea typeface="Calibri"/>
                  <a:cs typeface="Calibri"/>
                  <a:sym typeface="Calibri"/>
                </a:rPr>
                <a:t>Tabla Movimiento_Inventario_Clasificación_Salida</a:t>
              </a:r>
              <a:endParaRPr/>
            </a:p>
          </p:txBody>
        </p:sp>
      </p:grpSp>
      <p:sp>
        <p:nvSpPr>
          <p:cNvPr id="323" name="Google Shape;323;p11"/>
          <p:cNvSpPr/>
          <p:nvPr/>
        </p:nvSpPr>
        <p:spPr>
          <a:xfrm>
            <a:off x="1371050" y="2296086"/>
            <a:ext cx="15545899" cy="7131681"/>
          </a:xfrm>
          <a:custGeom>
            <a:avLst/>
            <a:gdLst/>
            <a:ahLst/>
            <a:cxnLst/>
            <a:rect l="l" t="t" r="r" b="b"/>
            <a:pathLst>
              <a:path w="15545899" h="7131681" extrusionOk="0">
                <a:moveTo>
                  <a:pt x="0" y="0"/>
                </a:moveTo>
                <a:lnTo>
                  <a:pt x="15545900" y="0"/>
                </a:lnTo>
                <a:lnTo>
                  <a:pt x="15545900" y="7131681"/>
                </a:lnTo>
                <a:lnTo>
                  <a:pt x="0" y="7131681"/>
                </a:lnTo>
                <a:lnTo>
                  <a:pt x="0" y="0"/>
                </a:lnTo>
                <a:close/>
              </a:path>
            </a:pathLst>
          </a:custGeom>
          <a:blipFill rotWithShape="1">
            <a:blip r:embed="rId4">
              <a:alphaModFix/>
            </a:blip>
            <a:stretch>
              <a:fillRect/>
            </a:stretch>
          </a:blipFill>
          <a:ln>
            <a:noFill/>
          </a:ln>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31"/>
        <p:cNvGrpSpPr/>
        <p:nvPr/>
      </p:nvGrpSpPr>
      <p:grpSpPr>
        <a:xfrm>
          <a:off x="0" y="0"/>
          <a:ext cx="0" cy="0"/>
          <a:chOff x="0" y="0"/>
          <a:chExt cx="0" cy="0"/>
        </a:xfrm>
      </p:grpSpPr>
      <p:sp>
        <p:nvSpPr>
          <p:cNvPr id="332" name="Google Shape;332;p9"/>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333" name="Google Shape;333;p9"/>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34" name="Google Shape;334;p9"/>
          <p:cNvGrpSpPr/>
          <p:nvPr/>
        </p:nvGrpSpPr>
        <p:grpSpPr>
          <a:xfrm>
            <a:off x="640080" y="162306"/>
            <a:ext cx="17007840" cy="1062990"/>
            <a:chOff x="0" y="-76200"/>
            <a:chExt cx="22677120" cy="1417320"/>
          </a:xfrm>
        </p:grpSpPr>
        <p:sp>
          <p:nvSpPr>
            <p:cNvPr id="335" name="Google Shape;335;p9"/>
            <p:cNvSpPr/>
            <p:nvPr/>
          </p:nvSpPr>
          <p:spPr>
            <a:xfrm>
              <a:off x="0" y="0"/>
              <a:ext cx="22677120" cy="1341120"/>
            </a:xfrm>
            <a:custGeom>
              <a:avLst/>
              <a:gdLst/>
              <a:ahLst/>
              <a:cxnLst/>
              <a:rect l="l" t="t" r="r" b="b"/>
              <a:pathLst>
                <a:path w="22677120" h="1341120" extrusionOk="0">
                  <a:moveTo>
                    <a:pt x="0" y="0"/>
                  </a:moveTo>
                  <a:lnTo>
                    <a:pt x="22677120" y="0"/>
                  </a:lnTo>
                  <a:lnTo>
                    <a:pt x="22677120" y="1341120"/>
                  </a:lnTo>
                  <a:lnTo>
                    <a:pt x="0" y="1341120"/>
                  </a:lnTo>
                  <a:close/>
                </a:path>
              </a:pathLst>
            </a:custGeom>
            <a:blipFill rotWithShape="1">
              <a:blip r:embed="rId3">
                <a:alphaModFix amt="0"/>
              </a:blip>
              <a:stretch>
                <a:fillRect t="-279467" b="-279467"/>
              </a:stretch>
            </a:blipFill>
            <a:ln>
              <a:noFill/>
            </a:ln>
          </p:spPr>
          <p:txBody>
            <a:bodyPr/>
            <a:lstStyle/>
            <a:p>
              <a:endParaRPr lang="es-CL"/>
            </a:p>
          </p:txBody>
        </p:sp>
        <p:sp>
          <p:nvSpPr>
            <p:cNvPr id="336" name="Google Shape;336;p9"/>
            <p:cNvSpPr txBox="1"/>
            <p:nvPr/>
          </p:nvSpPr>
          <p:spPr>
            <a:xfrm>
              <a:off x="0" y="-76200"/>
              <a:ext cx="22677120"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MVC</a:t>
              </a:r>
              <a:endParaRPr/>
            </a:p>
          </p:txBody>
        </p:sp>
      </p:grpSp>
      <p:grpSp>
        <p:nvGrpSpPr>
          <p:cNvPr id="337" name="Google Shape;337;p9"/>
          <p:cNvGrpSpPr/>
          <p:nvPr/>
        </p:nvGrpSpPr>
        <p:grpSpPr>
          <a:xfrm>
            <a:off x="640080" y="9755505"/>
            <a:ext cx="17007840" cy="430911"/>
            <a:chOff x="0" y="-38100"/>
            <a:chExt cx="22677120" cy="574548"/>
          </a:xfrm>
        </p:grpSpPr>
        <p:sp>
          <p:nvSpPr>
            <p:cNvPr id="338" name="Google Shape;338;p9"/>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339" name="Google Shape;339;p9"/>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pic>
        <p:nvPicPr>
          <p:cNvPr id="340" name="Google Shape;340;p9" title="Copia de MVC.drawio.png"/>
          <p:cNvPicPr preferRelativeResize="0"/>
          <p:nvPr/>
        </p:nvPicPr>
        <p:blipFill>
          <a:blip r:embed="rId4">
            <a:alphaModFix/>
          </a:blip>
          <a:stretch>
            <a:fillRect/>
          </a:stretch>
        </p:blipFill>
        <p:spPr>
          <a:xfrm>
            <a:off x="640079" y="1225302"/>
            <a:ext cx="17402348" cy="8521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44"/>
        <p:cNvGrpSpPr/>
        <p:nvPr/>
      </p:nvGrpSpPr>
      <p:grpSpPr>
        <a:xfrm>
          <a:off x="0" y="0"/>
          <a:ext cx="0" cy="0"/>
          <a:chOff x="0" y="0"/>
          <a:chExt cx="0" cy="0"/>
        </a:xfrm>
      </p:grpSpPr>
      <p:grpSp>
        <p:nvGrpSpPr>
          <p:cNvPr id="345" name="Google Shape;345;p7"/>
          <p:cNvGrpSpPr/>
          <p:nvPr/>
        </p:nvGrpSpPr>
        <p:grpSpPr>
          <a:xfrm>
            <a:off x="640080" y="468630"/>
            <a:ext cx="9041611" cy="1062990"/>
            <a:chOff x="0" y="-76200"/>
            <a:chExt cx="12055481" cy="1417320"/>
          </a:xfrm>
        </p:grpSpPr>
        <p:sp>
          <p:nvSpPr>
            <p:cNvPr id="346" name="Google Shape;346;p7"/>
            <p:cNvSpPr/>
            <p:nvPr/>
          </p:nvSpPr>
          <p:spPr>
            <a:xfrm>
              <a:off x="0" y="0"/>
              <a:ext cx="12055481" cy="1341120"/>
            </a:xfrm>
            <a:custGeom>
              <a:avLst/>
              <a:gdLst/>
              <a:ahLst/>
              <a:cxnLst/>
              <a:rect l="l" t="t" r="r" b="b"/>
              <a:pathLst>
                <a:path w="12055481" h="1341120" extrusionOk="0">
                  <a:moveTo>
                    <a:pt x="0" y="0"/>
                  </a:moveTo>
                  <a:lnTo>
                    <a:pt x="12055481" y="0"/>
                  </a:lnTo>
                  <a:lnTo>
                    <a:pt x="12055481" y="1341120"/>
                  </a:lnTo>
                  <a:lnTo>
                    <a:pt x="0" y="1341120"/>
                  </a:lnTo>
                  <a:close/>
                </a:path>
              </a:pathLst>
            </a:custGeom>
            <a:blipFill rotWithShape="1">
              <a:blip r:embed="rId3">
                <a:alphaModFix amt="0"/>
              </a:blip>
              <a:stretch>
                <a:fillRect t="-279467" r="-88104" b="-279467"/>
              </a:stretch>
            </a:blipFill>
            <a:ln>
              <a:noFill/>
            </a:ln>
          </p:spPr>
          <p:txBody>
            <a:bodyPr/>
            <a:lstStyle/>
            <a:p>
              <a:endParaRPr lang="es-CL"/>
            </a:p>
          </p:txBody>
        </p:sp>
        <p:sp>
          <p:nvSpPr>
            <p:cNvPr id="347" name="Google Shape;347;p7"/>
            <p:cNvSpPr txBox="1"/>
            <p:nvPr/>
          </p:nvSpPr>
          <p:spPr>
            <a:xfrm>
              <a:off x="0" y="-76200"/>
              <a:ext cx="12055481" cy="14173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Árbol de Navegación</a:t>
              </a:r>
              <a:endParaRPr/>
            </a:p>
          </p:txBody>
        </p:sp>
      </p:grpSp>
      <p:sp>
        <p:nvSpPr>
          <p:cNvPr id="348" name="Google Shape;348;p7"/>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349" name="Google Shape;349;p7"/>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50" name="Google Shape;350;p7"/>
          <p:cNvGrpSpPr/>
          <p:nvPr/>
        </p:nvGrpSpPr>
        <p:grpSpPr>
          <a:xfrm>
            <a:off x="640080" y="9755505"/>
            <a:ext cx="17007840" cy="430911"/>
            <a:chOff x="0" y="-38100"/>
            <a:chExt cx="22677120" cy="574548"/>
          </a:xfrm>
        </p:grpSpPr>
        <p:sp>
          <p:nvSpPr>
            <p:cNvPr id="351" name="Google Shape;351;p7"/>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352" name="Google Shape;352;p7"/>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pic>
        <p:nvPicPr>
          <p:cNvPr id="353" name="Google Shape;353;p7" title="Copia de Arbol de navegacion - Grupo 14-ARBOL.drawio.png"/>
          <p:cNvPicPr preferRelativeResize="0"/>
          <p:nvPr/>
        </p:nvPicPr>
        <p:blipFill>
          <a:blip r:embed="rId4">
            <a:alphaModFix/>
          </a:blip>
          <a:stretch>
            <a:fillRect/>
          </a:stretch>
        </p:blipFill>
        <p:spPr>
          <a:xfrm>
            <a:off x="378228" y="2341645"/>
            <a:ext cx="17751009" cy="44724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61"/>
        <p:cNvGrpSpPr/>
        <p:nvPr/>
      </p:nvGrpSpPr>
      <p:grpSpPr>
        <a:xfrm>
          <a:off x="0" y="0"/>
          <a:ext cx="0" cy="0"/>
          <a:chOff x="0" y="0"/>
          <a:chExt cx="0" cy="0"/>
        </a:xfrm>
      </p:grpSpPr>
      <p:sp>
        <p:nvSpPr>
          <p:cNvPr id="362" name="Google Shape;362;p13"/>
          <p:cNvSpPr/>
          <p:nvPr/>
        </p:nvSpPr>
        <p:spPr>
          <a:xfrm>
            <a:off x="-12697" y="-12697"/>
            <a:ext cx="354615" cy="10312432"/>
          </a:xfrm>
          <a:custGeom>
            <a:avLst/>
            <a:gdLst/>
            <a:ahLst/>
            <a:cxnLst/>
            <a:rect l="l" t="t" r="r" b="b"/>
            <a:pathLst>
              <a:path w="472821" h="13749910" extrusionOk="0">
                <a:moveTo>
                  <a:pt x="0" y="0"/>
                </a:moveTo>
                <a:lnTo>
                  <a:pt x="472821" y="0"/>
                </a:lnTo>
                <a:lnTo>
                  <a:pt x="472821"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63" name="Google Shape;363;p13"/>
          <p:cNvGrpSpPr/>
          <p:nvPr/>
        </p:nvGrpSpPr>
        <p:grpSpPr>
          <a:xfrm>
            <a:off x="914400" y="2108835"/>
            <a:ext cx="16824960" cy="1091565"/>
            <a:chOff x="0" y="-114300"/>
            <a:chExt cx="22433280" cy="1455420"/>
          </a:xfrm>
        </p:grpSpPr>
        <p:sp>
          <p:nvSpPr>
            <p:cNvPr id="364" name="Google Shape;364;p13"/>
            <p:cNvSpPr/>
            <p:nvPr/>
          </p:nvSpPr>
          <p:spPr>
            <a:xfrm>
              <a:off x="0" y="0"/>
              <a:ext cx="22433280" cy="1341120"/>
            </a:xfrm>
            <a:custGeom>
              <a:avLst/>
              <a:gdLst/>
              <a:ahLst/>
              <a:cxnLst/>
              <a:rect l="l" t="t" r="r" b="b"/>
              <a:pathLst>
                <a:path w="22433280" h="1341120" extrusionOk="0">
                  <a:moveTo>
                    <a:pt x="0" y="0"/>
                  </a:moveTo>
                  <a:lnTo>
                    <a:pt x="22433280" y="0"/>
                  </a:lnTo>
                  <a:lnTo>
                    <a:pt x="22433280" y="1341120"/>
                  </a:lnTo>
                  <a:lnTo>
                    <a:pt x="0" y="1341120"/>
                  </a:lnTo>
                  <a:close/>
                </a:path>
              </a:pathLst>
            </a:custGeom>
            <a:blipFill rotWithShape="1">
              <a:blip r:embed="rId3">
                <a:alphaModFix amt="0"/>
              </a:blip>
              <a:stretch>
                <a:fillRect t="-275945" b="-275945"/>
              </a:stretch>
            </a:blipFill>
            <a:ln>
              <a:noFill/>
            </a:ln>
          </p:spPr>
          <p:txBody>
            <a:bodyPr/>
            <a:lstStyle/>
            <a:p>
              <a:endParaRPr lang="es-CL"/>
            </a:p>
          </p:txBody>
        </p:sp>
        <p:sp>
          <p:nvSpPr>
            <p:cNvPr id="365" name="Google Shape;365;p13"/>
            <p:cNvSpPr txBox="1"/>
            <p:nvPr/>
          </p:nvSpPr>
          <p:spPr>
            <a:xfrm>
              <a:off x="0" y="-114300"/>
              <a:ext cx="22433280" cy="1455420"/>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0" i="0" u="none" strike="noStrike" cap="none">
                  <a:solidFill>
                    <a:srgbClr val="9CA3AF"/>
                  </a:solidFill>
                  <a:latin typeface="Calibri"/>
                  <a:ea typeface="Calibri"/>
                  <a:cs typeface="Calibri"/>
                  <a:sym typeface="Calibri"/>
                </a:rPr>
                <a:t>A continuación,</a:t>
              </a:r>
              <a:endParaRPr/>
            </a:p>
          </p:txBody>
        </p:sp>
      </p:grpSp>
      <p:grpSp>
        <p:nvGrpSpPr>
          <p:cNvPr id="366" name="Google Shape;366;p13"/>
          <p:cNvGrpSpPr/>
          <p:nvPr/>
        </p:nvGrpSpPr>
        <p:grpSpPr>
          <a:xfrm>
            <a:off x="914400" y="3057525"/>
            <a:ext cx="16824960" cy="2886075"/>
            <a:chOff x="0" y="-190500"/>
            <a:chExt cx="22433280" cy="3848100"/>
          </a:xfrm>
        </p:grpSpPr>
        <p:sp>
          <p:nvSpPr>
            <p:cNvPr id="367" name="Google Shape;367;p13"/>
            <p:cNvSpPr/>
            <p:nvPr/>
          </p:nvSpPr>
          <p:spPr>
            <a:xfrm>
              <a:off x="0" y="0"/>
              <a:ext cx="22433280" cy="3657600"/>
            </a:xfrm>
            <a:custGeom>
              <a:avLst/>
              <a:gdLst/>
              <a:ahLst/>
              <a:cxnLst/>
              <a:rect l="l" t="t" r="r" b="b"/>
              <a:pathLst>
                <a:path w="22433280" h="3657600" extrusionOk="0">
                  <a:moveTo>
                    <a:pt x="0" y="0"/>
                  </a:moveTo>
                  <a:lnTo>
                    <a:pt x="22433280" y="0"/>
                  </a:lnTo>
                  <a:lnTo>
                    <a:pt x="22433280" y="3657600"/>
                  </a:lnTo>
                  <a:lnTo>
                    <a:pt x="0" y="3657600"/>
                  </a:lnTo>
                  <a:close/>
                </a:path>
              </a:pathLst>
            </a:custGeom>
            <a:blipFill rotWithShape="1">
              <a:blip r:embed="rId3">
                <a:alphaModFix amt="0"/>
              </a:blip>
              <a:stretch>
                <a:fillRect t="-69509" b="-69509"/>
              </a:stretch>
            </a:blipFill>
            <a:ln>
              <a:noFill/>
            </a:ln>
          </p:spPr>
          <p:txBody>
            <a:bodyPr/>
            <a:lstStyle/>
            <a:p>
              <a:endParaRPr lang="es-CL"/>
            </a:p>
          </p:txBody>
        </p:sp>
        <p:sp>
          <p:nvSpPr>
            <p:cNvPr id="368" name="Google Shape;368;p13"/>
            <p:cNvSpPr txBox="1"/>
            <p:nvPr/>
          </p:nvSpPr>
          <p:spPr>
            <a:xfrm>
              <a:off x="0" y="-190500"/>
              <a:ext cx="22433280" cy="3848100"/>
            </a:xfrm>
            <a:prstGeom prst="rect">
              <a:avLst/>
            </a:prstGeom>
            <a:noFill/>
            <a:ln>
              <a:noFill/>
            </a:ln>
          </p:spPr>
          <p:txBody>
            <a:bodyPr spcFirstLastPara="1" wrap="square" lIns="0" tIns="0" rIns="0" bIns="0" anchor="ctr" anchorCtr="0">
              <a:noAutofit/>
            </a:bodyPr>
            <a:lstStyle/>
            <a:p>
              <a:pPr marL="0" marR="0" lvl="0" indent="0" algn="l" rtl="0">
                <a:lnSpc>
                  <a:spcPct val="119989"/>
                </a:lnSpc>
                <a:spcBef>
                  <a:spcPts val="0"/>
                </a:spcBef>
                <a:spcAft>
                  <a:spcPts val="0"/>
                </a:spcAft>
                <a:buNone/>
              </a:pPr>
              <a:r>
                <a:rPr lang="en-US" sz="9600" b="1" i="0" u="none" strike="noStrike" cap="none">
                  <a:solidFill>
                    <a:srgbClr val="FFFFFF"/>
                  </a:solidFill>
                  <a:latin typeface="Calibri"/>
                  <a:ea typeface="Calibri"/>
                  <a:cs typeface="Calibri"/>
                  <a:sym typeface="Calibri"/>
                </a:rPr>
                <a:t>demostración del</a:t>
              </a:r>
              <a:endParaRPr/>
            </a:p>
            <a:p>
              <a:pPr marL="0" marR="0" lvl="0" indent="0" algn="l" rtl="0">
                <a:lnSpc>
                  <a:spcPct val="119989"/>
                </a:lnSpc>
                <a:spcBef>
                  <a:spcPts val="0"/>
                </a:spcBef>
                <a:spcAft>
                  <a:spcPts val="0"/>
                </a:spcAft>
                <a:buNone/>
              </a:pPr>
              <a:r>
                <a:rPr lang="en-US" sz="9600" b="1" i="0" u="none" strike="noStrike" cap="none">
                  <a:solidFill>
                    <a:srgbClr val="FFFFFF"/>
                  </a:solidFill>
                  <a:latin typeface="Calibri"/>
                  <a:ea typeface="Calibri"/>
                  <a:cs typeface="Calibri"/>
                  <a:sym typeface="Calibri"/>
                </a:rPr>
                <a:t>sistema web</a:t>
              </a:r>
              <a:endParaRPr/>
            </a:p>
          </p:txBody>
        </p:sp>
      </p:grpSp>
      <p:sp>
        <p:nvSpPr>
          <p:cNvPr id="369" name="Google Shape;369;p13"/>
          <p:cNvSpPr/>
          <p:nvPr/>
        </p:nvSpPr>
        <p:spPr>
          <a:xfrm>
            <a:off x="901703" y="6022343"/>
            <a:ext cx="6426231" cy="116871"/>
          </a:xfrm>
          <a:custGeom>
            <a:avLst/>
            <a:gdLst/>
            <a:ahLst/>
            <a:cxnLst/>
            <a:rect l="l" t="t" r="r" b="b"/>
            <a:pathLst>
              <a:path w="8568309" h="155829" extrusionOk="0">
                <a:moveTo>
                  <a:pt x="0" y="0"/>
                </a:moveTo>
                <a:lnTo>
                  <a:pt x="8568309" y="0"/>
                </a:lnTo>
                <a:lnTo>
                  <a:pt x="8568309" y="155829"/>
                </a:lnTo>
                <a:lnTo>
                  <a:pt x="0" y="155829"/>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70" name="Google Shape;370;p13"/>
          <p:cNvGrpSpPr/>
          <p:nvPr/>
        </p:nvGrpSpPr>
        <p:grpSpPr>
          <a:xfrm>
            <a:off x="914400" y="6266498"/>
            <a:ext cx="16824960" cy="682942"/>
            <a:chOff x="0" y="-57150"/>
            <a:chExt cx="22433280" cy="910590"/>
          </a:xfrm>
        </p:grpSpPr>
        <p:sp>
          <p:nvSpPr>
            <p:cNvPr id="371" name="Google Shape;371;p13"/>
            <p:cNvSpPr/>
            <p:nvPr/>
          </p:nvSpPr>
          <p:spPr>
            <a:xfrm>
              <a:off x="0" y="0"/>
              <a:ext cx="22433280" cy="853440"/>
            </a:xfrm>
            <a:custGeom>
              <a:avLst/>
              <a:gdLst/>
              <a:ahLst/>
              <a:cxnLst/>
              <a:rect l="l" t="t" r="r" b="b"/>
              <a:pathLst>
                <a:path w="22433280" h="853440" extrusionOk="0">
                  <a:moveTo>
                    <a:pt x="0" y="0"/>
                  </a:moveTo>
                  <a:lnTo>
                    <a:pt x="22433280" y="0"/>
                  </a:lnTo>
                  <a:lnTo>
                    <a:pt x="22433280" y="853440"/>
                  </a:lnTo>
                  <a:lnTo>
                    <a:pt x="0" y="853440"/>
                  </a:lnTo>
                  <a:close/>
                </a:path>
              </a:pathLst>
            </a:custGeom>
            <a:blipFill rotWithShape="1">
              <a:blip r:embed="rId3">
                <a:alphaModFix amt="0"/>
              </a:blip>
              <a:stretch>
                <a:fillRect t="-462190" b="-462190"/>
              </a:stretch>
            </a:blipFill>
            <a:ln>
              <a:noFill/>
            </a:ln>
          </p:spPr>
          <p:txBody>
            <a:bodyPr/>
            <a:lstStyle/>
            <a:p>
              <a:endParaRPr lang="es-CL"/>
            </a:p>
          </p:txBody>
        </p:sp>
        <p:sp>
          <p:nvSpPr>
            <p:cNvPr id="372" name="Google Shape;372;p13"/>
            <p:cNvSpPr txBox="1"/>
            <p:nvPr/>
          </p:nvSpPr>
          <p:spPr>
            <a:xfrm>
              <a:off x="0" y="-57150"/>
              <a:ext cx="22433280" cy="91059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0" i="0" u="none" strike="noStrike" cap="none">
                  <a:solidFill>
                    <a:srgbClr val="F47920"/>
                  </a:solidFill>
                  <a:latin typeface="Calibri"/>
                  <a:ea typeface="Calibri"/>
                  <a:cs typeface="Calibri"/>
                  <a:sym typeface="Calibri"/>
                </a:rPr>
                <a:t>Puertas Blindadas · Sistema de Inventario</a:t>
              </a:r>
              <a:endParaRPr/>
            </a:p>
          </p:txBody>
        </p:sp>
      </p:grpSp>
      <p:sp>
        <p:nvSpPr>
          <p:cNvPr id="373" name="Google Shape;373;p13"/>
          <p:cNvSpPr/>
          <p:nvPr/>
        </p:nvSpPr>
        <p:spPr>
          <a:xfrm>
            <a:off x="14251943" y="2730503"/>
            <a:ext cx="2768631" cy="2768631"/>
          </a:xfrm>
          <a:custGeom>
            <a:avLst/>
            <a:gdLst/>
            <a:ahLst/>
            <a:cxnLst/>
            <a:rect l="l" t="t" r="r" b="b"/>
            <a:pathLst>
              <a:path w="3691509" h="3691509" extrusionOk="0">
                <a:moveTo>
                  <a:pt x="0" y="1845691"/>
                </a:moveTo>
                <a:cubicBezTo>
                  <a:pt x="0" y="826389"/>
                  <a:pt x="826389" y="0"/>
                  <a:pt x="1845691" y="0"/>
                </a:cubicBezTo>
                <a:cubicBezTo>
                  <a:pt x="2864993" y="0"/>
                  <a:pt x="3691509" y="826389"/>
                  <a:pt x="3691509" y="1845691"/>
                </a:cubicBezTo>
                <a:cubicBezTo>
                  <a:pt x="3691509" y="2864993"/>
                  <a:pt x="2865120" y="3691509"/>
                  <a:pt x="1845691" y="3691509"/>
                </a:cubicBezTo>
                <a:cubicBezTo>
                  <a:pt x="826262" y="3691509"/>
                  <a:pt x="0" y="2865120"/>
                  <a:pt x="0" y="1845691"/>
                </a:cubicBezTo>
                <a:close/>
              </a:path>
            </a:pathLst>
          </a:custGeom>
          <a:solidFill>
            <a:srgbClr val="F47920"/>
          </a:solidFill>
          <a:ln w="25400" cap="sq" cmpd="sng">
            <a:solidFill>
              <a:srgbClr val="F479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4" name="Google Shape;374;p13"/>
          <p:cNvGrpSpPr/>
          <p:nvPr/>
        </p:nvGrpSpPr>
        <p:grpSpPr>
          <a:xfrm>
            <a:off x="14264640" y="2636044"/>
            <a:ext cx="2743200" cy="2850356"/>
            <a:chOff x="0" y="-142875"/>
            <a:chExt cx="3657600" cy="3800475"/>
          </a:xfrm>
        </p:grpSpPr>
        <p:sp>
          <p:nvSpPr>
            <p:cNvPr id="375" name="Google Shape;375;p13"/>
            <p:cNvSpPr/>
            <p:nvPr/>
          </p:nvSpPr>
          <p:spPr>
            <a:xfrm>
              <a:off x="0" y="0"/>
              <a:ext cx="3657600" cy="3657600"/>
            </a:xfrm>
            <a:custGeom>
              <a:avLst/>
              <a:gdLst/>
              <a:ahLst/>
              <a:cxnLst/>
              <a:rect l="l" t="t" r="r" b="b"/>
              <a:pathLst>
                <a:path w="3657600" h="3657600" extrusionOk="0">
                  <a:moveTo>
                    <a:pt x="0" y="0"/>
                  </a:moveTo>
                  <a:lnTo>
                    <a:pt x="3657600" y="0"/>
                  </a:lnTo>
                  <a:lnTo>
                    <a:pt x="3657600" y="3657600"/>
                  </a:lnTo>
                  <a:lnTo>
                    <a:pt x="0" y="3657600"/>
                  </a:lnTo>
                  <a:close/>
                </a:path>
              </a:pathLst>
            </a:custGeom>
            <a:blipFill rotWithShape="1">
              <a:blip r:embed="rId3">
                <a:alphaModFix amt="0"/>
              </a:blip>
              <a:stretch>
                <a:fillRect l="-78304" r="-78304"/>
              </a:stretch>
            </a:blipFill>
            <a:ln>
              <a:noFill/>
            </a:ln>
          </p:spPr>
          <p:txBody>
            <a:bodyPr/>
            <a:lstStyle/>
            <a:p>
              <a:endParaRPr lang="es-CL"/>
            </a:p>
          </p:txBody>
        </p:sp>
        <p:sp>
          <p:nvSpPr>
            <p:cNvPr id="376" name="Google Shape;376;p13"/>
            <p:cNvSpPr txBox="1"/>
            <p:nvPr/>
          </p:nvSpPr>
          <p:spPr>
            <a:xfrm>
              <a:off x="0" y="-142875"/>
              <a:ext cx="3657600" cy="380047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7200" b="0" i="0" u="none" strike="noStrike" cap="none">
                  <a:solidFill>
                    <a:srgbClr val="FFFFFF"/>
                  </a:solidFill>
                  <a:latin typeface="Calibri"/>
                  <a:ea typeface="Calibri"/>
                  <a:cs typeface="Calibri"/>
                  <a:sym typeface="Calibri"/>
                </a:rPr>
                <a:t>▶</a:t>
              </a:r>
              <a:endParaRPr/>
            </a:p>
          </p:txBody>
        </p:sp>
      </p:grpSp>
      <p:grpSp>
        <p:nvGrpSpPr>
          <p:cNvPr id="377" name="Google Shape;377;p13"/>
          <p:cNvGrpSpPr/>
          <p:nvPr/>
        </p:nvGrpSpPr>
        <p:grpSpPr>
          <a:xfrm>
            <a:off x="640080" y="9755505"/>
            <a:ext cx="17007840" cy="430911"/>
            <a:chOff x="0" y="-38100"/>
            <a:chExt cx="22677120" cy="574548"/>
          </a:xfrm>
        </p:grpSpPr>
        <p:sp>
          <p:nvSpPr>
            <p:cNvPr id="378" name="Google Shape;378;p13"/>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379" name="Google Shape;379;p13"/>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83"/>
        <p:cNvGrpSpPr/>
        <p:nvPr/>
      </p:nvGrpSpPr>
      <p:grpSpPr>
        <a:xfrm>
          <a:off x="0" y="0"/>
          <a:ext cx="0" cy="0"/>
          <a:chOff x="0" y="0"/>
          <a:chExt cx="0" cy="0"/>
        </a:xfrm>
      </p:grpSpPr>
      <p:grpSp>
        <p:nvGrpSpPr>
          <p:cNvPr id="384" name="Google Shape;384;p12"/>
          <p:cNvGrpSpPr/>
          <p:nvPr/>
        </p:nvGrpSpPr>
        <p:grpSpPr>
          <a:xfrm>
            <a:off x="511419" y="468630"/>
            <a:ext cx="9403600" cy="1062990"/>
            <a:chOff x="0" y="-76200"/>
            <a:chExt cx="12538133" cy="1417320"/>
          </a:xfrm>
        </p:grpSpPr>
        <p:sp>
          <p:nvSpPr>
            <p:cNvPr id="385" name="Google Shape;385;p12"/>
            <p:cNvSpPr/>
            <p:nvPr/>
          </p:nvSpPr>
          <p:spPr>
            <a:xfrm>
              <a:off x="0" y="0"/>
              <a:ext cx="12366692" cy="1341120"/>
            </a:xfrm>
            <a:custGeom>
              <a:avLst/>
              <a:gdLst/>
              <a:ahLst/>
              <a:cxnLst/>
              <a:rect l="l" t="t" r="r" b="b"/>
              <a:pathLst>
                <a:path w="12366692" h="1341120" extrusionOk="0">
                  <a:moveTo>
                    <a:pt x="0" y="0"/>
                  </a:moveTo>
                  <a:lnTo>
                    <a:pt x="12366692" y="0"/>
                  </a:lnTo>
                  <a:lnTo>
                    <a:pt x="12366692" y="1341120"/>
                  </a:lnTo>
                  <a:lnTo>
                    <a:pt x="0" y="1341120"/>
                  </a:lnTo>
                  <a:close/>
                </a:path>
              </a:pathLst>
            </a:custGeom>
            <a:blipFill rotWithShape="1">
              <a:blip r:embed="rId3">
                <a:alphaModFix amt="0"/>
              </a:blip>
              <a:stretch>
                <a:fillRect t="-279467" r="-83372" b="-279467"/>
              </a:stretch>
            </a:blipFill>
            <a:ln>
              <a:noFill/>
            </a:ln>
          </p:spPr>
          <p:txBody>
            <a:bodyPr/>
            <a:lstStyle/>
            <a:p>
              <a:endParaRPr lang="es-CL"/>
            </a:p>
          </p:txBody>
        </p:sp>
        <p:sp>
          <p:nvSpPr>
            <p:cNvPr id="386" name="Google Shape;386;p12"/>
            <p:cNvSpPr txBox="1"/>
            <p:nvPr/>
          </p:nvSpPr>
          <p:spPr>
            <a:xfrm>
              <a:off x="171533" y="-76200"/>
              <a:ext cx="12366600" cy="141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Product Backlog</a:t>
              </a:r>
              <a:endParaRPr/>
            </a:p>
          </p:txBody>
        </p:sp>
      </p:grpSp>
      <p:sp>
        <p:nvSpPr>
          <p:cNvPr id="387" name="Google Shape;387;p12"/>
          <p:cNvSpPr/>
          <p:nvPr/>
        </p:nvSpPr>
        <p:spPr>
          <a:xfrm>
            <a:off x="-12697" y="-12697"/>
            <a:ext cx="244887" cy="10312432"/>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388" name="Google Shape;388;p12"/>
          <p:cNvSpPr/>
          <p:nvPr/>
        </p:nvSpPr>
        <p:spPr>
          <a:xfrm>
            <a:off x="206759" y="-12697"/>
            <a:ext cx="18093975" cy="135159"/>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389" name="Google Shape;389;p12"/>
          <p:cNvGrpSpPr/>
          <p:nvPr/>
        </p:nvGrpSpPr>
        <p:grpSpPr>
          <a:xfrm>
            <a:off x="640080" y="9755505"/>
            <a:ext cx="17007840" cy="430911"/>
            <a:chOff x="0" y="-38100"/>
            <a:chExt cx="22677120" cy="574548"/>
          </a:xfrm>
        </p:grpSpPr>
        <p:sp>
          <p:nvSpPr>
            <p:cNvPr id="390" name="Google Shape;390;p12"/>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391" name="Google Shape;391;p12"/>
            <p:cNvSpPr txBox="1"/>
            <p:nvPr/>
          </p:nvSpPr>
          <p:spPr>
            <a:xfrm>
              <a:off x="0" y="-38100"/>
              <a:ext cx="2267712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pic>
        <p:nvPicPr>
          <p:cNvPr id="5" name="Imagen 4">
            <a:extLst>
              <a:ext uri="{FF2B5EF4-FFF2-40B4-BE49-F238E27FC236}">
                <a16:creationId xmlns:a16="http://schemas.microsoft.com/office/drawing/2014/main" id="{6AC30CBB-A99F-16B8-F286-C3505EF72BEA}"/>
              </a:ext>
            </a:extLst>
          </p:cNvPr>
          <p:cNvPicPr>
            <a:picLocks noChangeAspect="1"/>
          </p:cNvPicPr>
          <p:nvPr/>
        </p:nvPicPr>
        <p:blipFill>
          <a:blip r:embed="rId4"/>
          <a:stretch>
            <a:fillRect/>
          </a:stretch>
        </p:blipFill>
        <p:spPr>
          <a:xfrm>
            <a:off x="640069" y="1695450"/>
            <a:ext cx="17411700" cy="6896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96"/>
        <p:cNvGrpSpPr/>
        <p:nvPr/>
      </p:nvGrpSpPr>
      <p:grpSpPr>
        <a:xfrm>
          <a:off x="0" y="0"/>
          <a:ext cx="0" cy="0"/>
          <a:chOff x="0" y="0"/>
          <a:chExt cx="0" cy="0"/>
        </a:xfrm>
      </p:grpSpPr>
      <p:grpSp>
        <p:nvGrpSpPr>
          <p:cNvPr id="397" name="Google Shape;397;g3edd4c675fa_1_12"/>
          <p:cNvGrpSpPr/>
          <p:nvPr/>
        </p:nvGrpSpPr>
        <p:grpSpPr>
          <a:xfrm>
            <a:off x="511419" y="468630"/>
            <a:ext cx="9403600" cy="1062990"/>
            <a:chOff x="0" y="-76200"/>
            <a:chExt cx="12538133" cy="1417320"/>
          </a:xfrm>
        </p:grpSpPr>
        <p:sp>
          <p:nvSpPr>
            <p:cNvPr id="398" name="Google Shape;398;g3edd4c675fa_1_12"/>
            <p:cNvSpPr/>
            <p:nvPr/>
          </p:nvSpPr>
          <p:spPr>
            <a:xfrm>
              <a:off x="0" y="0"/>
              <a:ext cx="12366692" cy="1341120"/>
            </a:xfrm>
            <a:custGeom>
              <a:avLst/>
              <a:gdLst/>
              <a:ahLst/>
              <a:cxnLst/>
              <a:rect l="l" t="t" r="r" b="b"/>
              <a:pathLst>
                <a:path w="12366692" h="1341120" extrusionOk="0">
                  <a:moveTo>
                    <a:pt x="0" y="0"/>
                  </a:moveTo>
                  <a:lnTo>
                    <a:pt x="12366692" y="0"/>
                  </a:lnTo>
                  <a:lnTo>
                    <a:pt x="12366692" y="1341120"/>
                  </a:lnTo>
                  <a:lnTo>
                    <a:pt x="0" y="1341120"/>
                  </a:lnTo>
                  <a:close/>
                </a:path>
              </a:pathLst>
            </a:custGeom>
            <a:blipFill rotWithShape="1">
              <a:blip r:embed="rId3">
                <a:alphaModFix amt="0"/>
              </a:blip>
              <a:stretch>
                <a:fillRect t="-279474" r="-83368" b="-279461"/>
              </a:stretch>
            </a:blipFill>
            <a:ln>
              <a:noFill/>
            </a:ln>
          </p:spPr>
          <p:txBody>
            <a:bodyPr/>
            <a:lstStyle/>
            <a:p>
              <a:endParaRPr lang="es-CL"/>
            </a:p>
          </p:txBody>
        </p:sp>
        <p:sp>
          <p:nvSpPr>
            <p:cNvPr id="399" name="Google Shape;399;g3edd4c675fa_1_12"/>
            <p:cNvSpPr txBox="1"/>
            <p:nvPr/>
          </p:nvSpPr>
          <p:spPr>
            <a:xfrm>
              <a:off x="171533" y="-76200"/>
              <a:ext cx="12366600" cy="141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Product Backlog</a:t>
              </a:r>
              <a:endParaRPr/>
            </a:p>
          </p:txBody>
        </p:sp>
      </p:grpSp>
      <p:sp>
        <p:nvSpPr>
          <p:cNvPr id="400" name="Google Shape;400;g3edd4c675fa_1_12"/>
          <p:cNvSpPr/>
          <p:nvPr/>
        </p:nvSpPr>
        <p:spPr>
          <a:xfrm>
            <a:off x="-12697" y="-12697"/>
            <a:ext cx="244888" cy="10312433"/>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401" name="Google Shape;401;g3edd4c675fa_1_12"/>
          <p:cNvSpPr/>
          <p:nvPr/>
        </p:nvSpPr>
        <p:spPr>
          <a:xfrm>
            <a:off x="206759" y="-12697"/>
            <a:ext cx="18093976" cy="135160"/>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402" name="Google Shape;402;g3edd4c675fa_1_12"/>
          <p:cNvGrpSpPr/>
          <p:nvPr/>
        </p:nvGrpSpPr>
        <p:grpSpPr>
          <a:xfrm>
            <a:off x="640080" y="9755505"/>
            <a:ext cx="17007840" cy="430911"/>
            <a:chOff x="0" y="-38100"/>
            <a:chExt cx="22677120" cy="574548"/>
          </a:xfrm>
        </p:grpSpPr>
        <p:sp>
          <p:nvSpPr>
            <p:cNvPr id="403" name="Google Shape;403;g3edd4c675fa_1_12"/>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404" name="Google Shape;404;g3edd4c675fa_1_12"/>
            <p:cNvSpPr txBox="1"/>
            <p:nvPr/>
          </p:nvSpPr>
          <p:spPr>
            <a:xfrm>
              <a:off x="0" y="-38100"/>
              <a:ext cx="22677000" cy="57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pic>
        <p:nvPicPr>
          <p:cNvPr id="3" name="Imagen 2">
            <a:extLst>
              <a:ext uri="{FF2B5EF4-FFF2-40B4-BE49-F238E27FC236}">
                <a16:creationId xmlns:a16="http://schemas.microsoft.com/office/drawing/2014/main" id="{138E2293-27DA-561F-C13B-234FBF5A1DEB}"/>
              </a:ext>
            </a:extLst>
          </p:cNvPr>
          <p:cNvPicPr>
            <a:picLocks noChangeAspect="1"/>
          </p:cNvPicPr>
          <p:nvPr/>
        </p:nvPicPr>
        <p:blipFill>
          <a:blip r:embed="rId4"/>
          <a:stretch>
            <a:fillRect/>
          </a:stretch>
        </p:blipFill>
        <p:spPr>
          <a:xfrm>
            <a:off x="442912" y="1619250"/>
            <a:ext cx="17402175" cy="7048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422"/>
        <p:cNvGrpSpPr/>
        <p:nvPr/>
      </p:nvGrpSpPr>
      <p:grpSpPr>
        <a:xfrm>
          <a:off x="0" y="0"/>
          <a:ext cx="0" cy="0"/>
          <a:chOff x="0" y="0"/>
          <a:chExt cx="0" cy="0"/>
        </a:xfrm>
      </p:grpSpPr>
      <p:grpSp>
        <p:nvGrpSpPr>
          <p:cNvPr id="423" name="Google Shape;423;g3edd4c675fa_1_0"/>
          <p:cNvGrpSpPr/>
          <p:nvPr/>
        </p:nvGrpSpPr>
        <p:grpSpPr>
          <a:xfrm>
            <a:off x="640080" y="468630"/>
            <a:ext cx="9041625" cy="1062990"/>
            <a:chOff x="0" y="-76200"/>
            <a:chExt cx="12055500" cy="1417320"/>
          </a:xfrm>
        </p:grpSpPr>
        <p:sp>
          <p:nvSpPr>
            <p:cNvPr id="424" name="Google Shape;424;g3edd4c675fa_1_0"/>
            <p:cNvSpPr/>
            <p:nvPr/>
          </p:nvSpPr>
          <p:spPr>
            <a:xfrm>
              <a:off x="0" y="0"/>
              <a:ext cx="12055481" cy="1341120"/>
            </a:xfrm>
            <a:custGeom>
              <a:avLst/>
              <a:gdLst/>
              <a:ahLst/>
              <a:cxnLst/>
              <a:rect l="l" t="t" r="r" b="b"/>
              <a:pathLst>
                <a:path w="12055481" h="1341120" extrusionOk="0">
                  <a:moveTo>
                    <a:pt x="0" y="0"/>
                  </a:moveTo>
                  <a:lnTo>
                    <a:pt x="12055481" y="0"/>
                  </a:lnTo>
                  <a:lnTo>
                    <a:pt x="12055481" y="1341120"/>
                  </a:lnTo>
                  <a:lnTo>
                    <a:pt x="0" y="1341120"/>
                  </a:lnTo>
                  <a:close/>
                </a:path>
              </a:pathLst>
            </a:custGeom>
            <a:blipFill rotWithShape="1">
              <a:blip r:embed="rId3">
                <a:alphaModFix amt="0"/>
              </a:blip>
              <a:stretch>
                <a:fillRect t="-279474" r="-88101" b="-279461"/>
              </a:stretch>
            </a:blipFill>
            <a:ln>
              <a:noFill/>
            </a:ln>
          </p:spPr>
          <p:txBody>
            <a:bodyPr/>
            <a:lstStyle/>
            <a:p>
              <a:endParaRPr lang="es-CL"/>
            </a:p>
          </p:txBody>
        </p:sp>
        <p:sp>
          <p:nvSpPr>
            <p:cNvPr id="425" name="Google Shape;425;g3edd4c675fa_1_0"/>
            <p:cNvSpPr txBox="1"/>
            <p:nvPr/>
          </p:nvSpPr>
          <p:spPr>
            <a:xfrm>
              <a:off x="0" y="-76200"/>
              <a:ext cx="12055500" cy="141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Burn up</a:t>
              </a:r>
              <a:endParaRPr sz="4400" b="1">
                <a:solidFill>
                  <a:srgbClr val="FFFFFF"/>
                </a:solidFill>
                <a:latin typeface="Calibri"/>
                <a:ea typeface="Calibri"/>
                <a:cs typeface="Calibri"/>
                <a:sym typeface="Calibri"/>
              </a:endParaRPr>
            </a:p>
          </p:txBody>
        </p:sp>
      </p:grpSp>
      <p:sp>
        <p:nvSpPr>
          <p:cNvPr id="426" name="Google Shape;426;g3edd4c675fa_1_0"/>
          <p:cNvSpPr/>
          <p:nvPr/>
        </p:nvSpPr>
        <p:spPr>
          <a:xfrm>
            <a:off x="-12697" y="-12697"/>
            <a:ext cx="244888" cy="10312433"/>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427" name="Google Shape;427;g3edd4c675fa_1_0"/>
          <p:cNvSpPr/>
          <p:nvPr/>
        </p:nvSpPr>
        <p:spPr>
          <a:xfrm>
            <a:off x="206759" y="-12697"/>
            <a:ext cx="18093976" cy="135160"/>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428" name="Google Shape;428;g3edd4c675fa_1_0"/>
          <p:cNvGrpSpPr/>
          <p:nvPr/>
        </p:nvGrpSpPr>
        <p:grpSpPr>
          <a:xfrm>
            <a:off x="640080" y="9755505"/>
            <a:ext cx="17007840" cy="430911"/>
            <a:chOff x="0" y="-38100"/>
            <a:chExt cx="22677120" cy="574548"/>
          </a:xfrm>
        </p:grpSpPr>
        <p:sp>
          <p:nvSpPr>
            <p:cNvPr id="429" name="Google Shape;429;g3edd4c675fa_1_0"/>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430" name="Google Shape;430;g3edd4c675fa_1_0"/>
            <p:cNvSpPr txBox="1"/>
            <p:nvPr/>
          </p:nvSpPr>
          <p:spPr>
            <a:xfrm>
              <a:off x="0" y="-38100"/>
              <a:ext cx="22677000" cy="57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aphicFrame>
        <p:nvGraphicFramePr>
          <p:cNvPr id="2" name="Chart 1">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778781446"/>
              </p:ext>
            </p:extLst>
          </p:nvPr>
        </p:nvGraphicFramePr>
        <p:xfrm>
          <a:off x="782704" y="1666666"/>
          <a:ext cx="16865126" cy="723962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435"/>
        <p:cNvGrpSpPr/>
        <p:nvPr/>
      </p:nvGrpSpPr>
      <p:grpSpPr>
        <a:xfrm>
          <a:off x="0" y="0"/>
          <a:ext cx="0" cy="0"/>
          <a:chOff x="0" y="0"/>
          <a:chExt cx="0" cy="0"/>
        </a:xfrm>
      </p:grpSpPr>
      <p:grpSp>
        <p:nvGrpSpPr>
          <p:cNvPr id="436" name="Google Shape;436;g3edd4c675fa_3_1"/>
          <p:cNvGrpSpPr/>
          <p:nvPr/>
        </p:nvGrpSpPr>
        <p:grpSpPr>
          <a:xfrm>
            <a:off x="640080" y="468630"/>
            <a:ext cx="9041625" cy="1062990"/>
            <a:chOff x="0" y="-76200"/>
            <a:chExt cx="12055500" cy="1417320"/>
          </a:xfrm>
        </p:grpSpPr>
        <p:sp>
          <p:nvSpPr>
            <p:cNvPr id="437" name="Google Shape;437;g3edd4c675fa_3_1"/>
            <p:cNvSpPr/>
            <p:nvPr/>
          </p:nvSpPr>
          <p:spPr>
            <a:xfrm>
              <a:off x="0" y="0"/>
              <a:ext cx="12055481" cy="1341120"/>
            </a:xfrm>
            <a:custGeom>
              <a:avLst/>
              <a:gdLst/>
              <a:ahLst/>
              <a:cxnLst/>
              <a:rect l="l" t="t" r="r" b="b"/>
              <a:pathLst>
                <a:path w="12055481" h="1341120" extrusionOk="0">
                  <a:moveTo>
                    <a:pt x="0" y="0"/>
                  </a:moveTo>
                  <a:lnTo>
                    <a:pt x="12055481" y="0"/>
                  </a:lnTo>
                  <a:lnTo>
                    <a:pt x="12055481" y="1341120"/>
                  </a:lnTo>
                  <a:lnTo>
                    <a:pt x="0" y="1341120"/>
                  </a:lnTo>
                  <a:close/>
                </a:path>
              </a:pathLst>
            </a:custGeom>
            <a:blipFill rotWithShape="1">
              <a:blip r:embed="rId3">
                <a:alphaModFix amt="0"/>
              </a:blip>
              <a:stretch>
                <a:fillRect t="-279474" r="-88101" b="-279461"/>
              </a:stretch>
            </a:blipFill>
            <a:ln>
              <a:noFill/>
            </a:ln>
          </p:spPr>
          <p:txBody>
            <a:bodyPr/>
            <a:lstStyle/>
            <a:p>
              <a:endParaRPr lang="es-CL"/>
            </a:p>
          </p:txBody>
        </p:sp>
        <p:sp>
          <p:nvSpPr>
            <p:cNvPr id="438" name="Google Shape;438;g3edd4c675fa_3_1"/>
            <p:cNvSpPr txBox="1"/>
            <p:nvPr/>
          </p:nvSpPr>
          <p:spPr>
            <a:xfrm>
              <a:off x="0" y="-76200"/>
              <a:ext cx="12055500" cy="141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400" b="1">
                  <a:solidFill>
                    <a:srgbClr val="FFFFFF"/>
                  </a:solidFill>
                  <a:latin typeface="Calibri"/>
                  <a:ea typeface="Calibri"/>
                  <a:cs typeface="Calibri"/>
                  <a:sym typeface="Calibri"/>
                </a:rPr>
                <a:t>Burn down</a:t>
              </a:r>
              <a:endParaRPr sz="4400" b="1">
                <a:solidFill>
                  <a:srgbClr val="FFFFFF"/>
                </a:solidFill>
                <a:latin typeface="Calibri"/>
                <a:ea typeface="Calibri"/>
                <a:cs typeface="Calibri"/>
                <a:sym typeface="Calibri"/>
              </a:endParaRPr>
            </a:p>
          </p:txBody>
        </p:sp>
      </p:grpSp>
      <p:sp>
        <p:nvSpPr>
          <p:cNvPr id="439" name="Google Shape;439;g3edd4c675fa_3_1"/>
          <p:cNvSpPr/>
          <p:nvPr/>
        </p:nvSpPr>
        <p:spPr>
          <a:xfrm>
            <a:off x="-12697" y="-12697"/>
            <a:ext cx="244888" cy="10312433"/>
          </a:xfrm>
          <a:custGeom>
            <a:avLst/>
            <a:gdLst/>
            <a:ahLst/>
            <a:cxnLst/>
            <a:rect l="l" t="t" r="r" b="b"/>
            <a:pathLst>
              <a:path w="326517" h="13749910" extrusionOk="0">
                <a:moveTo>
                  <a:pt x="0" y="0"/>
                </a:moveTo>
                <a:lnTo>
                  <a:pt x="326517" y="0"/>
                </a:lnTo>
                <a:lnTo>
                  <a:pt x="326517"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sp>
        <p:nvSpPr>
          <p:cNvPr id="440" name="Google Shape;440;g3edd4c675fa_3_1"/>
          <p:cNvSpPr/>
          <p:nvPr/>
        </p:nvSpPr>
        <p:spPr>
          <a:xfrm>
            <a:off x="206759" y="-12697"/>
            <a:ext cx="18093976" cy="135160"/>
          </a:xfrm>
          <a:custGeom>
            <a:avLst/>
            <a:gdLst/>
            <a:ahLst/>
            <a:cxnLst/>
            <a:rect l="l" t="t" r="r" b="b"/>
            <a:pathLst>
              <a:path w="24125301" h="180213" extrusionOk="0">
                <a:moveTo>
                  <a:pt x="0" y="0"/>
                </a:moveTo>
                <a:lnTo>
                  <a:pt x="24125301" y="0"/>
                </a:lnTo>
                <a:lnTo>
                  <a:pt x="24125301" y="180213"/>
                </a:lnTo>
                <a:lnTo>
                  <a:pt x="0" y="180213"/>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441" name="Google Shape;441;g3edd4c675fa_3_1"/>
          <p:cNvGrpSpPr/>
          <p:nvPr/>
        </p:nvGrpSpPr>
        <p:grpSpPr>
          <a:xfrm>
            <a:off x="640080" y="9755505"/>
            <a:ext cx="17007840" cy="430911"/>
            <a:chOff x="0" y="-38100"/>
            <a:chExt cx="22677120" cy="574548"/>
          </a:xfrm>
        </p:grpSpPr>
        <p:sp>
          <p:nvSpPr>
            <p:cNvPr id="442" name="Google Shape;442;g3edd4c675fa_3_1"/>
            <p:cNvSpPr/>
            <p:nvPr/>
          </p:nvSpPr>
          <p:spPr>
            <a:xfrm>
              <a:off x="0" y="0"/>
              <a:ext cx="22677120" cy="536448"/>
            </a:xfrm>
            <a:custGeom>
              <a:avLst/>
              <a:gdLst/>
              <a:ahLst/>
              <a:cxnLst/>
              <a:rect l="l" t="t" r="r" b="b"/>
              <a:pathLst>
                <a:path w="22677120" h="536448" extrusionOk="0">
                  <a:moveTo>
                    <a:pt x="0" y="0"/>
                  </a:moveTo>
                  <a:lnTo>
                    <a:pt x="22677120" y="0"/>
                  </a:lnTo>
                  <a:lnTo>
                    <a:pt x="22677120" y="536448"/>
                  </a:lnTo>
                  <a:lnTo>
                    <a:pt x="0" y="536448"/>
                  </a:lnTo>
                  <a:close/>
                </a:path>
              </a:pathLst>
            </a:custGeom>
            <a:blipFill rotWithShape="1">
              <a:blip r:embed="rId3">
                <a:alphaModFix amt="0"/>
              </a:blip>
              <a:stretch>
                <a:fillRect t="-773724" b="-773724"/>
              </a:stretch>
            </a:blipFill>
            <a:ln>
              <a:noFill/>
            </a:ln>
          </p:spPr>
          <p:txBody>
            <a:bodyPr/>
            <a:lstStyle/>
            <a:p>
              <a:endParaRPr lang="es-CL"/>
            </a:p>
          </p:txBody>
        </p:sp>
        <p:sp>
          <p:nvSpPr>
            <p:cNvPr id="443" name="Google Shape;443;g3edd4c675fa_3_1"/>
            <p:cNvSpPr txBox="1"/>
            <p:nvPr/>
          </p:nvSpPr>
          <p:spPr>
            <a:xfrm>
              <a:off x="0" y="-38100"/>
              <a:ext cx="22677000" cy="57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0" i="0" u="none" strike="noStrike" cap="none" dirty="0">
                  <a:solidFill>
                    <a:srgbClr val="9CA3AF"/>
                  </a:solidFill>
                  <a:latin typeface="Calibri"/>
                  <a:ea typeface="Calibri"/>
                  <a:cs typeface="Calibri"/>
                  <a:sym typeface="Calibri"/>
                </a:rPr>
                <a:t>Puertas </a:t>
              </a:r>
              <a:r>
                <a:rPr lang="en-US" sz="1800" b="0" i="0" u="none" strike="noStrike" cap="none" dirty="0" err="1">
                  <a:solidFill>
                    <a:srgbClr val="9CA3AF"/>
                  </a:solidFill>
                  <a:latin typeface="Calibri"/>
                  <a:ea typeface="Calibri"/>
                  <a:cs typeface="Calibri"/>
                  <a:sym typeface="Calibri"/>
                </a:rPr>
                <a:t>Blindadas</a:t>
              </a:r>
              <a:r>
                <a:rPr lang="en-US" sz="1800" b="0" i="0" u="none" strike="noStrike" cap="none" dirty="0">
                  <a:solidFill>
                    <a:srgbClr val="9CA3AF"/>
                  </a:solidFill>
                  <a:latin typeface="Calibri"/>
                  <a:ea typeface="Calibri"/>
                  <a:cs typeface="Calibri"/>
                  <a:sym typeface="Calibri"/>
                </a:rPr>
                <a:t> · Ingeniería de Software II · 2026</a:t>
              </a:r>
              <a:endParaRPr dirty="0"/>
            </a:p>
          </p:txBody>
        </p:sp>
      </p:grpSp>
      <p:graphicFrame>
        <p:nvGraphicFramePr>
          <p:cNvPr id="2" name="Chart 2">
            <a:extLst>
              <a:ext uri="{FF2B5EF4-FFF2-40B4-BE49-F238E27FC236}">
                <a16:creationId xmlns:a16="http://schemas.microsoft.com/office/drawing/2014/main" id="{00000000-0008-0000-0100-000003000000}"/>
              </a:ext>
            </a:extLst>
          </p:cNvPr>
          <p:cNvGraphicFramePr>
            <a:graphicFrameLocks/>
          </p:cNvGraphicFramePr>
          <p:nvPr>
            <p:extLst>
              <p:ext uri="{D42A27DB-BD31-4B8C-83A1-F6EECF244321}">
                <p14:modId xmlns:p14="http://schemas.microsoft.com/office/powerpoint/2010/main" val="3939627452"/>
              </p:ext>
            </p:extLst>
          </p:nvPr>
        </p:nvGraphicFramePr>
        <p:xfrm>
          <a:off x="592482" y="1588680"/>
          <a:ext cx="17347962" cy="760575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452"/>
        <p:cNvGrpSpPr/>
        <p:nvPr/>
      </p:nvGrpSpPr>
      <p:grpSpPr>
        <a:xfrm>
          <a:off x="0" y="0"/>
          <a:ext cx="0" cy="0"/>
          <a:chOff x="0" y="0"/>
          <a:chExt cx="0" cy="0"/>
        </a:xfrm>
      </p:grpSpPr>
      <p:sp>
        <p:nvSpPr>
          <p:cNvPr id="453" name="Google Shape;453;p14"/>
          <p:cNvSpPr/>
          <p:nvPr/>
        </p:nvSpPr>
        <p:spPr>
          <a:xfrm>
            <a:off x="-12697" y="-12697"/>
            <a:ext cx="354615" cy="10312432"/>
          </a:xfrm>
          <a:custGeom>
            <a:avLst/>
            <a:gdLst/>
            <a:ahLst/>
            <a:cxnLst/>
            <a:rect l="l" t="t" r="r" b="b"/>
            <a:pathLst>
              <a:path w="472821" h="13749910" extrusionOk="0">
                <a:moveTo>
                  <a:pt x="0" y="0"/>
                </a:moveTo>
                <a:lnTo>
                  <a:pt x="472821" y="0"/>
                </a:lnTo>
                <a:lnTo>
                  <a:pt x="472821" y="13749910"/>
                </a:lnTo>
                <a:lnTo>
                  <a:pt x="0" y="13749910"/>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454" name="Google Shape;454;p14"/>
          <p:cNvGrpSpPr/>
          <p:nvPr/>
        </p:nvGrpSpPr>
        <p:grpSpPr>
          <a:xfrm>
            <a:off x="914400" y="970121"/>
            <a:ext cx="14264640" cy="675799"/>
            <a:chOff x="0" y="-47625"/>
            <a:chExt cx="19019520" cy="901065"/>
          </a:xfrm>
        </p:grpSpPr>
        <p:sp>
          <p:nvSpPr>
            <p:cNvPr id="455" name="Google Shape;455;p14"/>
            <p:cNvSpPr/>
            <p:nvPr/>
          </p:nvSpPr>
          <p:spPr>
            <a:xfrm>
              <a:off x="0" y="0"/>
              <a:ext cx="19019520" cy="853440"/>
            </a:xfrm>
            <a:custGeom>
              <a:avLst/>
              <a:gdLst/>
              <a:ahLst/>
              <a:cxnLst/>
              <a:rect l="l" t="t" r="r" b="b"/>
              <a:pathLst>
                <a:path w="19019520" h="853440" extrusionOk="0">
                  <a:moveTo>
                    <a:pt x="0" y="0"/>
                  </a:moveTo>
                  <a:lnTo>
                    <a:pt x="19019520" y="0"/>
                  </a:lnTo>
                  <a:lnTo>
                    <a:pt x="19019520" y="853440"/>
                  </a:lnTo>
                  <a:lnTo>
                    <a:pt x="0" y="853440"/>
                  </a:lnTo>
                  <a:close/>
                </a:path>
              </a:pathLst>
            </a:custGeom>
            <a:blipFill rotWithShape="1">
              <a:blip r:embed="rId3">
                <a:alphaModFix amt="0"/>
              </a:blip>
              <a:stretch>
                <a:fillRect t="-384254" b="-384254"/>
              </a:stretch>
            </a:blipFill>
            <a:ln>
              <a:noFill/>
            </a:ln>
          </p:spPr>
          <p:txBody>
            <a:bodyPr/>
            <a:lstStyle/>
            <a:p>
              <a:endParaRPr lang="es-CL"/>
            </a:p>
          </p:txBody>
        </p:sp>
        <p:sp>
          <p:nvSpPr>
            <p:cNvPr id="456" name="Google Shape;456;p14"/>
            <p:cNvSpPr txBox="1"/>
            <p:nvPr/>
          </p:nvSpPr>
          <p:spPr>
            <a:xfrm>
              <a:off x="0" y="-47625"/>
              <a:ext cx="19019520" cy="9010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SISTEMA DE INVENTARIO</a:t>
              </a:r>
              <a:endParaRPr/>
            </a:p>
          </p:txBody>
        </p:sp>
      </p:grpSp>
      <p:grpSp>
        <p:nvGrpSpPr>
          <p:cNvPr id="457" name="Google Shape;457;p14"/>
          <p:cNvGrpSpPr/>
          <p:nvPr/>
        </p:nvGrpSpPr>
        <p:grpSpPr>
          <a:xfrm>
            <a:off x="914400" y="1707356"/>
            <a:ext cx="14264640" cy="4510564"/>
            <a:chOff x="0" y="-161925"/>
            <a:chExt cx="19019520" cy="6014085"/>
          </a:xfrm>
        </p:grpSpPr>
        <p:sp>
          <p:nvSpPr>
            <p:cNvPr id="458" name="Google Shape;458;p14"/>
            <p:cNvSpPr/>
            <p:nvPr/>
          </p:nvSpPr>
          <p:spPr>
            <a:xfrm>
              <a:off x="0" y="0"/>
              <a:ext cx="19019520" cy="5852160"/>
            </a:xfrm>
            <a:custGeom>
              <a:avLst/>
              <a:gdLst/>
              <a:ahLst/>
              <a:cxnLst/>
              <a:rect l="l" t="t" r="r" b="b"/>
              <a:pathLst>
                <a:path w="19019520" h="5852160" extrusionOk="0">
                  <a:moveTo>
                    <a:pt x="0" y="0"/>
                  </a:moveTo>
                  <a:lnTo>
                    <a:pt x="19019520" y="0"/>
                  </a:lnTo>
                  <a:lnTo>
                    <a:pt x="19019520" y="5852160"/>
                  </a:lnTo>
                  <a:lnTo>
                    <a:pt x="0" y="5852160"/>
                  </a:lnTo>
                  <a:close/>
                </a:path>
              </a:pathLst>
            </a:custGeom>
            <a:blipFill rotWithShape="1">
              <a:blip r:embed="rId3">
                <a:alphaModFix amt="0"/>
              </a:blip>
              <a:stretch>
                <a:fillRect t="-13326" b="-13326"/>
              </a:stretch>
            </a:blipFill>
            <a:ln>
              <a:noFill/>
            </a:ln>
          </p:spPr>
          <p:txBody>
            <a:bodyPr/>
            <a:lstStyle/>
            <a:p>
              <a:endParaRPr lang="es-CL"/>
            </a:p>
          </p:txBody>
        </p:sp>
        <p:sp>
          <p:nvSpPr>
            <p:cNvPr id="459" name="Google Shape;459;p14"/>
            <p:cNvSpPr txBox="1"/>
            <p:nvPr/>
          </p:nvSpPr>
          <p:spPr>
            <a:xfrm>
              <a:off x="0" y="-161925"/>
              <a:ext cx="19019520" cy="601408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PROYECTO INGENIERÍA</a:t>
              </a:r>
              <a:endParaRPr dirty="0"/>
            </a:p>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DE SOFTWARE II</a:t>
              </a:r>
              <a:endParaRPr dirty="0"/>
            </a:p>
            <a:p>
              <a:pPr marL="0" marR="0" lvl="0" indent="0" algn="l" rtl="0">
                <a:lnSpc>
                  <a:spcPct val="120000"/>
                </a:lnSpc>
                <a:spcBef>
                  <a:spcPts val="0"/>
                </a:spcBef>
                <a:spcAft>
                  <a:spcPts val="0"/>
                </a:spcAft>
                <a:buNone/>
              </a:pPr>
              <a:r>
                <a:rPr lang="en-US" sz="8000" b="1" i="0" u="none" strike="noStrike" cap="none" dirty="0">
                  <a:solidFill>
                    <a:srgbClr val="FFFFFF"/>
                  </a:solidFill>
                  <a:latin typeface="Calibri"/>
                  <a:ea typeface="Calibri"/>
                  <a:cs typeface="Calibri"/>
                  <a:sym typeface="Calibri"/>
                </a:rPr>
                <a:t>INCREMENTO 1 GRUPO 14</a:t>
              </a:r>
              <a:endParaRPr dirty="0"/>
            </a:p>
          </p:txBody>
        </p:sp>
      </p:grpSp>
      <p:sp>
        <p:nvSpPr>
          <p:cNvPr id="460" name="Google Shape;460;p14"/>
          <p:cNvSpPr/>
          <p:nvPr/>
        </p:nvSpPr>
        <p:spPr>
          <a:xfrm>
            <a:off x="927106" y="5925760"/>
            <a:ext cx="8255031" cy="98583"/>
          </a:xfrm>
          <a:custGeom>
            <a:avLst/>
            <a:gdLst/>
            <a:ahLst/>
            <a:cxnLst/>
            <a:rect l="l" t="t" r="r" b="b"/>
            <a:pathLst>
              <a:path w="11006709" h="131445" extrusionOk="0">
                <a:moveTo>
                  <a:pt x="0" y="0"/>
                </a:moveTo>
                <a:lnTo>
                  <a:pt x="11006709" y="0"/>
                </a:lnTo>
                <a:lnTo>
                  <a:pt x="11006709" y="131445"/>
                </a:lnTo>
                <a:lnTo>
                  <a:pt x="0" y="131445"/>
                </a:lnTo>
                <a:close/>
              </a:path>
            </a:pathLst>
          </a:custGeom>
          <a:solidFill>
            <a:srgbClr val="F47920"/>
          </a:solidFill>
          <a:ln w="25400" cap="sq" cmpd="sng">
            <a:solidFill>
              <a:srgbClr val="F47920"/>
            </a:solidFill>
            <a:prstDash val="solid"/>
            <a:miter lim="8000"/>
            <a:headEnd type="none" w="sm" len="sm"/>
            <a:tailEnd type="none" w="sm" len="sm"/>
          </a:ln>
        </p:spPr>
        <p:txBody>
          <a:bodyPr/>
          <a:lstStyle/>
          <a:p>
            <a:endParaRPr lang="es-CL"/>
          </a:p>
        </p:txBody>
      </p:sp>
      <p:grpSp>
        <p:nvGrpSpPr>
          <p:cNvPr id="461" name="Google Shape;461;p14"/>
          <p:cNvGrpSpPr/>
          <p:nvPr/>
        </p:nvGrpSpPr>
        <p:grpSpPr>
          <a:xfrm>
            <a:off x="914400" y="6547961"/>
            <a:ext cx="8229600" cy="584359"/>
            <a:chOff x="0" y="-47625"/>
            <a:chExt cx="10972800" cy="779145"/>
          </a:xfrm>
        </p:grpSpPr>
        <p:sp>
          <p:nvSpPr>
            <p:cNvPr id="462" name="Google Shape;462;p14"/>
            <p:cNvSpPr/>
            <p:nvPr/>
          </p:nvSpPr>
          <p:spPr>
            <a:xfrm>
              <a:off x="0" y="0"/>
              <a:ext cx="10972800" cy="731520"/>
            </a:xfrm>
            <a:custGeom>
              <a:avLst/>
              <a:gdLst/>
              <a:ahLst/>
              <a:cxnLst/>
              <a:rect l="l" t="t" r="r" b="b"/>
              <a:pathLst>
                <a:path w="10972800" h="731520" extrusionOk="0">
                  <a:moveTo>
                    <a:pt x="0" y="0"/>
                  </a:moveTo>
                  <a:lnTo>
                    <a:pt x="10972800" y="0"/>
                  </a:lnTo>
                  <a:lnTo>
                    <a:pt x="10972800" y="731520"/>
                  </a:lnTo>
                  <a:lnTo>
                    <a:pt x="0" y="731520"/>
                  </a:lnTo>
                  <a:close/>
                </a:path>
              </a:pathLst>
            </a:custGeom>
            <a:blipFill rotWithShape="1">
              <a:blip r:embed="rId3">
                <a:alphaModFix amt="0"/>
              </a:blip>
              <a:stretch>
                <a:fillRect t="-242261" b="-242261"/>
              </a:stretch>
            </a:blipFill>
            <a:ln>
              <a:noFill/>
            </a:ln>
          </p:spPr>
          <p:txBody>
            <a:bodyPr/>
            <a:lstStyle/>
            <a:p>
              <a:endParaRPr lang="es-CL"/>
            </a:p>
          </p:txBody>
        </p:sp>
        <p:sp>
          <p:nvSpPr>
            <p:cNvPr id="463" name="Google Shape;463;p14"/>
            <p:cNvSpPr txBox="1"/>
            <p:nvPr/>
          </p:nvSpPr>
          <p:spPr>
            <a:xfrm>
              <a:off x="0" y="-47625"/>
              <a:ext cx="10972800" cy="77914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Autores:</a:t>
              </a:r>
              <a:endParaRPr/>
            </a:p>
          </p:txBody>
        </p:sp>
      </p:grpSp>
      <p:grpSp>
        <p:nvGrpSpPr>
          <p:cNvPr id="464" name="Google Shape;464;p14"/>
          <p:cNvGrpSpPr/>
          <p:nvPr/>
        </p:nvGrpSpPr>
        <p:grpSpPr>
          <a:xfrm>
            <a:off x="914400" y="7096601"/>
            <a:ext cx="8229600" cy="2413159"/>
            <a:chOff x="0" y="-47625"/>
            <a:chExt cx="10972800" cy="3217545"/>
          </a:xfrm>
        </p:grpSpPr>
        <p:sp>
          <p:nvSpPr>
            <p:cNvPr id="465" name="Google Shape;465;p14"/>
            <p:cNvSpPr/>
            <p:nvPr/>
          </p:nvSpPr>
          <p:spPr>
            <a:xfrm>
              <a:off x="0" y="0"/>
              <a:ext cx="10972800" cy="3169920"/>
            </a:xfrm>
            <a:custGeom>
              <a:avLst/>
              <a:gdLst/>
              <a:ahLst/>
              <a:cxnLst/>
              <a:rect l="l" t="t" r="r" b="b"/>
              <a:pathLst>
                <a:path w="10972800" h="3169920" extrusionOk="0">
                  <a:moveTo>
                    <a:pt x="0" y="0"/>
                  </a:moveTo>
                  <a:lnTo>
                    <a:pt x="10972800" y="0"/>
                  </a:lnTo>
                  <a:lnTo>
                    <a:pt x="10972800" y="3169920"/>
                  </a:lnTo>
                  <a:lnTo>
                    <a:pt x="0" y="3169920"/>
                  </a:lnTo>
                  <a:close/>
                </a:path>
              </a:pathLst>
            </a:custGeom>
            <a:blipFill rotWithShape="1">
              <a:blip r:embed="rId3">
                <a:alphaModFix amt="0"/>
              </a:blip>
              <a:stretch>
                <a:fillRect t="-17447" b="-17447"/>
              </a:stretch>
            </a:blipFill>
            <a:ln>
              <a:noFill/>
            </a:ln>
          </p:spPr>
          <p:txBody>
            <a:bodyPr/>
            <a:lstStyle/>
            <a:p>
              <a:endParaRPr lang="es-CL"/>
            </a:p>
          </p:txBody>
        </p:sp>
        <p:sp>
          <p:nvSpPr>
            <p:cNvPr id="466" name="Google Shape;466;p14"/>
            <p:cNvSpPr txBox="1"/>
            <p:nvPr/>
          </p:nvSpPr>
          <p:spPr>
            <a:xfrm>
              <a:off x="0" y="-47625"/>
              <a:ext cx="10972800" cy="321754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Sofia Isidora Cariñe Valenzuela</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Jhoe Eduardo Castillo Barrios</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Karla Aylin </a:t>
              </a:r>
              <a:r>
                <a:rPr lang="en-US" sz="2100" b="0" i="0" u="none" strike="noStrike" cap="none" dirty="0" err="1">
                  <a:solidFill>
                    <a:srgbClr val="D1D5DB"/>
                  </a:solidFill>
                  <a:latin typeface="Calibri"/>
                  <a:ea typeface="Calibri"/>
                  <a:cs typeface="Calibri"/>
                  <a:sym typeface="Calibri"/>
                </a:rPr>
                <a:t>Curín</a:t>
              </a:r>
              <a:r>
                <a:rPr lang="en-US" sz="2100" b="0" i="0" u="none" strike="noStrike" cap="none" dirty="0">
                  <a:solidFill>
                    <a:srgbClr val="D1D5DB"/>
                  </a:solidFill>
                  <a:latin typeface="Calibri"/>
                  <a:ea typeface="Calibri"/>
                  <a:cs typeface="Calibri"/>
                  <a:sym typeface="Calibri"/>
                </a:rPr>
                <a:t> Navarro</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Omar Adolfo Olmos Hernández</a:t>
              </a:r>
            </a:p>
            <a:p>
              <a:pPr marL="0" marR="0" lvl="0" indent="0" algn="l" rtl="0">
                <a:lnSpc>
                  <a:spcPct val="120000"/>
                </a:lnSpc>
                <a:spcBef>
                  <a:spcPts val="0"/>
                </a:spcBef>
                <a:spcAft>
                  <a:spcPts val="0"/>
                </a:spcAft>
                <a:buNone/>
              </a:pPr>
              <a:r>
                <a:rPr lang="en-US" sz="2100" dirty="0">
                  <a:solidFill>
                    <a:srgbClr val="D1D5DB"/>
                  </a:solidFill>
                  <a:latin typeface="Calibri"/>
                  <a:ea typeface="Calibri"/>
                  <a:cs typeface="Calibri"/>
                  <a:sym typeface="Calibri"/>
                </a:rPr>
                <a:t>Lenin Andrés Reyes Gómez</a:t>
              </a:r>
              <a:endParaRPr dirty="0"/>
            </a:p>
            <a:p>
              <a:pPr marL="0" marR="0" lvl="0" indent="0" algn="l" rtl="0">
                <a:lnSpc>
                  <a:spcPct val="120000"/>
                </a:lnSpc>
                <a:spcBef>
                  <a:spcPts val="0"/>
                </a:spcBef>
                <a:spcAft>
                  <a:spcPts val="0"/>
                </a:spcAft>
                <a:buNone/>
              </a:pPr>
              <a:r>
                <a:rPr lang="en-US" sz="2100" b="0" i="0" u="none" strike="noStrike" cap="none" dirty="0">
                  <a:solidFill>
                    <a:srgbClr val="D1D5DB"/>
                  </a:solidFill>
                  <a:latin typeface="Calibri"/>
                  <a:ea typeface="Calibri"/>
                  <a:cs typeface="Calibri"/>
                  <a:sym typeface="Calibri"/>
                </a:rPr>
                <a:t>Silvio Alberto Villagra Labbé</a:t>
              </a:r>
              <a:endParaRPr dirty="0"/>
            </a:p>
          </p:txBody>
        </p:sp>
      </p:grpSp>
      <p:grpSp>
        <p:nvGrpSpPr>
          <p:cNvPr id="467" name="Google Shape;467;p14"/>
          <p:cNvGrpSpPr/>
          <p:nvPr/>
        </p:nvGrpSpPr>
        <p:grpSpPr>
          <a:xfrm>
            <a:off x="10058400" y="6547961"/>
            <a:ext cx="7680960" cy="1315879"/>
            <a:chOff x="0" y="-47625"/>
            <a:chExt cx="10241280" cy="1754505"/>
          </a:xfrm>
        </p:grpSpPr>
        <p:sp>
          <p:nvSpPr>
            <p:cNvPr id="468" name="Google Shape;468;p14"/>
            <p:cNvSpPr/>
            <p:nvPr/>
          </p:nvSpPr>
          <p:spPr>
            <a:xfrm>
              <a:off x="0" y="0"/>
              <a:ext cx="10241280" cy="1706880"/>
            </a:xfrm>
            <a:custGeom>
              <a:avLst/>
              <a:gdLst/>
              <a:ahLst/>
              <a:cxnLst/>
              <a:rect l="l" t="t" r="r" b="b"/>
              <a:pathLst>
                <a:path w="10241280" h="1706880" extrusionOk="0">
                  <a:moveTo>
                    <a:pt x="0" y="0"/>
                  </a:moveTo>
                  <a:lnTo>
                    <a:pt x="10241280" y="0"/>
                  </a:lnTo>
                  <a:lnTo>
                    <a:pt x="10241280" y="1706880"/>
                  </a:lnTo>
                  <a:lnTo>
                    <a:pt x="0" y="1706880"/>
                  </a:lnTo>
                  <a:close/>
                </a:path>
              </a:pathLst>
            </a:custGeom>
            <a:blipFill rotWithShape="1">
              <a:blip r:embed="rId3">
                <a:alphaModFix amt="0"/>
              </a:blip>
              <a:stretch>
                <a:fillRect t="-66910" b="-66910"/>
              </a:stretch>
            </a:blipFill>
            <a:ln>
              <a:noFill/>
            </a:ln>
          </p:spPr>
          <p:txBody>
            <a:bodyPr/>
            <a:lstStyle/>
            <a:p>
              <a:endParaRPr lang="es-CL"/>
            </a:p>
          </p:txBody>
        </p:sp>
        <p:sp>
          <p:nvSpPr>
            <p:cNvPr id="469" name="Google Shape;469;p14"/>
            <p:cNvSpPr txBox="1"/>
            <p:nvPr/>
          </p:nvSpPr>
          <p:spPr>
            <a:xfrm>
              <a:off x="0" y="-47625"/>
              <a:ext cx="10241280" cy="175450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dirty="0" err="1">
                  <a:solidFill>
                    <a:srgbClr val="9CA3AF"/>
                  </a:solidFill>
                  <a:latin typeface="Calibri"/>
                  <a:ea typeface="Calibri"/>
                  <a:cs typeface="Calibri"/>
                  <a:sym typeface="Calibri"/>
                </a:rPr>
                <a:t>Facultad</a:t>
              </a:r>
              <a:r>
                <a:rPr lang="en-US" sz="2200" b="0" i="0" u="none" strike="noStrike" cap="none" dirty="0">
                  <a:solidFill>
                    <a:srgbClr val="9CA3AF"/>
                  </a:solidFill>
                  <a:latin typeface="Calibri"/>
                  <a:ea typeface="Calibri"/>
                  <a:cs typeface="Calibri"/>
                  <a:sym typeface="Calibri"/>
                </a:rPr>
                <a:t> de Ingeniería</a:t>
              </a:r>
              <a:endParaRPr dirty="0"/>
            </a:p>
            <a:p>
              <a:pPr marL="0" marR="0" lvl="0" indent="0" algn="l" rtl="0">
                <a:lnSpc>
                  <a:spcPct val="120000"/>
                </a:lnSpc>
                <a:spcBef>
                  <a:spcPts val="0"/>
                </a:spcBef>
                <a:spcAft>
                  <a:spcPts val="0"/>
                </a:spcAft>
                <a:buNone/>
              </a:pPr>
              <a:r>
                <a:rPr lang="en-US" sz="2200" b="0" i="0" u="none" strike="noStrike" cap="none" dirty="0">
                  <a:solidFill>
                    <a:srgbClr val="9CA3AF"/>
                  </a:solidFill>
                  <a:latin typeface="Calibri"/>
                  <a:ea typeface="Calibri"/>
                  <a:cs typeface="Calibri"/>
                  <a:sym typeface="Calibri"/>
                </a:rPr>
                <a:t>Ingeniería de Software II</a:t>
              </a:r>
              <a:endParaRPr dirty="0"/>
            </a:p>
          </p:txBody>
        </p:sp>
      </p:grpSp>
      <p:grpSp>
        <p:nvGrpSpPr>
          <p:cNvPr id="470" name="Google Shape;470;p14"/>
          <p:cNvGrpSpPr/>
          <p:nvPr/>
        </p:nvGrpSpPr>
        <p:grpSpPr>
          <a:xfrm>
            <a:off x="10058400" y="7919561"/>
            <a:ext cx="7680960" cy="675799"/>
            <a:chOff x="0" y="-47625"/>
            <a:chExt cx="10241280" cy="901065"/>
          </a:xfrm>
        </p:grpSpPr>
        <p:sp>
          <p:nvSpPr>
            <p:cNvPr id="471" name="Google Shape;471;p14"/>
            <p:cNvSpPr/>
            <p:nvPr/>
          </p:nvSpPr>
          <p:spPr>
            <a:xfrm>
              <a:off x="0" y="0"/>
              <a:ext cx="10241280" cy="853440"/>
            </a:xfrm>
            <a:custGeom>
              <a:avLst/>
              <a:gdLst/>
              <a:ahLst/>
              <a:cxnLst/>
              <a:rect l="l" t="t" r="r" b="b"/>
              <a:pathLst>
                <a:path w="10241280" h="853440" extrusionOk="0">
                  <a:moveTo>
                    <a:pt x="0" y="0"/>
                  </a:moveTo>
                  <a:lnTo>
                    <a:pt x="10241280" y="0"/>
                  </a:lnTo>
                  <a:lnTo>
                    <a:pt x="10241280" y="853440"/>
                  </a:lnTo>
                  <a:lnTo>
                    <a:pt x="0" y="853440"/>
                  </a:lnTo>
                  <a:close/>
                </a:path>
              </a:pathLst>
            </a:custGeom>
            <a:blipFill rotWithShape="1">
              <a:blip r:embed="rId3">
                <a:alphaModFix amt="0"/>
              </a:blip>
              <a:stretch>
                <a:fillRect t="-183820" b="-183820"/>
              </a:stretch>
            </a:blipFill>
            <a:ln>
              <a:noFill/>
            </a:ln>
          </p:spPr>
          <p:txBody>
            <a:bodyPr/>
            <a:lstStyle/>
            <a:p>
              <a:endParaRPr lang="es-CL"/>
            </a:p>
          </p:txBody>
        </p:sp>
        <p:sp>
          <p:nvSpPr>
            <p:cNvPr id="472" name="Google Shape;472;p14"/>
            <p:cNvSpPr txBox="1"/>
            <p:nvPr/>
          </p:nvSpPr>
          <p:spPr>
            <a:xfrm>
              <a:off x="0" y="-47625"/>
              <a:ext cx="10241280" cy="9010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F47920"/>
                  </a:solidFill>
                  <a:latin typeface="Calibri"/>
                  <a:ea typeface="Calibri"/>
                  <a:cs typeface="Calibri"/>
                  <a:sym typeface="Calibri"/>
                </a:rPr>
                <a:t>Profesor: </a:t>
              </a:r>
              <a:r>
                <a:rPr lang="en-US" sz="2200" b="0" i="0" u="none" strike="noStrike" cap="none">
                  <a:solidFill>
                    <a:srgbClr val="D1D5DB"/>
                  </a:solidFill>
                  <a:latin typeface="Calibri"/>
                  <a:ea typeface="Calibri"/>
                  <a:cs typeface="Calibri"/>
                  <a:sym typeface="Calibri"/>
                </a:rPr>
                <a:t>Paulo Quinsacara Jofré</a:t>
              </a:r>
              <a:endParaRPr/>
            </a:p>
          </p:txBody>
        </p:sp>
      </p:grpSp>
      <p:grpSp>
        <p:nvGrpSpPr>
          <p:cNvPr id="473" name="Google Shape;473;p14"/>
          <p:cNvGrpSpPr/>
          <p:nvPr/>
        </p:nvGrpSpPr>
        <p:grpSpPr>
          <a:xfrm>
            <a:off x="10058400" y="8658225"/>
            <a:ext cx="7680960" cy="577215"/>
            <a:chOff x="0" y="-38100"/>
            <a:chExt cx="10241280" cy="769620"/>
          </a:xfrm>
        </p:grpSpPr>
        <p:sp>
          <p:nvSpPr>
            <p:cNvPr id="474" name="Google Shape;474;p14"/>
            <p:cNvSpPr/>
            <p:nvPr/>
          </p:nvSpPr>
          <p:spPr>
            <a:xfrm>
              <a:off x="0" y="0"/>
              <a:ext cx="10241280" cy="731520"/>
            </a:xfrm>
            <a:custGeom>
              <a:avLst/>
              <a:gdLst/>
              <a:ahLst/>
              <a:cxnLst/>
              <a:rect l="l" t="t" r="r" b="b"/>
              <a:pathLst>
                <a:path w="10241280" h="731520" extrusionOk="0">
                  <a:moveTo>
                    <a:pt x="0" y="0"/>
                  </a:moveTo>
                  <a:lnTo>
                    <a:pt x="10241280" y="0"/>
                  </a:lnTo>
                  <a:lnTo>
                    <a:pt x="10241280" y="731520"/>
                  </a:lnTo>
                  <a:lnTo>
                    <a:pt x="0" y="731520"/>
                  </a:lnTo>
                  <a:close/>
                </a:path>
              </a:pathLst>
            </a:custGeom>
            <a:blipFill rotWithShape="1">
              <a:blip r:embed="rId3">
                <a:alphaModFix amt="0"/>
              </a:blip>
              <a:stretch>
                <a:fillRect t="-222777" b="-222777"/>
              </a:stretch>
            </a:blipFill>
            <a:ln>
              <a:noFill/>
            </a:ln>
          </p:spPr>
          <p:txBody>
            <a:bodyPr/>
            <a:lstStyle/>
            <a:p>
              <a:endParaRPr lang="es-CL"/>
            </a:p>
          </p:txBody>
        </p:sp>
        <p:sp>
          <p:nvSpPr>
            <p:cNvPr id="475" name="Google Shape;475;p14"/>
            <p:cNvSpPr txBox="1"/>
            <p:nvPr/>
          </p:nvSpPr>
          <p:spPr>
            <a:xfrm>
              <a:off x="0" y="-38100"/>
              <a:ext cx="10241280" cy="7696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9CA3AF"/>
                  </a:solidFill>
                  <a:latin typeface="Calibri"/>
                  <a:ea typeface="Calibri"/>
                  <a:cs typeface="Calibri"/>
                  <a:sym typeface="Calibri"/>
                </a:rPr>
                <a:t>Santiago, Chile · 2026</a:t>
              </a:r>
              <a:endParaRPr/>
            </a:p>
          </p:txBody>
        </p:sp>
      </p:grpSp>
      <p:grpSp>
        <p:nvGrpSpPr>
          <p:cNvPr id="476" name="Google Shape;476;p14"/>
          <p:cNvGrpSpPr/>
          <p:nvPr/>
        </p:nvGrpSpPr>
        <p:grpSpPr>
          <a:xfrm>
            <a:off x="927106" y="1522762"/>
            <a:ext cx="4102098" cy="669557"/>
            <a:chOff x="0" y="-66675"/>
            <a:chExt cx="5469465" cy="892743"/>
          </a:xfrm>
        </p:grpSpPr>
        <p:sp>
          <p:nvSpPr>
            <p:cNvPr id="477" name="Google Shape;477;p14"/>
            <p:cNvSpPr/>
            <p:nvPr/>
          </p:nvSpPr>
          <p:spPr>
            <a:xfrm>
              <a:off x="0" y="0"/>
              <a:ext cx="5469465" cy="826068"/>
            </a:xfrm>
            <a:custGeom>
              <a:avLst/>
              <a:gdLst/>
              <a:ahLst/>
              <a:cxnLst/>
              <a:rect l="l" t="t" r="r" b="b"/>
              <a:pathLst>
                <a:path w="5469465" h="826068" extrusionOk="0">
                  <a:moveTo>
                    <a:pt x="0" y="0"/>
                  </a:moveTo>
                  <a:lnTo>
                    <a:pt x="5469465" y="0"/>
                  </a:lnTo>
                  <a:lnTo>
                    <a:pt x="5469465" y="826068"/>
                  </a:lnTo>
                  <a:lnTo>
                    <a:pt x="0" y="826068"/>
                  </a:lnTo>
                  <a:close/>
                </a:path>
              </a:pathLst>
            </a:custGeom>
            <a:blipFill rotWithShape="1">
              <a:blip r:embed="rId3">
                <a:alphaModFix amt="0"/>
              </a:blip>
              <a:stretch>
                <a:fillRect t="-487830" r="-310156" b="-470484"/>
              </a:stretch>
            </a:blipFill>
            <a:ln>
              <a:noFill/>
            </a:ln>
          </p:spPr>
          <p:txBody>
            <a:bodyPr/>
            <a:lstStyle/>
            <a:p>
              <a:endParaRPr lang="es-CL"/>
            </a:p>
          </p:txBody>
        </p:sp>
        <p:sp>
          <p:nvSpPr>
            <p:cNvPr id="478" name="Google Shape;478;p14"/>
            <p:cNvSpPr txBox="1"/>
            <p:nvPr/>
          </p:nvSpPr>
          <p:spPr>
            <a:xfrm>
              <a:off x="0" y="-66675"/>
              <a:ext cx="5469465" cy="892743"/>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3099" b="0" i="0" u="none" strike="noStrike" cap="none">
                  <a:solidFill>
                    <a:srgbClr val="9CA3AF"/>
                  </a:solidFill>
                  <a:latin typeface="Calibri"/>
                  <a:ea typeface="Calibri"/>
                  <a:cs typeface="Calibri"/>
                  <a:sym typeface="Calibri"/>
                </a:rPr>
                <a:t>Universidad Andrés Bello</a:t>
              </a:r>
              <a:endParaRPr/>
            </a:p>
          </p:txBody>
        </p:sp>
      </p:grpSp>
      <p:sp>
        <p:nvSpPr>
          <p:cNvPr id="479" name="Google Shape;479;p14"/>
          <p:cNvSpPr/>
          <p:nvPr/>
        </p:nvSpPr>
        <p:spPr>
          <a:xfrm>
            <a:off x="15760065" y="91428"/>
            <a:ext cx="2228285" cy="1874544"/>
          </a:xfrm>
          <a:custGeom>
            <a:avLst/>
            <a:gdLst/>
            <a:ahLst/>
            <a:cxnLst/>
            <a:rect l="l" t="t" r="r" b="b"/>
            <a:pathLst>
              <a:path w="2228285" h="1874544" extrusionOk="0">
                <a:moveTo>
                  <a:pt x="0" y="0"/>
                </a:moveTo>
                <a:lnTo>
                  <a:pt x="2228285" y="0"/>
                </a:lnTo>
                <a:lnTo>
                  <a:pt x="2228285" y="1874544"/>
                </a:lnTo>
                <a:lnTo>
                  <a:pt x="0" y="1874544"/>
                </a:lnTo>
                <a:lnTo>
                  <a:pt x="0" y="0"/>
                </a:lnTo>
                <a:close/>
              </a:path>
            </a:pathLst>
          </a:custGeom>
          <a:blipFill rotWithShape="1">
            <a:blip r:embed="rId4">
              <a:alphaModFix/>
            </a:blip>
            <a:stretch>
              <a:fillRect/>
            </a:stretch>
          </a:blipFill>
          <a:ln>
            <a:noFill/>
          </a:ln>
        </p:spPr>
        <p:txBody>
          <a:bodyPr/>
          <a:lstStyle/>
          <a:p>
            <a:endParaRPr lang="es-CL"/>
          </a:p>
        </p:txBody>
      </p:sp>
      <p:grpSp>
        <p:nvGrpSpPr>
          <p:cNvPr id="480" name="Google Shape;480;p14"/>
          <p:cNvGrpSpPr/>
          <p:nvPr/>
        </p:nvGrpSpPr>
        <p:grpSpPr>
          <a:xfrm>
            <a:off x="10998822" y="2997518"/>
            <a:ext cx="6740538" cy="2767012"/>
            <a:chOff x="0" y="-257175"/>
            <a:chExt cx="8987384" cy="3689350"/>
          </a:xfrm>
        </p:grpSpPr>
        <p:sp>
          <p:nvSpPr>
            <p:cNvPr id="481" name="Google Shape;481;p14"/>
            <p:cNvSpPr/>
            <p:nvPr/>
          </p:nvSpPr>
          <p:spPr>
            <a:xfrm>
              <a:off x="0" y="0"/>
              <a:ext cx="8987384" cy="3432175"/>
            </a:xfrm>
            <a:custGeom>
              <a:avLst/>
              <a:gdLst/>
              <a:ahLst/>
              <a:cxnLst/>
              <a:rect l="l" t="t" r="r" b="b"/>
              <a:pathLst>
                <a:path w="8987384" h="3432175" extrusionOk="0">
                  <a:moveTo>
                    <a:pt x="0" y="0"/>
                  </a:moveTo>
                  <a:lnTo>
                    <a:pt x="8987384" y="0"/>
                  </a:lnTo>
                  <a:lnTo>
                    <a:pt x="8987384" y="3432175"/>
                  </a:lnTo>
                  <a:lnTo>
                    <a:pt x="0" y="3432175"/>
                  </a:lnTo>
                  <a:close/>
                </a:path>
              </a:pathLst>
            </a:custGeom>
            <a:blipFill rotWithShape="1">
              <a:blip r:embed="rId3">
                <a:alphaModFix amt="0"/>
              </a:blip>
              <a:stretch>
                <a:fillRect t="-84732" r="-149607" b="-69986"/>
              </a:stretch>
            </a:blipFill>
            <a:ln>
              <a:noFill/>
            </a:ln>
          </p:spPr>
          <p:txBody>
            <a:bodyPr/>
            <a:lstStyle/>
            <a:p>
              <a:endParaRPr lang="es-CL"/>
            </a:p>
          </p:txBody>
        </p:sp>
        <p:sp>
          <p:nvSpPr>
            <p:cNvPr id="482" name="Google Shape;482;p14"/>
            <p:cNvSpPr txBox="1"/>
            <p:nvPr/>
          </p:nvSpPr>
          <p:spPr>
            <a:xfrm>
              <a:off x="0" y="-257175"/>
              <a:ext cx="8987384" cy="3689350"/>
            </a:xfrm>
            <a:prstGeom prst="rect">
              <a:avLst/>
            </a:prstGeom>
            <a:noFill/>
            <a:ln>
              <a:noFill/>
            </a:ln>
          </p:spPr>
          <p:txBody>
            <a:bodyPr spcFirstLastPara="1" wrap="square" lIns="0" tIns="0" rIns="0" bIns="0" anchor="ctr" anchorCtr="0">
              <a:noAutofit/>
            </a:bodyPr>
            <a:lstStyle/>
            <a:p>
              <a:pPr marL="0" marR="0" lvl="0" indent="0" algn="l" rtl="0">
                <a:lnSpc>
                  <a:spcPct val="853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1581</Words>
  <Application>Microsoft Office PowerPoint</Application>
  <PresentationFormat>Personalizado</PresentationFormat>
  <Paragraphs>262</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 Narrow</vt:lpstr>
      <vt:lpstr>Arial</vt:lpstr>
      <vt:lpstr>Calibri</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Sofia Cariñe</cp:lastModifiedBy>
  <cp:revision>5</cp:revision>
  <dcterms:created xsi:type="dcterms:W3CDTF">2006-08-16T00:00:00Z</dcterms:created>
  <dcterms:modified xsi:type="dcterms:W3CDTF">2026-08-21T20:50:00Z</dcterms:modified>
</cp:coreProperties>
</file>