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iFKjea94/7xLBMDUmbQbpwObPC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5" name="Google Shape;145;p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47" name="Google Shape;147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7" name="Google Shape;167;p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69" name="Google Shape;169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8d24f3253_0_2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f8d24f3253_0_2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87" name="Google Shape;187;g3f8d24f3253_0_29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f8d24f3253_0_29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189" name="Google Shape;189;g3f8d24f3253_0_29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g3f8d24f3253_0_29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06" name="Google Shape;206;p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08" name="Google Shape;208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6" name="Google Shape;226;p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28" name="Google Shape;228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f8d24f3253_0_5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g3f8d24f3253_0_5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g3f8d24f3253_0_52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g3f8d24f3253_0_52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47" name="Google Shape;247;g3f8d24f3253_0_52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8d24f3253_0_52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8d24f3253_0_7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g3f8d24f3253_0_7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4" name="Google Shape;264;g3f8d24f3253_0_76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g3f8d24f3253_0_7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66" name="Google Shape;266;g3f8d24f3253_0_7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f8d24f3253_0_7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83" name="Google Shape;283;p7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285" name="Google Shape;285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6" name="Google Shape;306;p8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08" name="Google Shape;308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28" name="Google Shape;328;p10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30" name="Google Shape;330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f8d270b6c3_0_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8d270b6c3_0_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50" name="Google Shape;350;g3f8d270b6c3_0_3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g3f8d270b6c3_0_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52" name="Google Shape;352;g3f8d270b6c3_0_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g3f8d270b6c3_0_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70" name="Google Shape;370;p11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72" name="Google Shape;372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93" name="Google Shape;393;p12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395" name="Google Shape;395;p1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15" name="Google Shape;415;p1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1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17" name="Google Shape;417;p1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37" name="Google Shape;437;p14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8" name="Google Shape;438;p1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39" name="Google Shape;439;p1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60" name="Google Shape;460;p15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62" name="Google Shape;462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f8d270b6c3_0_3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g3f8d270b6c3_0_3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482" name="Google Shape;482;g3f8d270b6c3_0_35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3" name="Google Shape;483;g3f8d270b6c3_0_35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484" name="Google Shape;484;g3f8d270b6c3_0_35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g3f8d270b6c3_0_35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04" name="Google Shape;504;p16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06" name="Google Shape;506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27" name="Google Shape;527;p17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1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29" name="Google Shape;529;p1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1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49" name="Google Shape;549;p18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0" name="Google Shape;550;p1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51" name="Google Shape;551;p1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f8d270b6c3_0_6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8d270b6c3_0_6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70" name="Google Shape;570;g3f8d270b6c3_0_61:notes"/>
          <p:cNvSpPr/>
          <p:nvPr>
            <p:ph idx="3" type="sldImg"/>
          </p:nvPr>
        </p:nvSpPr>
        <p:spPr>
          <a:xfrm>
            <a:off x="2290763" y="512763"/>
            <a:ext cx="45624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1" name="Google Shape;571;g3f8d270b6c3_0_61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72" name="Google Shape;572;g3f8d270b6c3_0_61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g3f8d270b6c3_0_61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592" name="Google Shape;592;p23:notes"/>
          <p:cNvSpPr/>
          <p:nvPr>
            <p:ph idx="3" type="sldImg"/>
          </p:nvPr>
        </p:nvSpPr>
        <p:spPr>
          <a:xfrm>
            <a:off x="2290763" y="512763"/>
            <a:ext cx="4562475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3" name="Google Shape;593;p2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1.7.2013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‹#›</a:t>
            </a:r>
            <a:endParaRPr/>
          </a:p>
        </p:txBody>
      </p:sp>
      <p:sp>
        <p:nvSpPr>
          <p:cNvPr id="594" name="Google Shape;594;p2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-22222" y="-22222"/>
            <a:ext cx="373666" cy="10331483"/>
          </a:xfrm>
          <a:custGeom>
            <a:rect b="b" l="l" r="r" t="t"/>
            <a:pathLst>
              <a:path extrusionOk="0" h="13775310" w="498221">
                <a:moveTo>
                  <a:pt x="0" y="0"/>
                </a:moveTo>
                <a:lnTo>
                  <a:pt x="498221" y="0"/>
                </a:lnTo>
                <a:lnTo>
                  <a:pt x="498221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914400" y="1005840"/>
            <a:ext cx="14264640" cy="640080"/>
          </a:xfrm>
          <a:custGeom>
            <a:rect b="b" l="l" r="r" t="t"/>
            <a:pathLst>
              <a:path extrusionOk="0" h="853440" w="19019520">
                <a:moveTo>
                  <a:pt x="0" y="0"/>
                </a:moveTo>
                <a:lnTo>
                  <a:pt x="19019520" y="0"/>
                </a:lnTo>
                <a:lnTo>
                  <a:pt x="1901952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83952" l="0" r="0" t="-3839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914400" y="934402"/>
            <a:ext cx="14264640" cy="711518"/>
            <a:chOff x="0" y="-47625"/>
            <a:chExt cx="19019520" cy="948690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9019520" cy="901065"/>
            </a:xfrm>
            <a:custGeom>
              <a:rect b="b" l="l" r="r" t="t"/>
              <a:pathLst>
                <a:path extrusionOk="0" h="90106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01065"/>
                  </a:lnTo>
                  <a:lnTo>
                    <a:pt x="0" y="9010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1320" l="0" r="0" t="-3613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19019520" cy="948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SISTEMA DE INVENTARIO</a:t>
              </a:r>
              <a:endParaRPr/>
            </a:p>
          </p:txBody>
        </p:sp>
      </p:grpSp>
      <p:sp>
        <p:nvSpPr>
          <p:cNvPr id="97" name="Google Shape;97;p1"/>
          <p:cNvSpPr/>
          <p:nvPr/>
        </p:nvSpPr>
        <p:spPr>
          <a:xfrm>
            <a:off x="914400" y="1828800"/>
            <a:ext cx="14264640" cy="4389120"/>
          </a:xfrm>
          <a:custGeom>
            <a:rect b="b" l="l" r="r" t="t"/>
            <a:pathLst>
              <a:path extrusionOk="0" h="5852160" w="19019520">
                <a:moveTo>
                  <a:pt x="0" y="0"/>
                </a:moveTo>
                <a:lnTo>
                  <a:pt x="19019520" y="0"/>
                </a:lnTo>
                <a:lnTo>
                  <a:pt x="19019520" y="5852160"/>
                </a:lnTo>
                <a:lnTo>
                  <a:pt x="0" y="58521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3282" l="0" r="0" t="-132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914400" y="1585912"/>
            <a:ext cx="14264640" cy="4632008"/>
            <a:chOff x="0" y="-161925"/>
            <a:chExt cx="19019520" cy="6176010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19019520" cy="6014085"/>
            </a:xfrm>
            <a:custGeom>
              <a:rect b="b" l="l" r="r" t="t"/>
              <a:pathLst>
                <a:path extrusionOk="0" h="601408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014085"/>
                  </a:lnTo>
                  <a:lnTo>
                    <a:pt x="0" y="601408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620" l="0" r="0" t="-116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1"/>
            <p:cNvSpPr txBox="1"/>
            <p:nvPr/>
          </p:nvSpPr>
          <p:spPr>
            <a:xfrm>
              <a:off x="0" y="-161925"/>
              <a:ext cx="19019520" cy="6176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PROYECTO INGENIERÍA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 SOFTWARE II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INCREMENTO 1 GRUPO 14</a:t>
              </a:r>
              <a:endParaRPr/>
            </a:p>
          </p:txBody>
        </p:sp>
      </p:grpSp>
      <p:sp>
        <p:nvSpPr>
          <p:cNvPr id="101" name="Google Shape;101;p1"/>
          <p:cNvSpPr/>
          <p:nvPr/>
        </p:nvSpPr>
        <p:spPr>
          <a:xfrm>
            <a:off x="917581" y="5916235"/>
            <a:ext cx="8274082" cy="117634"/>
          </a:xfrm>
          <a:custGeom>
            <a:rect b="b" l="l" r="r" t="t"/>
            <a:pathLst>
              <a:path extrusionOk="0" h="156845" w="11032109">
                <a:moveTo>
                  <a:pt x="0" y="0"/>
                </a:moveTo>
                <a:lnTo>
                  <a:pt x="11032109" y="0"/>
                </a:lnTo>
                <a:lnTo>
                  <a:pt x="11032109" y="156845"/>
                </a:lnTo>
                <a:lnTo>
                  <a:pt x="0" y="156845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914400" y="6583680"/>
            <a:ext cx="8229600" cy="548640"/>
          </a:xfrm>
          <a:custGeom>
            <a:rect b="b" l="l" r="r" t="t"/>
            <a:pathLst>
              <a:path extrusionOk="0" h="731520" w="10972800">
                <a:moveTo>
                  <a:pt x="0" y="0"/>
                </a:moveTo>
                <a:lnTo>
                  <a:pt x="10972800" y="0"/>
                </a:lnTo>
                <a:lnTo>
                  <a:pt x="1097280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42070" l="0" r="0" t="-2420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" name="Google Shape;103;p1"/>
          <p:cNvGrpSpPr/>
          <p:nvPr/>
        </p:nvGrpSpPr>
        <p:grpSpPr>
          <a:xfrm>
            <a:off x="914400" y="6512242"/>
            <a:ext cx="8229600" cy="620078"/>
            <a:chOff x="0" y="-47625"/>
            <a:chExt cx="10972800" cy="82677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0972800" cy="779145"/>
            </a:xfrm>
            <a:custGeom>
              <a:rect b="b" l="l" r="r" t="t"/>
              <a:pathLst>
                <a:path extrusionOk="0" h="7791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4424" l="0" r="0" t="-2244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Autores:</a:t>
              </a:r>
              <a:endParaRPr/>
            </a:p>
          </p:txBody>
        </p:sp>
      </p:grpSp>
      <p:sp>
        <p:nvSpPr>
          <p:cNvPr id="106" name="Google Shape;106;p1"/>
          <p:cNvSpPr/>
          <p:nvPr/>
        </p:nvSpPr>
        <p:spPr>
          <a:xfrm>
            <a:off x="914400" y="7132320"/>
            <a:ext cx="8229600" cy="2377440"/>
          </a:xfrm>
          <a:custGeom>
            <a:rect b="b" l="l" r="r" t="t"/>
            <a:pathLst>
              <a:path extrusionOk="0" h="3169920" w="10972800">
                <a:moveTo>
                  <a:pt x="0" y="0"/>
                </a:moveTo>
                <a:lnTo>
                  <a:pt x="10972800" y="0"/>
                </a:lnTo>
                <a:lnTo>
                  <a:pt x="10972800" y="3169920"/>
                </a:lnTo>
                <a:lnTo>
                  <a:pt x="0" y="31699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7402" l="0" r="0" t="-174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" name="Google Shape;107;p1"/>
          <p:cNvGrpSpPr/>
          <p:nvPr/>
        </p:nvGrpSpPr>
        <p:grpSpPr>
          <a:xfrm>
            <a:off x="914400" y="7060882"/>
            <a:ext cx="8229600" cy="2448878"/>
            <a:chOff x="0" y="-47625"/>
            <a:chExt cx="10972800" cy="3265170"/>
          </a:xfrm>
        </p:grpSpPr>
        <p:sp>
          <p:nvSpPr>
            <p:cNvPr id="108" name="Google Shape;108;p1"/>
            <p:cNvSpPr/>
            <p:nvPr/>
          </p:nvSpPr>
          <p:spPr>
            <a:xfrm>
              <a:off x="0" y="0"/>
              <a:ext cx="10972800" cy="3217545"/>
            </a:xfrm>
            <a:custGeom>
              <a:rect b="b" l="l" r="r" t="t"/>
              <a:pathLst>
                <a:path extrusionOk="0" h="32175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7545"/>
                  </a:lnTo>
                  <a:lnTo>
                    <a:pt x="0" y="32175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449" l="0" r="0" t="-1644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1"/>
            <p:cNvSpPr txBox="1"/>
            <p:nvPr/>
          </p:nvSpPr>
          <p:spPr>
            <a:xfrm>
              <a:off x="0" y="-47625"/>
              <a:ext cx="10972800" cy="3265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Sofia Isidora Cariñe Valenzuela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Jhoe Eduardo Castillo Barrios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Karla Aylin Curín Navarro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Omar Adolfo Olmos Hernández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Lenin Andrés Reyes Gómez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Silvio Alberto Villagra Labbé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0" name="Google Shape;110;p1"/>
          <p:cNvSpPr/>
          <p:nvPr/>
        </p:nvSpPr>
        <p:spPr>
          <a:xfrm>
            <a:off x="10058400" y="6583680"/>
            <a:ext cx="7680960" cy="1280160"/>
          </a:xfrm>
          <a:custGeom>
            <a:rect b="b" l="l" r="r" t="t"/>
            <a:pathLst>
              <a:path extrusionOk="0" h="1706880" w="10241280">
                <a:moveTo>
                  <a:pt x="0" y="0"/>
                </a:moveTo>
                <a:lnTo>
                  <a:pt x="10241280" y="0"/>
                </a:lnTo>
                <a:lnTo>
                  <a:pt x="10241280" y="1706880"/>
                </a:lnTo>
                <a:lnTo>
                  <a:pt x="0" y="17068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6828" l="0" r="0" t="-668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1" name="Google Shape;111;p1"/>
          <p:cNvGrpSpPr/>
          <p:nvPr/>
        </p:nvGrpSpPr>
        <p:grpSpPr>
          <a:xfrm>
            <a:off x="10058400" y="6512242"/>
            <a:ext cx="7680960" cy="1351598"/>
            <a:chOff x="0" y="-47625"/>
            <a:chExt cx="10241280" cy="1802130"/>
          </a:xfrm>
        </p:grpSpPr>
        <p:sp>
          <p:nvSpPr>
            <p:cNvPr id="112" name="Google Shape;112;p1"/>
            <p:cNvSpPr/>
            <p:nvPr/>
          </p:nvSpPr>
          <p:spPr>
            <a:xfrm>
              <a:off x="0" y="0"/>
              <a:ext cx="10241280" cy="1754505"/>
            </a:xfrm>
            <a:custGeom>
              <a:rect b="b" l="l" r="r" t="t"/>
              <a:pathLst>
                <a:path extrusionOk="0" h="17545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4505"/>
                  </a:lnTo>
                  <a:lnTo>
                    <a:pt x="0" y="17545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3735" l="0" r="0" t="-6373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"/>
            <p:cNvSpPr txBox="1"/>
            <p:nvPr/>
          </p:nvSpPr>
          <p:spPr>
            <a:xfrm>
              <a:off x="0" y="-47625"/>
              <a:ext cx="10241280" cy="1802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Facultad de Ingeniería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Ingeniería de Software II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10058400" y="7955280"/>
            <a:ext cx="7680960" cy="640080"/>
          </a:xfrm>
          <a:custGeom>
            <a:rect b="b" l="l" r="r" t="t"/>
            <a:pathLst>
              <a:path extrusionOk="0" h="853440" w="10241280">
                <a:moveTo>
                  <a:pt x="0" y="0"/>
                </a:moveTo>
                <a:lnTo>
                  <a:pt x="10241280" y="0"/>
                </a:lnTo>
                <a:lnTo>
                  <a:pt x="1024128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83667" l="0" r="0" t="-1836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"/>
          <p:cNvGrpSpPr/>
          <p:nvPr/>
        </p:nvGrpSpPr>
        <p:grpSpPr>
          <a:xfrm>
            <a:off x="10058400" y="7883842"/>
            <a:ext cx="7680960" cy="711518"/>
            <a:chOff x="0" y="-47625"/>
            <a:chExt cx="10241280" cy="948690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10241280" cy="901065"/>
            </a:xfrm>
            <a:custGeom>
              <a:rect b="b" l="l" r="r" t="t"/>
              <a:pathLst>
                <a:path extrusionOk="0" h="90106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1065"/>
                  </a:lnTo>
                  <a:lnTo>
                    <a:pt x="0" y="9010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1454" l="0" r="0" t="-1714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0" y="-47625"/>
              <a:ext cx="10241280" cy="948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Profesor: </a:t>
              </a:r>
              <a:r>
                <a:rPr lang="en-US" sz="22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Paulo Quinsacara Jofré</a:t>
              </a:r>
              <a:endParaRPr/>
            </a:p>
          </p:txBody>
        </p:sp>
      </p:grpSp>
      <p:sp>
        <p:nvSpPr>
          <p:cNvPr id="118" name="Google Shape;118;p1"/>
          <p:cNvSpPr/>
          <p:nvPr/>
        </p:nvSpPr>
        <p:spPr>
          <a:xfrm>
            <a:off x="10058400" y="8686800"/>
            <a:ext cx="7680960" cy="548640"/>
          </a:xfrm>
          <a:custGeom>
            <a:rect b="b" l="l" r="r" t="t"/>
            <a:pathLst>
              <a:path extrusionOk="0" h="731520" w="10241280">
                <a:moveTo>
                  <a:pt x="0" y="0"/>
                </a:moveTo>
                <a:lnTo>
                  <a:pt x="10241280" y="0"/>
                </a:lnTo>
                <a:lnTo>
                  <a:pt x="1024128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22598" l="0" r="0" t="-2225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" name="Google Shape;119;p1"/>
          <p:cNvGrpSpPr/>
          <p:nvPr/>
        </p:nvGrpSpPr>
        <p:grpSpPr>
          <a:xfrm>
            <a:off x="10058400" y="8629650"/>
            <a:ext cx="7680960" cy="605790"/>
            <a:chOff x="0" y="-38100"/>
            <a:chExt cx="10241280" cy="807720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10241280" cy="769620"/>
            </a:xfrm>
            <a:custGeom>
              <a:rect b="b" l="l" r="r" t="t"/>
              <a:pathLst>
                <a:path extrusionOk="0" h="7696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69620"/>
                  </a:lnTo>
                  <a:lnTo>
                    <a:pt x="0" y="7696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9282" l="0" r="0" t="-2092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38100"/>
              <a:ext cx="10241280" cy="807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Santiago, Chile · 2026</a:t>
              </a:r>
              <a:endParaRPr/>
            </a:p>
          </p:txBody>
        </p:sp>
      </p:grpSp>
      <p:sp>
        <p:nvSpPr>
          <p:cNvPr id="122" name="Google Shape;122;p1"/>
          <p:cNvSpPr/>
          <p:nvPr/>
        </p:nvSpPr>
        <p:spPr>
          <a:xfrm>
            <a:off x="927106" y="1572768"/>
            <a:ext cx="4102132" cy="619506"/>
          </a:xfrm>
          <a:custGeom>
            <a:rect b="b" l="l" r="r" t="t"/>
            <a:pathLst>
              <a:path extrusionOk="0" h="826008" w="5469509">
                <a:moveTo>
                  <a:pt x="0" y="0"/>
                </a:moveTo>
                <a:lnTo>
                  <a:pt x="5469509" y="0"/>
                </a:lnTo>
                <a:lnTo>
                  <a:pt x="5469509" y="826008"/>
                </a:lnTo>
                <a:lnTo>
                  <a:pt x="0" y="82600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8935" l="0" r="0" t="-789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3" name="Google Shape;123;p1"/>
          <p:cNvGrpSpPr/>
          <p:nvPr/>
        </p:nvGrpSpPr>
        <p:grpSpPr>
          <a:xfrm>
            <a:off x="927106" y="1472756"/>
            <a:ext cx="4102099" cy="719566"/>
            <a:chOff x="0" y="-66675"/>
            <a:chExt cx="5469464" cy="959421"/>
          </a:xfrm>
        </p:grpSpPr>
        <p:sp>
          <p:nvSpPr>
            <p:cNvPr id="124" name="Google Shape;124;p1"/>
            <p:cNvSpPr/>
            <p:nvPr/>
          </p:nvSpPr>
          <p:spPr>
            <a:xfrm>
              <a:off x="0" y="0"/>
              <a:ext cx="5469464" cy="892743"/>
            </a:xfrm>
            <a:custGeom>
              <a:rect b="b" l="l" r="r" t="t"/>
              <a:pathLst>
                <a:path extrusionOk="0" h="892743" w="5469464">
                  <a:moveTo>
                    <a:pt x="0" y="0"/>
                  </a:moveTo>
                  <a:lnTo>
                    <a:pt x="5469464" y="0"/>
                  </a:lnTo>
                  <a:lnTo>
                    <a:pt x="5469464" y="892743"/>
                  </a:lnTo>
                  <a:lnTo>
                    <a:pt x="0" y="89274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9377" l="0" r="0" t="-693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"/>
            <p:cNvSpPr txBox="1"/>
            <p:nvPr/>
          </p:nvSpPr>
          <p:spPr>
            <a:xfrm>
              <a:off x="0" y="-66675"/>
              <a:ext cx="5469458" cy="959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9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Universidad Andrés Bello</a:t>
              </a:r>
              <a:endParaRPr/>
            </a:p>
          </p:txBody>
        </p:sp>
      </p:grpSp>
      <p:sp>
        <p:nvSpPr>
          <p:cNvPr id="126" name="Google Shape;126;p1"/>
          <p:cNvSpPr/>
          <p:nvPr/>
        </p:nvSpPr>
        <p:spPr>
          <a:xfrm>
            <a:off x="15760065" y="91430"/>
            <a:ext cx="2228278" cy="1874520"/>
          </a:xfrm>
          <a:custGeom>
            <a:rect b="b" l="l" r="r" t="t"/>
            <a:pathLst>
              <a:path extrusionOk="0" h="2499360" w="2971038">
                <a:moveTo>
                  <a:pt x="0" y="0"/>
                </a:moveTo>
                <a:lnTo>
                  <a:pt x="2971038" y="0"/>
                </a:lnTo>
                <a:lnTo>
                  <a:pt x="2971038" y="2499360"/>
                </a:lnTo>
                <a:lnTo>
                  <a:pt x="0" y="2499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49" l="0" r="0" t="-1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/>
          <p:nvPr/>
        </p:nvSpPr>
        <p:spPr>
          <a:xfrm>
            <a:off x="8208264" y="3715779"/>
            <a:ext cx="1871472" cy="1005840"/>
          </a:xfrm>
          <a:custGeom>
            <a:rect b="b" l="l" r="r" t="t"/>
            <a:pathLst>
              <a:path extrusionOk="0" h="1341120" w="2495296">
                <a:moveTo>
                  <a:pt x="0" y="0"/>
                </a:moveTo>
                <a:lnTo>
                  <a:pt x="2495296" y="0"/>
                </a:lnTo>
                <a:lnTo>
                  <a:pt x="2495296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0" l="-19005" r="-19005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2"/>
          <p:cNvGrpSpPr/>
          <p:nvPr/>
        </p:nvGrpSpPr>
        <p:grpSpPr>
          <a:xfrm>
            <a:off x="8208264" y="3601479"/>
            <a:ext cx="1871463" cy="1120140"/>
            <a:chOff x="0" y="-76200"/>
            <a:chExt cx="2495284" cy="1493520"/>
          </a:xfrm>
        </p:grpSpPr>
        <p:sp>
          <p:nvSpPr>
            <p:cNvPr id="133" name="Google Shape;133;p2"/>
            <p:cNvSpPr/>
            <p:nvPr/>
          </p:nvSpPr>
          <p:spPr>
            <a:xfrm>
              <a:off x="0" y="0"/>
              <a:ext cx="2495284" cy="1417320"/>
            </a:xfrm>
            <a:custGeom>
              <a:rect b="b" l="l" r="r" t="t"/>
              <a:pathLst>
                <a:path extrusionOk="0" h="1417320" w="2495284">
                  <a:moveTo>
                    <a:pt x="0" y="0"/>
                  </a:moveTo>
                  <a:lnTo>
                    <a:pt x="2495284" y="0"/>
                  </a:lnTo>
                  <a:lnTo>
                    <a:pt x="2495284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22876" r="-22876" t="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4" name="Google Shape;134;p2"/>
            <p:cNvSpPr txBox="1"/>
            <p:nvPr/>
          </p:nvSpPr>
          <p:spPr>
            <a:xfrm>
              <a:off x="0" y="-76200"/>
              <a:ext cx="2495283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Anexos</a:t>
              </a:r>
              <a:endParaRPr/>
            </a:p>
          </p:txBody>
        </p:sp>
      </p:grpSp>
      <p:sp>
        <p:nvSpPr>
          <p:cNvPr id="135" name="Google Shape;135;p2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/>
          <p:nvPr/>
        </p:nvSpPr>
        <p:spPr>
          <a:xfrm>
            <a:off x="7955023" y="4593146"/>
            <a:ext cx="2378011" cy="148209"/>
          </a:xfrm>
          <a:custGeom>
            <a:rect b="b" l="l" r="r" t="t"/>
            <a:pathLst>
              <a:path extrusionOk="0" h="197612" w="3170682">
                <a:moveTo>
                  <a:pt x="0" y="0"/>
                </a:moveTo>
                <a:lnTo>
                  <a:pt x="3170682" y="0"/>
                </a:lnTo>
                <a:lnTo>
                  <a:pt x="3170682" y="197612"/>
                </a:lnTo>
                <a:lnTo>
                  <a:pt x="0" y="197612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9" name="Google Shape;139;p2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140" name="Google Shape;140;p2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640080" y="219456"/>
            <a:ext cx="17007840" cy="1005840"/>
          </a:xfrm>
          <a:custGeom>
            <a:rect b="b" l="l" r="r" t="t"/>
            <a:pathLst>
              <a:path extrusionOk="0" h="1341120" w="22677120">
                <a:moveTo>
                  <a:pt x="0" y="0"/>
                </a:moveTo>
                <a:lnTo>
                  <a:pt x="22677120" y="0"/>
                </a:lnTo>
                <a:lnTo>
                  <a:pt x="22677120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79251" l="0" r="0" t="-2792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3" name="Google Shape;153;p3"/>
          <p:cNvGrpSpPr/>
          <p:nvPr/>
        </p:nvGrpSpPr>
        <p:grpSpPr>
          <a:xfrm>
            <a:off x="640080" y="105156"/>
            <a:ext cx="17007840" cy="1120140"/>
            <a:chOff x="0" y="-76200"/>
            <a:chExt cx="22677120" cy="1493520"/>
          </a:xfrm>
        </p:grpSpPr>
        <p:sp>
          <p:nvSpPr>
            <p:cNvPr id="154" name="Google Shape;154;p3"/>
            <p:cNvSpPr/>
            <p:nvPr/>
          </p:nvSpPr>
          <p:spPr>
            <a:xfrm>
              <a:off x="0" y="0"/>
              <a:ext cx="22677120" cy="1417320"/>
            </a:xfrm>
            <a:custGeom>
              <a:rect b="b" l="l" r="r" t="t"/>
              <a:pathLst>
                <a:path extrusionOk="0"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3"/>
            <p:cNvSpPr txBox="1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SQL-Tabla MATERIAL </a:t>
              </a:r>
              <a:endParaRPr/>
            </a:p>
          </p:txBody>
        </p:sp>
      </p:grpSp>
      <p:sp>
        <p:nvSpPr>
          <p:cNvPr id="156" name="Google Shape;156;p3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3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158" name="Google Shape;158;p3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9" name="Google Shape;159;p3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160" name="Google Shape;160;p3"/>
          <p:cNvSpPr/>
          <p:nvPr/>
        </p:nvSpPr>
        <p:spPr>
          <a:xfrm>
            <a:off x="1014400" y="1148125"/>
            <a:ext cx="17074515" cy="8120063"/>
          </a:xfrm>
          <a:custGeom>
            <a:rect b="b" l="l" r="r" t="t"/>
            <a:pathLst>
              <a:path extrusionOk="0" h="9842500" w="22766020">
                <a:moveTo>
                  <a:pt x="0" y="0"/>
                </a:moveTo>
                <a:lnTo>
                  <a:pt x="22766020" y="0"/>
                </a:lnTo>
                <a:lnTo>
                  <a:pt x="22766020" y="9842500"/>
                </a:lnTo>
                <a:lnTo>
                  <a:pt x="0" y="9842500"/>
                </a:lnTo>
                <a:close/>
              </a:path>
            </a:pathLst>
          </a:custGeom>
          <a:solidFill>
            <a:srgbClr val="1E1E1E"/>
          </a:solidFill>
          <a:ln cap="sq" cmpd="sng" w="381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1608230" y="1399118"/>
            <a:ext cx="6308893" cy="6448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-- Entidad central del inventario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38B6FF"/>
                </a:solidFill>
                <a:latin typeface="Calibri"/>
                <a:ea typeface="Calibri"/>
                <a:cs typeface="Calibri"/>
                <a:sym typeface="Calibri"/>
              </a:rPr>
              <a:t>CREATE TABLE material (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material_sku VARCHAR(16) NOT NULL,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-- SKU: 4-16 chars, único → satisface FR-01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material_nombre_material VARCHAR(200) NOT NULL,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material_descripcion TEXT,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material_material_critico BOOLEAN NOT NULL DEFAULT FALSE,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material_presentacion VARCHAR(150),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material_stock_critico NUMERIC(12,4),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material_stock_maximo NUMERIC(12,4),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material_stock_minimo NUMERIC(12,4),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material_es_rotativo BOOLEAN NOT NULL DEFAULT TRUE,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material_estado VARCHAR(50) NOT NULL,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38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 -- FKs hacia catálogos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material_categoria_general_id_cat BIGINT,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material_categoria_funcional_id_cat BIGINT,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material_clasificacion_nivel_esp_id BIGINT,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material_unidad_medida_id BIGINT NOT NULL,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DE59"/>
                </a:solidFill>
                <a:latin typeface="Calibri"/>
                <a:ea typeface="Calibri"/>
                <a:cs typeface="Calibri"/>
                <a:sym typeface="Calibri"/>
              </a:rPr>
              <a:t> CONSTRAINT pk_material PRIMARY KEY (material_sku),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DE59"/>
                </a:solidFill>
                <a:latin typeface="Calibri"/>
                <a:ea typeface="Calibri"/>
                <a:cs typeface="Calibri"/>
                <a:sym typeface="Calibri"/>
              </a:rPr>
              <a:t> CONSTRAINT ck_material_sku_len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DE59"/>
                </a:solidFill>
                <a:latin typeface="Calibri"/>
                <a:ea typeface="Calibri"/>
                <a:cs typeface="Calibri"/>
                <a:sym typeface="Calibri"/>
              </a:rPr>
              <a:t> CHECK (length(material_sku) BETWEEN 4 AND 16)</a:t>
            </a:r>
            <a:endParaRPr/>
          </a:p>
          <a:p>
            <a:pPr indent="0" lvl="0" marL="0" marR="0" rtl="0" algn="l">
              <a:lnSpc>
                <a:spcPct val="12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38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endParaRPr/>
          </a:p>
        </p:txBody>
      </p:sp>
      <p:sp>
        <p:nvSpPr>
          <p:cNvPr id="162" name="Google Shape;162;p3"/>
          <p:cNvSpPr txBox="1"/>
          <p:nvPr/>
        </p:nvSpPr>
        <p:spPr>
          <a:xfrm>
            <a:off x="11188132" y="1418168"/>
            <a:ext cx="4210764" cy="300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-- Claves foráneas de material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38B6FF"/>
                </a:solidFill>
                <a:latin typeface="Calibri"/>
                <a:ea typeface="Calibri"/>
                <a:cs typeface="Calibri"/>
                <a:sym typeface="Calibri"/>
              </a:rPr>
              <a:t>ALTER TABLE material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ADD CONSTRAINT fk_mat_cat_gen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FOREIGN KEY (...)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REFERENCES material_categoria_general,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ADD CONSTRAINT fk_mat_cat_func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FOREIGN KEY (...)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REFERENCES material_categoria_funcional,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ADD CONSTRAINT fk_mat_unidad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FOREIGN KEY (material_unidad_medida_id)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REFERENCES material_unidad_medida;</a:t>
            </a:r>
            <a:endParaRPr/>
          </a:p>
        </p:txBody>
      </p:sp>
      <p:sp>
        <p:nvSpPr>
          <p:cNvPr id="163" name="Google Shape;163;p3"/>
          <p:cNvSpPr txBox="1"/>
          <p:nvPr/>
        </p:nvSpPr>
        <p:spPr>
          <a:xfrm>
            <a:off x="11152537" y="5385940"/>
            <a:ext cx="4245893" cy="2009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2">
                <a:solidFill>
                  <a:srgbClr val="00BF63"/>
                </a:solidFill>
                <a:latin typeface="Calibri"/>
                <a:ea typeface="Calibri"/>
                <a:cs typeface="Calibri"/>
                <a:sym typeface="Calibri"/>
              </a:rPr>
              <a:t>-- Índices de material</a:t>
            </a:r>
            <a:endParaRPr/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INDEX idx_material_estado</a:t>
            </a:r>
            <a:endParaRPr/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ON material(material_estado);</a:t>
            </a:r>
            <a:endParaRPr/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INDEX idx_material_cat_gen</a:t>
            </a:r>
            <a:endParaRPr/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ON material(material_categoria_general...);</a:t>
            </a:r>
            <a:endParaRPr/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INDEX idx_material_unidad</a:t>
            </a:r>
            <a:endParaRPr/>
          </a:p>
          <a:p>
            <a:pPr indent="0" lvl="0" marL="0" marR="0" rtl="0" algn="l">
              <a:lnSpc>
                <a:spcPct val="12003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2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ON material(material_unidad_medida...);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4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4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4"/>
          <p:cNvSpPr/>
          <p:nvPr/>
        </p:nvSpPr>
        <p:spPr>
          <a:xfrm>
            <a:off x="640080" y="219456"/>
            <a:ext cx="17007840" cy="1005840"/>
          </a:xfrm>
          <a:custGeom>
            <a:rect b="b" l="l" r="r" t="t"/>
            <a:pathLst>
              <a:path extrusionOk="0" h="1341120" w="22677120">
                <a:moveTo>
                  <a:pt x="0" y="0"/>
                </a:moveTo>
                <a:lnTo>
                  <a:pt x="22677120" y="0"/>
                </a:lnTo>
                <a:lnTo>
                  <a:pt x="22677120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79251" l="0" r="0" t="-2792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5" name="Google Shape;175;p4"/>
          <p:cNvGrpSpPr/>
          <p:nvPr/>
        </p:nvGrpSpPr>
        <p:grpSpPr>
          <a:xfrm>
            <a:off x="640080" y="105156"/>
            <a:ext cx="17007840" cy="1120140"/>
            <a:chOff x="0" y="-76200"/>
            <a:chExt cx="22677120" cy="1493520"/>
          </a:xfrm>
        </p:grpSpPr>
        <p:sp>
          <p:nvSpPr>
            <p:cNvPr id="176" name="Google Shape;176;p4"/>
            <p:cNvSpPr/>
            <p:nvPr/>
          </p:nvSpPr>
          <p:spPr>
            <a:xfrm>
              <a:off x="0" y="0"/>
              <a:ext cx="22677120" cy="1417320"/>
            </a:xfrm>
            <a:custGeom>
              <a:rect b="b" l="l" r="r" t="t"/>
              <a:pathLst>
                <a:path extrusionOk="0"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4"/>
            <p:cNvSpPr txBox="1"/>
            <p:nvPr/>
          </p:nvSpPr>
          <p:spPr>
            <a:xfrm>
              <a:off x="0" y="-76200"/>
              <a:ext cx="22677120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SQL-Tabla 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alerta_faltante_pedido y inventario.alerta_inventario</a:t>
              </a:r>
              <a:endParaRPr/>
            </a:p>
          </p:txBody>
        </p:sp>
      </p:grpSp>
      <p:sp>
        <p:nvSpPr>
          <p:cNvPr id="178" name="Google Shape;178;p4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9" name="Google Shape;179;p4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180" name="Google Shape;180;p4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4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182" name="Google Shape;182;p4"/>
          <p:cNvSpPr txBox="1"/>
          <p:nvPr/>
        </p:nvSpPr>
        <p:spPr>
          <a:xfrm>
            <a:off x="423500" y="1955950"/>
            <a:ext cx="10014000" cy="71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CREATE TABLE inventario.alerta_faltante_pedido</a:t>
            </a: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 (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alerta_faltante_pedido_id_alerta_faltante bigint CONSTRAINT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alerta_faltante_pedido_alerta_faltante_pedido_id_alert_not_null NOT NULL,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alerta_faltante_pedido_fecha_generacion timestamp with time zone DEFAULT now() CONSTRAINT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alerta_faltante_pedido_alerta_faltante_pedido_fecha_ge_not_null NOT NULL,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alerta_faltante_pedido_cantidad_disponible numeric(12,4),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alerta_faltante_pedido_cantidad_requerida numeric(12,4),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alerta_faltante_pedido_horas_anticipacion integer,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alerta_faltante_pedido_estado character varying(50) NOT NULL,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material_sku character varying (16) NOT NULL,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proveedor_id_proveedor bigint,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usuario_id_usuario bigint,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E8E8E8"/>
                </a:solidFill>
                <a:highlight>
                  <a:srgbClr val="1F1F1F"/>
                </a:highlight>
              </a:rPr>
              <a:t>proyecto_id_proyecto bigint,</a:t>
            </a:r>
            <a:endParaRPr sz="2050">
              <a:solidFill>
                <a:srgbClr val="E8E8E8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DE59"/>
                </a:solidFill>
                <a:highlight>
                  <a:srgbClr val="1F1F1F"/>
                </a:highlight>
              </a:rPr>
              <a:t>CONSTRAINT ck_afp_disp CHECK ((alerta_faltante_pedido_cantidad_disponible &gt;= (0)::numeric)),</a:t>
            </a:r>
            <a:endParaRPr sz="2050">
              <a:solidFill>
                <a:srgbClr val="FFDE59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DE59"/>
                </a:solidFill>
                <a:highlight>
                  <a:srgbClr val="1F1F1F"/>
                </a:highlight>
              </a:rPr>
              <a:t>CONSTRAINT ck_afp_hrs CHECK ((alerta_faltante_pedido_horas_anticipacion &gt;= 0)),</a:t>
            </a:r>
            <a:endParaRPr sz="2050">
              <a:solidFill>
                <a:srgbClr val="FFDE59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FFDE59"/>
                </a:solidFill>
                <a:highlight>
                  <a:srgbClr val="1F1F1F"/>
                </a:highlight>
              </a:rPr>
              <a:t>CONSTRAINT ck_afp_req CHECK ((alerta_faltante_pedido_cantidad_requerida &gt;= (0)::numeric))</a:t>
            </a:r>
            <a:r>
              <a:rPr lang="en-US" sz="2100">
                <a:solidFill>
                  <a:srgbClr val="FFDE59"/>
                </a:solidFill>
              </a:rPr>
              <a:t> </a:t>
            </a:r>
            <a:endParaRPr b="1" sz="2813">
              <a:solidFill>
                <a:srgbClr val="FFDE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10807175" y="1955938"/>
            <a:ext cx="7779600" cy="56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CREATE TABLE inventario.alerta_inventario </a:t>
            </a: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(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alerta_inventario_id_alerta bigint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alerta_inventario_mensaje text,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alerta_inventario_fecha_generacion timestamp with time zone DEFAULT now()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alerta_inventario_fecha_est_agotamiento date,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alerta_inventario_estado character varying (50)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material_sku character varying (16)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proveedor_id_proveedor bigint,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alerta_inventario_tipo_alerta_id_tipo_alerta bigint CONSTRAINT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alerta_inventario_alerta_inventario_tipo_alerta_id_tip_not_null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historial_alerta_id_historial bigint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accent5"/>
                </a:solidFill>
                <a:highlight>
                  <a:srgbClr val="1F1F1F"/>
                </a:highlight>
              </a:rPr>
              <a:t>);</a:t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8d24f3253_0_29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8d24f3253_0_29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8d24f3253_0_29"/>
          <p:cNvSpPr/>
          <p:nvPr/>
        </p:nvSpPr>
        <p:spPr>
          <a:xfrm>
            <a:off x="640080" y="219456"/>
            <a:ext cx="17007840" cy="1005840"/>
          </a:xfrm>
          <a:custGeom>
            <a:rect b="b" l="l" r="r" t="t"/>
            <a:pathLst>
              <a:path extrusionOk="0" h="1341120" w="22677120">
                <a:moveTo>
                  <a:pt x="0" y="0"/>
                </a:moveTo>
                <a:lnTo>
                  <a:pt x="22677120" y="0"/>
                </a:lnTo>
                <a:lnTo>
                  <a:pt x="22677120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79251" l="0" r="0" t="-27925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g3f8d24f3253_0_29"/>
          <p:cNvGrpSpPr/>
          <p:nvPr/>
        </p:nvGrpSpPr>
        <p:grpSpPr>
          <a:xfrm>
            <a:off x="640080" y="105156"/>
            <a:ext cx="17007840" cy="1120140"/>
            <a:chOff x="0" y="-76200"/>
            <a:chExt cx="22677120" cy="1493520"/>
          </a:xfrm>
        </p:grpSpPr>
        <p:sp>
          <p:nvSpPr>
            <p:cNvPr id="196" name="Google Shape;196;g3f8d24f3253_0_29"/>
            <p:cNvSpPr/>
            <p:nvPr/>
          </p:nvSpPr>
          <p:spPr>
            <a:xfrm>
              <a:off x="0" y="0"/>
              <a:ext cx="22677120" cy="1417320"/>
            </a:xfrm>
            <a:custGeom>
              <a:rect b="b" l="l" r="r" t="t"/>
              <a:pathLst>
                <a:path extrusionOk="0" h="141732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61760" l="0" r="0" t="-26176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g3f8d24f3253_0_29"/>
            <p:cNvSpPr txBox="1"/>
            <p:nvPr/>
          </p:nvSpPr>
          <p:spPr>
            <a:xfrm>
              <a:off x="0" y="-76200"/>
              <a:ext cx="226770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SQL-Tabla 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inventario.orden_trabajo</a:t>
              </a:r>
              <a:endParaRPr/>
            </a:p>
          </p:txBody>
        </p:sp>
      </p:grpSp>
      <p:sp>
        <p:nvSpPr>
          <p:cNvPr id="198" name="Google Shape;198;g3f8d24f3253_0_29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9" name="Google Shape;199;g3f8d24f3253_0_29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00" name="Google Shape;200;g3f8d24f3253_0_29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g3f8d24f3253_0_29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202" name="Google Shape;202;g3f8d24f3253_0_29"/>
          <p:cNvSpPr txBox="1"/>
          <p:nvPr/>
        </p:nvSpPr>
        <p:spPr>
          <a:xfrm>
            <a:off x="533949" y="2646338"/>
            <a:ext cx="11532900" cy="3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rgbClr val="38B6FF"/>
                </a:solidFill>
                <a:highlight>
                  <a:srgbClr val="1F1F1F"/>
                </a:highlight>
              </a:rPr>
              <a:t>CREATE TABLE inventario.orden_trabajo</a:t>
            </a: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 (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orden_trabajo_id_orden bigint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orden_trabajo_fecha_hora timestamp with time zone DEFAULT now()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orden_trabajo_estado character varying (50)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especificaciones_puerta_id_especificacion_puerta bigint,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proyecto_id_proyecto bigint,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area_trabajo_id_area bigint NOT NULL,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usuario_id_usuario bigint NOT NULL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050">
                <a:solidFill>
                  <a:schemeClr val="lt1"/>
                </a:solidFill>
                <a:highlight>
                  <a:srgbClr val="1F1F1F"/>
                </a:highlight>
              </a:rPr>
              <a:t>);</a:t>
            </a:r>
            <a:endParaRPr sz="2050">
              <a:solidFill>
                <a:schemeClr val="lt1"/>
              </a:solidFill>
              <a:highlight>
                <a:srgbClr val="1F1F1F"/>
              </a:highlight>
            </a:endParaRPr>
          </a:p>
          <a:p>
            <a:pPr indent="0" lvl="0" marL="0" marR="0" rtl="0" algn="l">
              <a:lnSpc>
                <a:spcPct val="12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50">
              <a:solidFill>
                <a:schemeClr val="accent5"/>
              </a:solidFill>
              <a:highlight>
                <a:srgbClr val="1F1F1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5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5"/>
          <p:cNvSpPr/>
          <p:nvPr/>
        </p:nvSpPr>
        <p:spPr>
          <a:xfrm>
            <a:off x="640080" y="221952"/>
            <a:ext cx="4385881" cy="1005840"/>
          </a:xfrm>
          <a:custGeom>
            <a:rect b="b" l="l" r="r" t="t"/>
            <a:pathLst>
              <a:path extrusionOk="0" h="1341120" w="5847842">
                <a:moveTo>
                  <a:pt x="0" y="0"/>
                </a:moveTo>
                <a:lnTo>
                  <a:pt x="5847842" y="0"/>
                </a:lnTo>
                <a:lnTo>
                  <a:pt x="5847842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4904" l="0" r="0" t="-349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4" name="Google Shape;214;p5"/>
          <p:cNvGrpSpPr/>
          <p:nvPr/>
        </p:nvGrpSpPr>
        <p:grpSpPr>
          <a:xfrm>
            <a:off x="640080" y="107652"/>
            <a:ext cx="4385862" cy="1120140"/>
            <a:chOff x="0" y="-76200"/>
            <a:chExt cx="5847817" cy="1493520"/>
          </a:xfrm>
        </p:grpSpPr>
        <p:sp>
          <p:nvSpPr>
            <p:cNvPr id="215" name="Google Shape;215;p5"/>
            <p:cNvSpPr/>
            <p:nvPr/>
          </p:nvSpPr>
          <p:spPr>
            <a:xfrm>
              <a:off x="0" y="0"/>
              <a:ext cx="5847815" cy="1417320"/>
            </a:xfrm>
            <a:custGeom>
              <a:rect b="b" l="l" r="r" t="t"/>
              <a:pathLst>
                <a:path extrusionOk="0"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394" l="0" r="0" t="-303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5"/>
            <p:cNvSpPr txBox="1"/>
            <p:nvPr/>
          </p:nvSpPr>
          <p:spPr>
            <a:xfrm>
              <a:off x="0" y="-76200"/>
              <a:ext cx="584781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MERE</a:t>
              </a:r>
              <a:endParaRPr/>
            </a:p>
          </p:txBody>
        </p:sp>
      </p:grpSp>
      <p:sp>
        <p:nvSpPr>
          <p:cNvPr id="217" name="Google Shape;217;p5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8" name="Google Shape;218;p5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19" name="Google Shape;219;p5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221" name="Google Shape;221;p5"/>
          <p:cNvSpPr/>
          <p:nvPr/>
        </p:nvSpPr>
        <p:spPr>
          <a:xfrm>
            <a:off x="4149138" y="665636"/>
            <a:ext cx="9989725" cy="8575263"/>
          </a:xfrm>
          <a:custGeom>
            <a:rect b="b" l="l" r="r" t="t"/>
            <a:pathLst>
              <a:path extrusionOk="0" h="11433683" w="13319633">
                <a:moveTo>
                  <a:pt x="0" y="0"/>
                </a:moveTo>
                <a:lnTo>
                  <a:pt x="13319633" y="0"/>
                </a:lnTo>
                <a:lnTo>
                  <a:pt x="13319633" y="11433683"/>
                </a:lnTo>
                <a:lnTo>
                  <a:pt x="0" y="114336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/>
          <p:nvPr/>
        </p:nvSpPr>
        <p:spPr>
          <a:xfrm>
            <a:off x="4139613" y="9231354"/>
            <a:ext cx="10008775" cy="200978"/>
          </a:xfrm>
          <a:custGeom>
            <a:rect b="b" l="l" r="r" t="t"/>
            <a:pathLst>
              <a:path extrusionOk="0" h="267970" w="13345033">
                <a:moveTo>
                  <a:pt x="0" y="0"/>
                </a:moveTo>
                <a:lnTo>
                  <a:pt x="13345033" y="0"/>
                </a:lnTo>
                <a:lnTo>
                  <a:pt x="13345033" y="267970"/>
                </a:lnTo>
                <a:lnTo>
                  <a:pt x="0" y="26797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40080" y="221952"/>
            <a:ext cx="4385881" cy="1005840"/>
          </a:xfrm>
          <a:custGeom>
            <a:rect b="b" l="l" r="r" t="t"/>
            <a:pathLst>
              <a:path extrusionOk="0" h="1341120" w="5847842">
                <a:moveTo>
                  <a:pt x="0" y="0"/>
                </a:moveTo>
                <a:lnTo>
                  <a:pt x="5847842" y="0"/>
                </a:lnTo>
                <a:lnTo>
                  <a:pt x="5847842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4904" l="0" r="0" t="-34904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4" name="Google Shape;234;p6"/>
          <p:cNvGrpSpPr/>
          <p:nvPr/>
        </p:nvGrpSpPr>
        <p:grpSpPr>
          <a:xfrm>
            <a:off x="640080" y="107652"/>
            <a:ext cx="4385862" cy="1120140"/>
            <a:chOff x="0" y="-76200"/>
            <a:chExt cx="5847817" cy="1493520"/>
          </a:xfrm>
        </p:grpSpPr>
        <p:sp>
          <p:nvSpPr>
            <p:cNvPr id="235" name="Google Shape;235;p6"/>
            <p:cNvSpPr/>
            <p:nvPr/>
          </p:nvSpPr>
          <p:spPr>
            <a:xfrm>
              <a:off x="0" y="0"/>
              <a:ext cx="5847815" cy="1417320"/>
            </a:xfrm>
            <a:custGeom>
              <a:rect b="b" l="l" r="r" t="t"/>
              <a:pathLst>
                <a:path extrusionOk="0"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394" l="0" r="0" t="-3039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0" y="-76200"/>
              <a:ext cx="584781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MERE</a:t>
              </a:r>
              <a:endParaRPr/>
            </a:p>
          </p:txBody>
        </p:sp>
      </p:grpSp>
      <p:sp>
        <p:nvSpPr>
          <p:cNvPr id="237" name="Google Shape;237;p6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8" name="Google Shape;238;p6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39" name="Google Shape;239;p6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6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pic>
        <p:nvPicPr>
          <p:cNvPr id="241" name="Google Shape;241;p6" title="Copia de MERE - Puertas Blindadas-Página-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43398" y="2332215"/>
            <a:ext cx="8001201" cy="5251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8d24f3253_0_52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g3f8d24f3253_0_52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g3f8d24f3253_0_52"/>
          <p:cNvSpPr/>
          <p:nvPr/>
        </p:nvSpPr>
        <p:spPr>
          <a:xfrm>
            <a:off x="640080" y="221952"/>
            <a:ext cx="4385881" cy="1005840"/>
          </a:xfrm>
          <a:custGeom>
            <a:rect b="b" l="l" r="r" t="t"/>
            <a:pathLst>
              <a:path extrusionOk="0" h="1341120" w="5847842">
                <a:moveTo>
                  <a:pt x="0" y="0"/>
                </a:moveTo>
                <a:lnTo>
                  <a:pt x="5847842" y="0"/>
                </a:lnTo>
                <a:lnTo>
                  <a:pt x="5847842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4909" l="0" r="0" t="-348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3" name="Google Shape;253;g3f8d24f3253_0_52"/>
          <p:cNvGrpSpPr/>
          <p:nvPr/>
        </p:nvGrpSpPr>
        <p:grpSpPr>
          <a:xfrm>
            <a:off x="640080" y="107652"/>
            <a:ext cx="4385925" cy="1120140"/>
            <a:chOff x="0" y="-76200"/>
            <a:chExt cx="5847900" cy="1493520"/>
          </a:xfrm>
        </p:grpSpPr>
        <p:sp>
          <p:nvSpPr>
            <p:cNvPr id="254" name="Google Shape;254;g3f8d24f3253_0_52"/>
            <p:cNvSpPr/>
            <p:nvPr/>
          </p:nvSpPr>
          <p:spPr>
            <a:xfrm>
              <a:off x="0" y="0"/>
              <a:ext cx="5847815" cy="1417320"/>
            </a:xfrm>
            <a:custGeom>
              <a:rect b="b" l="l" r="r" t="t"/>
              <a:pathLst>
                <a:path extrusionOk="0"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401" l="0" r="0" t="-30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" name="Google Shape;255;g3f8d24f3253_0_52"/>
            <p:cNvSpPr txBox="1"/>
            <p:nvPr/>
          </p:nvSpPr>
          <p:spPr>
            <a:xfrm>
              <a:off x="0" y="-76200"/>
              <a:ext cx="58479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MERE</a:t>
              </a:r>
              <a:endParaRPr/>
            </a:p>
          </p:txBody>
        </p:sp>
      </p:grpSp>
      <p:sp>
        <p:nvSpPr>
          <p:cNvPr id="256" name="Google Shape;256;g3f8d24f3253_0_52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g3f8d24f3253_0_52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58" name="Google Shape;258;g3f8d24f3253_0_52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f8d24f3253_0_52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pic>
        <p:nvPicPr>
          <p:cNvPr id="260" name="Google Shape;260;g3f8d24f3253_0_52" title="Copia de MERE - Puertas Blindadas-Página-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47063" y="1709363"/>
            <a:ext cx="8993875" cy="753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f8d24f3253_0_76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g3f8d24f3253_0_76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g3f8d24f3253_0_76"/>
          <p:cNvSpPr/>
          <p:nvPr/>
        </p:nvSpPr>
        <p:spPr>
          <a:xfrm>
            <a:off x="640080" y="221952"/>
            <a:ext cx="4385881" cy="1005840"/>
          </a:xfrm>
          <a:custGeom>
            <a:rect b="b" l="l" r="r" t="t"/>
            <a:pathLst>
              <a:path extrusionOk="0" h="1341120" w="5847842">
                <a:moveTo>
                  <a:pt x="0" y="0"/>
                </a:moveTo>
                <a:lnTo>
                  <a:pt x="5847842" y="0"/>
                </a:lnTo>
                <a:lnTo>
                  <a:pt x="5847842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4909" l="0" r="0" t="-34899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2" name="Google Shape;272;g3f8d24f3253_0_76"/>
          <p:cNvGrpSpPr/>
          <p:nvPr/>
        </p:nvGrpSpPr>
        <p:grpSpPr>
          <a:xfrm>
            <a:off x="640080" y="107652"/>
            <a:ext cx="4385925" cy="1120140"/>
            <a:chOff x="0" y="-76200"/>
            <a:chExt cx="5847900" cy="1493520"/>
          </a:xfrm>
        </p:grpSpPr>
        <p:sp>
          <p:nvSpPr>
            <p:cNvPr id="273" name="Google Shape;273;g3f8d24f3253_0_76"/>
            <p:cNvSpPr/>
            <p:nvPr/>
          </p:nvSpPr>
          <p:spPr>
            <a:xfrm>
              <a:off x="0" y="0"/>
              <a:ext cx="5847815" cy="1417320"/>
            </a:xfrm>
            <a:custGeom>
              <a:rect b="b" l="l" r="r" t="t"/>
              <a:pathLst>
                <a:path extrusionOk="0" h="1417320" w="5847815">
                  <a:moveTo>
                    <a:pt x="0" y="0"/>
                  </a:moveTo>
                  <a:lnTo>
                    <a:pt x="5847815" y="0"/>
                  </a:lnTo>
                  <a:lnTo>
                    <a:pt x="5847815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401" l="0" r="0" t="-3038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g3f8d24f3253_0_76"/>
            <p:cNvSpPr txBox="1"/>
            <p:nvPr/>
          </p:nvSpPr>
          <p:spPr>
            <a:xfrm>
              <a:off x="0" y="-76200"/>
              <a:ext cx="58479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MERE</a:t>
              </a:r>
              <a:endParaRPr/>
            </a:p>
          </p:txBody>
        </p:sp>
      </p:grpSp>
      <p:sp>
        <p:nvSpPr>
          <p:cNvPr id="275" name="Google Shape;275;g3f8d24f3253_0_76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g3f8d24f3253_0_76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77" name="Google Shape;277;g3f8d24f3253_0_76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g3f8d24f3253_0_76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pic>
        <p:nvPicPr>
          <p:cNvPr id="279" name="Google Shape;279;g3f8d24f3253_0_76" title="Copia de MERE - Puertas Blindadas-Página-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05949" y="2343001"/>
            <a:ext cx="12095574" cy="581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7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1" name="Google Shape;291;p7"/>
          <p:cNvGrpSpPr/>
          <p:nvPr/>
        </p:nvGrpSpPr>
        <p:grpSpPr>
          <a:xfrm>
            <a:off x="640075" y="411475"/>
            <a:ext cx="17670150" cy="1120145"/>
            <a:chOff x="-7" y="-76207"/>
            <a:chExt cx="23560200" cy="1493527"/>
          </a:xfrm>
        </p:grpSpPr>
        <p:sp>
          <p:nvSpPr>
            <p:cNvPr id="292" name="Google Shape;292;p7"/>
            <p:cNvSpPr/>
            <p:nvPr/>
          </p:nvSpPr>
          <p:spPr>
            <a:xfrm>
              <a:off x="0" y="0"/>
              <a:ext cx="21903012" cy="1417320"/>
            </a:xfrm>
            <a:custGeom>
              <a:rect b="b" l="l" r="r" t="t"/>
              <a:pathLst>
                <a:path extrusionOk="0"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1132" l="0" r="0" t="-2511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7"/>
            <p:cNvSpPr txBox="1"/>
            <p:nvPr/>
          </p:nvSpPr>
          <p:spPr>
            <a:xfrm>
              <a:off x="-7" y="-76207"/>
              <a:ext cx="235602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CU-95: Registrando consumos en orden de trabajo</a:t>
              </a:r>
              <a:endPara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4" name="Google Shape;294;p7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5" name="Google Shape;295;p7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296" name="Google Shape;296;p7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7" name="Google Shape;297;p7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298" name="Google Shape;298;p7"/>
          <p:cNvSpPr/>
          <p:nvPr/>
        </p:nvSpPr>
        <p:spPr>
          <a:xfrm>
            <a:off x="640080" y="1531620"/>
            <a:ext cx="3134868" cy="569405"/>
          </a:xfrm>
          <a:custGeom>
            <a:rect b="b" l="l" r="r" t="t"/>
            <a:pathLst>
              <a:path extrusionOk="0" h="759206" w="4179824">
                <a:moveTo>
                  <a:pt x="0" y="0"/>
                </a:moveTo>
                <a:lnTo>
                  <a:pt x="4179824" y="0"/>
                </a:lnTo>
                <a:lnTo>
                  <a:pt x="4179824" y="759206"/>
                </a:lnTo>
                <a:lnTo>
                  <a:pt x="0" y="759206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57202" l="0" r="0" t="-5719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9" name="Google Shape;299;p7"/>
          <p:cNvGrpSpPr/>
          <p:nvPr/>
        </p:nvGrpSpPr>
        <p:grpSpPr>
          <a:xfrm>
            <a:off x="793880" y="1283233"/>
            <a:ext cx="5081258" cy="899808"/>
            <a:chOff x="205067" y="-264508"/>
            <a:chExt cx="6775009" cy="1199743"/>
          </a:xfrm>
        </p:grpSpPr>
        <p:sp>
          <p:nvSpPr>
            <p:cNvPr id="300" name="Google Shape;300;p7"/>
            <p:cNvSpPr/>
            <p:nvPr/>
          </p:nvSpPr>
          <p:spPr>
            <a:xfrm>
              <a:off x="2800233" y="109333"/>
              <a:ext cx="4179843" cy="825902"/>
            </a:xfrm>
            <a:custGeom>
              <a:rect b="b" l="l" r="r" t="t"/>
              <a:pathLst>
                <a:path extrusionOk="0" h="825902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825902"/>
                  </a:lnTo>
                  <a:lnTo>
                    <a:pt x="0" y="82590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48612" l="0" r="0" t="-4861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" name="Google Shape;301;p7"/>
            <p:cNvSpPr txBox="1"/>
            <p:nvPr/>
          </p:nvSpPr>
          <p:spPr>
            <a:xfrm>
              <a:off x="205067" y="-264508"/>
              <a:ext cx="4179900" cy="8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997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799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Flujo general</a:t>
              </a:r>
              <a:endParaRPr/>
            </a:p>
          </p:txBody>
        </p:sp>
      </p:grpSp>
      <p:pic>
        <p:nvPicPr>
          <p:cNvPr id="302" name="Google Shape;302;p7" title="UR 11.1 CU-95-Flujo general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06341" y="2253425"/>
            <a:ext cx="15275300" cy="7321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8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6" name="Google Shape;316;p8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317" name="Google Shape;317;p8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8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319" name="Google Shape;319;p8"/>
          <p:cNvSpPr/>
          <p:nvPr/>
        </p:nvSpPr>
        <p:spPr>
          <a:xfrm>
            <a:off x="640080" y="1341120"/>
            <a:ext cx="15666339" cy="812196"/>
          </a:xfrm>
          <a:custGeom>
            <a:rect b="b" l="l" r="r" t="t"/>
            <a:pathLst>
              <a:path extrusionOk="0" h="1082929" w="20888452">
                <a:moveTo>
                  <a:pt x="0" y="0"/>
                </a:moveTo>
                <a:lnTo>
                  <a:pt x="20888452" y="0"/>
                </a:lnTo>
                <a:lnTo>
                  <a:pt x="20888452" y="1082929"/>
                </a:lnTo>
                <a:lnTo>
                  <a:pt x="0" y="1082929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25601" l="0" r="0" t="-32560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8"/>
          <p:cNvGrpSpPr/>
          <p:nvPr/>
        </p:nvGrpSpPr>
        <p:grpSpPr>
          <a:xfrm>
            <a:off x="522180" y="1266145"/>
            <a:ext cx="15784274" cy="912149"/>
            <a:chOff x="-157200" y="-33292"/>
            <a:chExt cx="21045699" cy="1216200"/>
          </a:xfrm>
        </p:grpSpPr>
        <p:sp>
          <p:nvSpPr>
            <p:cNvPr id="321" name="Google Shape;321;p8"/>
            <p:cNvSpPr/>
            <p:nvPr/>
          </p:nvSpPr>
          <p:spPr>
            <a:xfrm>
              <a:off x="0" y="0"/>
              <a:ext cx="20888499" cy="1149568"/>
            </a:xfrm>
            <a:custGeom>
              <a:rect b="b" l="l" r="r" t="t"/>
              <a:pathLst>
                <a:path extrusionOk="0" h="1149568" w="20888499">
                  <a:moveTo>
                    <a:pt x="0" y="0"/>
                  </a:moveTo>
                  <a:lnTo>
                    <a:pt x="20888499" y="0"/>
                  </a:lnTo>
                  <a:lnTo>
                    <a:pt x="20888499" y="1149568"/>
                  </a:lnTo>
                  <a:lnTo>
                    <a:pt x="0" y="114956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04057" l="0" r="0" t="-30405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8"/>
            <p:cNvSpPr txBox="1"/>
            <p:nvPr/>
          </p:nvSpPr>
          <p:spPr>
            <a:xfrm>
              <a:off x="-157200" y="-33292"/>
              <a:ext cx="20888400" cy="1216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1: Cantidad igual o menor a cero. El sistema muestra un error y exige un valor positivo.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23" name="Google Shape;323;p8" title="UR 11.1 CU-95-Excepcion 1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85366" y="2405825"/>
            <a:ext cx="14943946" cy="7321104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8"/>
          <p:cNvSpPr txBox="1"/>
          <p:nvPr/>
        </p:nvSpPr>
        <p:spPr>
          <a:xfrm>
            <a:off x="522187" y="440175"/>
            <a:ext cx="176703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de secuencia CU-95: Registrando consumos en orden de trabajo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0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38" name="Google Shape;338;p10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339" name="Google Shape;339;p10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0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341" name="Google Shape;341;p10"/>
          <p:cNvSpPr/>
          <p:nvPr/>
        </p:nvSpPr>
        <p:spPr>
          <a:xfrm>
            <a:off x="640080" y="1531620"/>
            <a:ext cx="11676221" cy="756475"/>
          </a:xfrm>
          <a:custGeom>
            <a:rect b="b" l="l" r="r" t="t"/>
            <a:pathLst>
              <a:path extrusionOk="0" h="1008634" w="15568295">
                <a:moveTo>
                  <a:pt x="0" y="0"/>
                </a:moveTo>
                <a:lnTo>
                  <a:pt x="15568295" y="0"/>
                </a:lnTo>
                <a:lnTo>
                  <a:pt x="15568295" y="1008634"/>
                </a:lnTo>
                <a:lnTo>
                  <a:pt x="0" y="100863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50532" l="0" r="0" t="-250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0"/>
          <p:cNvGrpSpPr/>
          <p:nvPr/>
        </p:nvGrpSpPr>
        <p:grpSpPr>
          <a:xfrm>
            <a:off x="640073" y="1431600"/>
            <a:ext cx="17382375" cy="856575"/>
            <a:chOff x="-10" y="-66685"/>
            <a:chExt cx="23176500" cy="1142100"/>
          </a:xfrm>
        </p:grpSpPr>
        <p:sp>
          <p:nvSpPr>
            <p:cNvPr id="343" name="Google Shape;343;p10"/>
            <p:cNvSpPr/>
            <p:nvPr/>
          </p:nvSpPr>
          <p:spPr>
            <a:xfrm>
              <a:off x="0" y="0"/>
              <a:ext cx="15568329" cy="1075284"/>
            </a:xfrm>
            <a:custGeom>
              <a:rect b="b" l="l" r="r" t="t"/>
              <a:pathLst>
                <a:path extrusionOk="0" h="1075284" w="15568329">
                  <a:moveTo>
                    <a:pt x="0" y="0"/>
                  </a:moveTo>
                  <a:lnTo>
                    <a:pt x="15568329" y="0"/>
                  </a:lnTo>
                  <a:lnTo>
                    <a:pt x="15568329" y="1075284"/>
                  </a:lnTo>
                  <a:lnTo>
                    <a:pt x="0" y="10752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2103" l="0" r="0" t="-23210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0"/>
            <p:cNvSpPr txBox="1"/>
            <p:nvPr/>
          </p:nvSpPr>
          <p:spPr>
            <a:xfrm>
              <a:off x="-10" y="-66685"/>
              <a:ext cx="23176500" cy="114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2: El producto ya fue registrado como consumo en esta misma OT. El sistema pregunta si desea actualizar la cantidad existente o sumar a la ya registrada.</a:t>
              </a:r>
              <a:endParaRPr/>
            </a:p>
          </p:txBody>
        </p:sp>
      </p:grpSp>
      <p:pic>
        <p:nvPicPr>
          <p:cNvPr id="345" name="Google Shape;345;p10" title="UR 11.1 CU-95-Excepcion 2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64441" y="2440495"/>
            <a:ext cx="14562097" cy="713403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10"/>
          <p:cNvSpPr txBox="1"/>
          <p:nvPr/>
        </p:nvSpPr>
        <p:spPr>
          <a:xfrm>
            <a:off x="496112" y="440175"/>
            <a:ext cx="176703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Diagrama de secuencia CU-95: Registrando consumos en orden de trabajo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8d270b6c3_0_3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g3f8d270b6c3_0_3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g3f8d270b6c3_0_3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8" name="Google Shape;358;g3f8d270b6c3_0_3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359" name="Google Shape;359;g3f8d270b6c3_0_3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g3f8d270b6c3_0_3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361" name="Google Shape;361;g3f8d270b6c3_0_3"/>
          <p:cNvSpPr/>
          <p:nvPr/>
        </p:nvSpPr>
        <p:spPr>
          <a:xfrm>
            <a:off x="640080" y="1531620"/>
            <a:ext cx="11676221" cy="756476"/>
          </a:xfrm>
          <a:custGeom>
            <a:rect b="b" l="l" r="r" t="t"/>
            <a:pathLst>
              <a:path extrusionOk="0" h="1008634" w="15568295">
                <a:moveTo>
                  <a:pt x="0" y="0"/>
                </a:moveTo>
                <a:lnTo>
                  <a:pt x="15568295" y="0"/>
                </a:lnTo>
                <a:lnTo>
                  <a:pt x="15568295" y="1008634"/>
                </a:lnTo>
                <a:lnTo>
                  <a:pt x="0" y="1008634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50532" l="0" r="0" t="-25053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g3f8d270b6c3_0_3"/>
          <p:cNvGrpSpPr/>
          <p:nvPr/>
        </p:nvGrpSpPr>
        <p:grpSpPr>
          <a:xfrm>
            <a:off x="456325" y="1481614"/>
            <a:ext cx="17235000" cy="936036"/>
            <a:chOff x="-245007" y="0"/>
            <a:chExt cx="22980000" cy="1248048"/>
          </a:xfrm>
        </p:grpSpPr>
        <p:sp>
          <p:nvSpPr>
            <p:cNvPr id="363" name="Google Shape;363;g3f8d270b6c3_0_3"/>
            <p:cNvSpPr/>
            <p:nvPr/>
          </p:nvSpPr>
          <p:spPr>
            <a:xfrm>
              <a:off x="0" y="0"/>
              <a:ext cx="15568329" cy="1075284"/>
            </a:xfrm>
            <a:custGeom>
              <a:rect b="b" l="l" r="r" t="t"/>
              <a:pathLst>
                <a:path extrusionOk="0" h="1075284" w="15568329">
                  <a:moveTo>
                    <a:pt x="0" y="0"/>
                  </a:moveTo>
                  <a:lnTo>
                    <a:pt x="15568329" y="0"/>
                  </a:lnTo>
                  <a:lnTo>
                    <a:pt x="15568329" y="1075284"/>
                  </a:lnTo>
                  <a:lnTo>
                    <a:pt x="0" y="107528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32109" l="0" r="0" t="-23209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g3f8d270b6c3_0_3"/>
            <p:cNvSpPr txBox="1"/>
            <p:nvPr/>
          </p:nvSpPr>
          <p:spPr>
            <a:xfrm>
              <a:off x="-245007" y="33348"/>
              <a:ext cx="22980000" cy="1214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3: No existen Órdenes de Trabajo en estado "Abierta". El sistema informa que no hay OTs disponibles para registrar consumos.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65" name="Google Shape;365;g3f8d270b6c3_0_3" title="UR 11.1 CU-95-Excepcion 3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6828" y="3291695"/>
            <a:ext cx="17741482" cy="4732319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g3f8d270b6c3_0_3"/>
          <p:cNvSpPr txBox="1"/>
          <p:nvPr/>
        </p:nvSpPr>
        <p:spPr>
          <a:xfrm>
            <a:off x="386837" y="644575"/>
            <a:ext cx="176703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de secuencia CU-95: Registrando consumos en orden de trabajo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1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1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1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8" name="Google Shape;378;p11"/>
          <p:cNvGrpSpPr/>
          <p:nvPr/>
        </p:nvGrpSpPr>
        <p:grpSpPr>
          <a:xfrm>
            <a:off x="311788" y="411550"/>
            <a:ext cx="17883900" cy="1120070"/>
            <a:chOff x="-437723" y="-76107"/>
            <a:chExt cx="23845200" cy="1493427"/>
          </a:xfrm>
        </p:grpSpPr>
        <p:sp>
          <p:nvSpPr>
            <p:cNvPr id="379" name="Google Shape;379;p11"/>
            <p:cNvSpPr/>
            <p:nvPr/>
          </p:nvSpPr>
          <p:spPr>
            <a:xfrm>
              <a:off x="0" y="0"/>
              <a:ext cx="21903012" cy="1417320"/>
            </a:xfrm>
            <a:custGeom>
              <a:rect b="b" l="l" r="r" t="t"/>
              <a:pathLst>
                <a:path extrusionOk="0"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1132" l="0" r="0" t="-2511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11"/>
            <p:cNvSpPr txBox="1"/>
            <p:nvPr/>
          </p:nvSpPr>
          <p:spPr>
            <a:xfrm>
              <a:off x="-437723" y="-76107"/>
              <a:ext cx="238452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CU-96: Consultando consumos registrados en una OT</a:t>
              </a:r>
              <a:endPara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1" name="Google Shape;381;p11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2" name="Google Shape;382;p11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383" name="Google Shape;383;p11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11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385" name="Google Shape;385;p11"/>
          <p:cNvSpPr/>
          <p:nvPr/>
        </p:nvSpPr>
        <p:spPr>
          <a:xfrm>
            <a:off x="640080" y="1531620"/>
            <a:ext cx="3134868" cy="1005840"/>
          </a:xfrm>
          <a:custGeom>
            <a:rect b="b" l="l" r="r" t="t"/>
            <a:pathLst>
              <a:path extrusionOk="0" h="1341120" w="4179824">
                <a:moveTo>
                  <a:pt x="0" y="0"/>
                </a:moveTo>
                <a:lnTo>
                  <a:pt x="4179824" y="0"/>
                </a:lnTo>
                <a:lnTo>
                  <a:pt x="4179824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686" l="0" r="0" t="-106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6" name="Google Shape;386;p11"/>
          <p:cNvGrpSpPr/>
          <p:nvPr/>
        </p:nvGrpSpPr>
        <p:grpSpPr>
          <a:xfrm>
            <a:off x="394130" y="1417320"/>
            <a:ext cx="3380833" cy="1120140"/>
            <a:chOff x="-327933" y="-76200"/>
            <a:chExt cx="4507776" cy="1493520"/>
          </a:xfrm>
        </p:grpSpPr>
        <p:sp>
          <p:nvSpPr>
            <p:cNvPr id="387" name="Google Shape;387;p11"/>
            <p:cNvSpPr/>
            <p:nvPr/>
          </p:nvSpPr>
          <p:spPr>
            <a:xfrm>
              <a:off x="0" y="0"/>
              <a:ext cx="4179843" cy="1417320"/>
            </a:xfrm>
            <a:custGeom>
              <a:rect b="b" l="l" r="r" t="t"/>
              <a:pathLst>
                <a:path extrusionOk="0"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63" l="0" r="0" t="-746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1"/>
            <p:cNvSpPr txBox="1"/>
            <p:nvPr/>
          </p:nvSpPr>
          <p:spPr>
            <a:xfrm>
              <a:off x="-327933" y="-76200"/>
              <a:ext cx="4179900" cy="149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Flujo general</a:t>
              </a:r>
              <a:endParaRPr/>
            </a:p>
          </p:txBody>
        </p:sp>
      </p:grpSp>
      <p:pic>
        <p:nvPicPr>
          <p:cNvPr id="389" name="Google Shape;38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116" y="2689860"/>
            <a:ext cx="17259300" cy="659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2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2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3" name="Google Shape;403;p12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04" name="Google Shape;404;p12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5" name="Google Shape;405;p12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406" name="Google Shape;406;p12"/>
          <p:cNvSpPr/>
          <p:nvPr/>
        </p:nvSpPr>
        <p:spPr>
          <a:xfrm>
            <a:off x="640080" y="1531620"/>
            <a:ext cx="12284107" cy="662940"/>
          </a:xfrm>
          <a:custGeom>
            <a:rect b="b" l="l" r="r" t="t"/>
            <a:pathLst>
              <a:path extrusionOk="0" h="883920" w="16378810">
                <a:moveTo>
                  <a:pt x="0" y="0"/>
                </a:moveTo>
                <a:lnTo>
                  <a:pt x="16378810" y="0"/>
                </a:lnTo>
                <a:lnTo>
                  <a:pt x="16378810" y="883920"/>
                </a:lnTo>
                <a:lnTo>
                  <a:pt x="0" y="8839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10802" l="0" r="0" t="-3108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2"/>
          <p:cNvGrpSpPr/>
          <p:nvPr/>
        </p:nvGrpSpPr>
        <p:grpSpPr>
          <a:xfrm>
            <a:off x="565975" y="1431600"/>
            <a:ext cx="17378324" cy="762975"/>
            <a:chOff x="-98807" y="-66685"/>
            <a:chExt cx="23171100" cy="1017300"/>
          </a:xfrm>
        </p:grpSpPr>
        <p:sp>
          <p:nvSpPr>
            <p:cNvPr id="408" name="Google Shape;408;p12"/>
            <p:cNvSpPr/>
            <p:nvPr/>
          </p:nvSpPr>
          <p:spPr>
            <a:xfrm>
              <a:off x="0" y="0"/>
              <a:ext cx="16378824" cy="950592"/>
            </a:xfrm>
            <a:custGeom>
              <a:rect b="b" l="l" r="r" t="t"/>
              <a:pathLst>
                <a:path extrusionOk="0" h="950592" w="16378824">
                  <a:moveTo>
                    <a:pt x="0" y="0"/>
                  </a:moveTo>
                  <a:lnTo>
                    <a:pt x="16378824" y="0"/>
                  </a:lnTo>
                  <a:lnTo>
                    <a:pt x="16378824" y="950592"/>
                  </a:lnTo>
                  <a:lnTo>
                    <a:pt x="0" y="95059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85751" l="0" r="0" t="-285751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9" name="Google Shape;409;p12"/>
            <p:cNvSpPr txBox="1"/>
            <p:nvPr/>
          </p:nvSpPr>
          <p:spPr>
            <a:xfrm>
              <a:off x="-98807" y="-66685"/>
              <a:ext cx="23171100" cy="1017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1: La OT seleccionada no tiene consumos registrados. El sistema informa que aún no se han asociado materiales a esta orden.</a:t>
              </a:r>
              <a:endParaRPr/>
            </a:p>
          </p:txBody>
        </p:sp>
      </p:grpSp>
      <p:pic>
        <p:nvPicPr>
          <p:cNvPr id="410" name="Google Shape;410;p12" title="UR 11.1 CU-95-Excepcion 1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67816" y="2546985"/>
            <a:ext cx="14053092" cy="6884671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12"/>
          <p:cNvSpPr txBox="1"/>
          <p:nvPr/>
        </p:nvSpPr>
        <p:spPr>
          <a:xfrm>
            <a:off x="469338" y="221850"/>
            <a:ext cx="178839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de secuencia CU-96: Consultando consumos registrados en una OT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3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3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3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5" name="Google Shape;425;p13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26" name="Google Shape;426;p13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7" name="Google Shape;427;p13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428" name="Google Shape;428;p13"/>
          <p:cNvSpPr/>
          <p:nvPr/>
        </p:nvSpPr>
        <p:spPr>
          <a:xfrm>
            <a:off x="640080" y="1531620"/>
            <a:ext cx="17458849" cy="1062324"/>
          </a:xfrm>
          <a:custGeom>
            <a:rect b="b" l="l" r="r" t="t"/>
            <a:pathLst>
              <a:path extrusionOk="0" h="1416431" w="23278464">
                <a:moveTo>
                  <a:pt x="0" y="0"/>
                </a:moveTo>
                <a:lnTo>
                  <a:pt x="23278464" y="0"/>
                </a:lnTo>
                <a:lnTo>
                  <a:pt x="23278464" y="1416431"/>
                </a:lnTo>
                <a:lnTo>
                  <a:pt x="0" y="1416431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9997" l="0" r="0" t="-27000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9" name="Google Shape;429;p13"/>
          <p:cNvGrpSpPr/>
          <p:nvPr/>
        </p:nvGrpSpPr>
        <p:grpSpPr>
          <a:xfrm>
            <a:off x="395275" y="1431600"/>
            <a:ext cx="17703676" cy="1162350"/>
            <a:chOff x="-326406" y="-66685"/>
            <a:chExt cx="23604900" cy="1549800"/>
          </a:xfrm>
        </p:grpSpPr>
        <p:sp>
          <p:nvSpPr>
            <p:cNvPr id="430" name="Google Shape;430;p13"/>
            <p:cNvSpPr/>
            <p:nvPr/>
          </p:nvSpPr>
          <p:spPr>
            <a:xfrm>
              <a:off x="0" y="0"/>
              <a:ext cx="23278418" cy="1483072"/>
            </a:xfrm>
            <a:custGeom>
              <a:rect b="b" l="l" r="r" t="t"/>
              <a:pathLst>
                <a:path extrusionOk="0" h="1483072" w="23278418">
                  <a:moveTo>
                    <a:pt x="0" y="0"/>
                  </a:moveTo>
                  <a:lnTo>
                    <a:pt x="23278418" y="0"/>
                  </a:lnTo>
                  <a:lnTo>
                    <a:pt x="23278418" y="1483072"/>
                  </a:lnTo>
                  <a:lnTo>
                    <a:pt x="0" y="148307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5848" l="0" r="0" t="-255848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1" name="Google Shape;431;p13"/>
            <p:cNvSpPr txBox="1"/>
            <p:nvPr/>
          </p:nvSpPr>
          <p:spPr>
            <a:xfrm>
              <a:off x="-326406" y="-66685"/>
              <a:ext cx="236049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2: Algún producto consumido fue dado de baja del catálogo. El sistema muestra el registro histórico con el SKU y nombre originales, indicando que el producto ya no está activo.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32" name="Google Shape;432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5279" y="2976468"/>
            <a:ext cx="17497425" cy="5305425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3"/>
          <p:cNvSpPr txBox="1"/>
          <p:nvPr/>
        </p:nvSpPr>
        <p:spPr>
          <a:xfrm>
            <a:off x="311788" y="411550"/>
            <a:ext cx="178839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Diagrama de secuencia CU-96: Consultando consumos registrados en una OT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4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4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4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5" name="Google Shape;445;p14"/>
          <p:cNvGrpSpPr/>
          <p:nvPr/>
        </p:nvGrpSpPr>
        <p:grpSpPr>
          <a:xfrm>
            <a:off x="640080" y="411480"/>
            <a:ext cx="16427263" cy="1120140"/>
            <a:chOff x="0" y="-76200"/>
            <a:chExt cx="21903017" cy="1493520"/>
          </a:xfrm>
        </p:grpSpPr>
        <p:sp>
          <p:nvSpPr>
            <p:cNvPr id="446" name="Google Shape;446;p14"/>
            <p:cNvSpPr/>
            <p:nvPr/>
          </p:nvSpPr>
          <p:spPr>
            <a:xfrm>
              <a:off x="0" y="0"/>
              <a:ext cx="21903012" cy="1417320"/>
            </a:xfrm>
            <a:custGeom>
              <a:rect b="b" l="l" r="r" t="t"/>
              <a:pathLst>
                <a:path extrusionOk="0"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1132" l="0" r="0" t="-2511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7" name="Google Shape;447;p14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CU-112: Recibiendo alertas anticipadas de productos faltantes</a:t>
              </a:r>
              <a:endPara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8" name="Google Shape;448;p14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9" name="Google Shape;449;p14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50" name="Google Shape;450;p14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14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452" name="Google Shape;452;p14"/>
          <p:cNvSpPr/>
          <p:nvPr/>
        </p:nvSpPr>
        <p:spPr>
          <a:xfrm>
            <a:off x="640080" y="1531620"/>
            <a:ext cx="3134868" cy="1005840"/>
          </a:xfrm>
          <a:custGeom>
            <a:rect b="b" l="l" r="r" t="t"/>
            <a:pathLst>
              <a:path extrusionOk="0" h="1341120" w="4179824">
                <a:moveTo>
                  <a:pt x="0" y="0"/>
                </a:moveTo>
                <a:lnTo>
                  <a:pt x="4179824" y="0"/>
                </a:lnTo>
                <a:lnTo>
                  <a:pt x="4179824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686" l="0" r="0" t="-106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3" name="Google Shape;453;p14"/>
          <p:cNvGrpSpPr/>
          <p:nvPr/>
        </p:nvGrpSpPr>
        <p:grpSpPr>
          <a:xfrm>
            <a:off x="640080" y="1417320"/>
            <a:ext cx="3134883" cy="1120140"/>
            <a:chOff x="0" y="-76200"/>
            <a:chExt cx="4179843" cy="1493520"/>
          </a:xfrm>
        </p:grpSpPr>
        <p:sp>
          <p:nvSpPr>
            <p:cNvPr id="454" name="Google Shape;454;p14"/>
            <p:cNvSpPr/>
            <p:nvPr/>
          </p:nvSpPr>
          <p:spPr>
            <a:xfrm>
              <a:off x="0" y="0"/>
              <a:ext cx="4179843" cy="1417320"/>
            </a:xfrm>
            <a:custGeom>
              <a:rect b="b" l="l" r="r" t="t"/>
              <a:pathLst>
                <a:path extrusionOk="0"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63" l="0" r="0" t="-746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5" name="Google Shape;455;p14"/>
            <p:cNvSpPr txBox="1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Flujo general</a:t>
              </a:r>
              <a:endParaRPr/>
            </a:p>
          </p:txBody>
        </p:sp>
      </p:grpSp>
      <p:pic>
        <p:nvPicPr>
          <p:cNvPr id="456" name="Google Shape;456;p14" title="UR 13.2 CU-112-flujo general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116" y="2689860"/>
            <a:ext cx="17741486" cy="5587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5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5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5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15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5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0" name="Google Shape;470;p15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71" name="Google Shape;471;p15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5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473" name="Google Shape;473;p15"/>
          <p:cNvSpPr/>
          <p:nvPr/>
        </p:nvSpPr>
        <p:spPr>
          <a:xfrm>
            <a:off x="640080" y="1531620"/>
            <a:ext cx="11130723" cy="694087"/>
          </a:xfrm>
          <a:custGeom>
            <a:rect b="b" l="l" r="r" t="t"/>
            <a:pathLst>
              <a:path extrusionOk="0" h="925449" w="14840965">
                <a:moveTo>
                  <a:pt x="0" y="0"/>
                </a:moveTo>
                <a:lnTo>
                  <a:pt x="14840965" y="0"/>
                </a:lnTo>
                <a:lnTo>
                  <a:pt x="14840965" y="925449"/>
                </a:lnTo>
                <a:lnTo>
                  <a:pt x="0" y="925449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2249" l="0" r="0" t="-2622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74" name="Google Shape;474;p15"/>
          <p:cNvGrpSpPr/>
          <p:nvPr/>
        </p:nvGrpSpPr>
        <p:grpSpPr>
          <a:xfrm>
            <a:off x="640080" y="1431608"/>
            <a:ext cx="11130724" cy="794128"/>
            <a:chOff x="0" y="-66675"/>
            <a:chExt cx="14840966" cy="1058837"/>
          </a:xfrm>
        </p:grpSpPr>
        <p:sp>
          <p:nvSpPr>
            <p:cNvPr id="475" name="Google Shape;475;p15"/>
            <p:cNvSpPr/>
            <p:nvPr/>
          </p:nvSpPr>
          <p:spPr>
            <a:xfrm>
              <a:off x="0" y="0"/>
              <a:ext cx="14840962" cy="992156"/>
            </a:xfrm>
            <a:custGeom>
              <a:rect b="b" l="l" r="r" t="t"/>
              <a:pathLst>
                <a:path extrusionOk="0" h="992156" w="14840962">
                  <a:moveTo>
                    <a:pt x="0" y="0"/>
                  </a:moveTo>
                  <a:lnTo>
                    <a:pt x="14840962" y="0"/>
                  </a:lnTo>
                  <a:lnTo>
                    <a:pt x="14840962" y="992156"/>
                  </a:lnTo>
                  <a:lnTo>
                    <a:pt x="0" y="99215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41463" l="0" r="0" t="-24145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15"/>
            <p:cNvSpPr txBox="1"/>
            <p:nvPr/>
          </p:nvSpPr>
          <p:spPr>
            <a:xfrm>
              <a:off x="0" y="-66675"/>
              <a:ext cx="14840966" cy="10588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1: Pedido ya marcado como listo. El sistema omite la alerta.</a:t>
              </a:r>
              <a:endParaRPr/>
            </a:p>
          </p:txBody>
        </p:sp>
      </p:grpSp>
      <p:pic>
        <p:nvPicPr>
          <p:cNvPr id="477" name="Google Shape;477;p15" title="UR 13.2 CU-112-Excepción 1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91" y="2919173"/>
            <a:ext cx="17741484" cy="4448664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15"/>
          <p:cNvSpPr txBox="1"/>
          <p:nvPr/>
        </p:nvSpPr>
        <p:spPr>
          <a:xfrm>
            <a:off x="640080" y="411480"/>
            <a:ext cx="164274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CU-112: Recibiendo alertas anticipadas de productos faltantes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f8d270b6c3_0_35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g3f8d270b6c3_0_35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g3f8d270b6c3_0_35"/>
          <p:cNvSpPr/>
          <p:nvPr/>
        </p:nvSpPr>
        <p:spPr>
          <a:xfrm>
            <a:off x="640080" y="525780"/>
            <a:ext cx="16427291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g3f8d270b6c3_0_35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g3f8d270b6c3_0_35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2" name="Google Shape;492;g3f8d270b6c3_0_35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493" name="Google Shape;493;g3f8d270b6c3_0_35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4" name="Google Shape;494;g3f8d270b6c3_0_35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495" name="Google Shape;495;g3f8d270b6c3_0_35"/>
          <p:cNvSpPr/>
          <p:nvPr/>
        </p:nvSpPr>
        <p:spPr>
          <a:xfrm>
            <a:off x="640080" y="1531620"/>
            <a:ext cx="11130724" cy="694087"/>
          </a:xfrm>
          <a:custGeom>
            <a:rect b="b" l="l" r="r" t="t"/>
            <a:pathLst>
              <a:path extrusionOk="0" h="925449" w="14840965">
                <a:moveTo>
                  <a:pt x="0" y="0"/>
                </a:moveTo>
                <a:lnTo>
                  <a:pt x="14840965" y="0"/>
                </a:lnTo>
                <a:lnTo>
                  <a:pt x="14840965" y="925449"/>
                </a:lnTo>
                <a:lnTo>
                  <a:pt x="0" y="925449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2249" l="0" r="0" t="-262243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6" name="Google Shape;496;g3f8d270b6c3_0_35"/>
          <p:cNvGrpSpPr/>
          <p:nvPr/>
        </p:nvGrpSpPr>
        <p:grpSpPr>
          <a:xfrm>
            <a:off x="640075" y="1431600"/>
            <a:ext cx="17262675" cy="1351350"/>
            <a:chOff x="-7" y="-66685"/>
            <a:chExt cx="23016900" cy="1801800"/>
          </a:xfrm>
        </p:grpSpPr>
        <p:sp>
          <p:nvSpPr>
            <p:cNvPr id="497" name="Google Shape;497;g3f8d270b6c3_0_35"/>
            <p:cNvSpPr/>
            <p:nvPr/>
          </p:nvSpPr>
          <p:spPr>
            <a:xfrm>
              <a:off x="0" y="0"/>
              <a:ext cx="14840962" cy="992156"/>
            </a:xfrm>
            <a:custGeom>
              <a:rect b="b" l="l" r="r" t="t"/>
              <a:pathLst>
                <a:path extrusionOk="0" h="992156" w="14840962">
                  <a:moveTo>
                    <a:pt x="0" y="0"/>
                  </a:moveTo>
                  <a:lnTo>
                    <a:pt x="14840962" y="0"/>
                  </a:lnTo>
                  <a:lnTo>
                    <a:pt x="14840962" y="992156"/>
                  </a:lnTo>
                  <a:lnTo>
                    <a:pt x="0" y="992156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41443" l="0" r="0" t="-24144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g3f8d270b6c3_0_35"/>
            <p:cNvSpPr txBox="1"/>
            <p:nvPr/>
          </p:nvSpPr>
          <p:spPr>
            <a:xfrm>
              <a:off x="-7" y="-66685"/>
              <a:ext cx="23016900" cy="180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2: Los datos de la agenda de instalaciones no están disponibles. El sistema informa en el dashboard que la verificación de faltantes no pudo completarse y solicita reintentar.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499" name="Google Shape;499;g3f8d270b6c3_0_35" title="UR 13.2 CU-112-Excepción 2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91" y="2875057"/>
            <a:ext cx="17741486" cy="432275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f8d270b6c3_0_35"/>
          <p:cNvSpPr txBox="1"/>
          <p:nvPr/>
        </p:nvSpPr>
        <p:spPr>
          <a:xfrm>
            <a:off x="640080" y="411480"/>
            <a:ext cx="164274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CU-112: Recibiendo alertas anticipadas de productos faltantes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16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6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6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2" name="Google Shape;512;p16"/>
          <p:cNvGrpSpPr/>
          <p:nvPr/>
        </p:nvGrpSpPr>
        <p:grpSpPr>
          <a:xfrm>
            <a:off x="640080" y="411480"/>
            <a:ext cx="16427263" cy="1120140"/>
            <a:chOff x="0" y="-76200"/>
            <a:chExt cx="21903017" cy="1493520"/>
          </a:xfrm>
        </p:grpSpPr>
        <p:sp>
          <p:nvSpPr>
            <p:cNvPr id="513" name="Google Shape;513;p16"/>
            <p:cNvSpPr/>
            <p:nvPr/>
          </p:nvSpPr>
          <p:spPr>
            <a:xfrm>
              <a:off x="0" y="0"/>
              <a:ext cx="21903012" cy="1417320"/>
            </a:xfrm>
            <a:custGeom>
              <a:rect b="b" l="l" r="r" t="t"/>
              <a:pathLst>
                <a:path extrusionOk="0" h="1417320" w="21903012">
                  <a:moveTo>
                    <a:pt x="0" y="0"/>
                  </a:moveTo>
                  <a:lnTo>
                    <a:pt x="21903012" y="0"/>
                  </a:lnTo>
                  <a:lnTo>
                    <a:pt x="21903012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1132" l="0" r="0" t="-25113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16"/>
            <p:cNvSpPr txBox="1"/>
            <p:nvPr/>
          </p:nvSpPr>
          <p:spPr>
            <a:xfrm>
              <a:off x="0" y="-76200"/>
              <a:ext cx="2190301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Diagrama de secuencia </a:t>
              </a:r>
              <a:r>
                <a:rPr b="1"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CU-113: Consultando información de abastecimiento crítico</a:t>
              </a:r>
              <a:endParaRPr b="1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5" name="Google Shape;515;p16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6" name="Google Shape;516;p16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517" name="Google Shape;517;p16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8" name="Google Shape;518;p16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519" name="Google Shape;519;p16"/>
          <p:cNvSpPr/>
          <p:nvPr/>
        </p:nvSpPr>
        <p:spPr>
          <a:xfrm>
            <a:off x="640080" y="1531620"/>
            <a:ext cx="3134868" cy="1005840"/>
          </a:xfrm>
          <a:custGeom>
            <a:rect b="b" l="l" r="r" t="t"/>
            <a:pathLst>
              <a:path extrusionOk="0" h="1341120" w="4179824">
                <a:moveTo>
                  <a:pt x="0" y="0"/>
                </a:moveTo>
                <a:lnTo>
                  <a:pt x="4179824" y="0"/>
                </a:lnTo>
                <a:lnTo>
                  <a:pt x="4179824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0686" l="0" r="0" t="-1068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0" name="Google Shape;520;p16"/>
          <p:cNvGrpSpPr/>
          <p:nvPr/>
        </p:nvGrpSpPr>
        <p:grpSpPr>
          <a:xfrm>
            <a:off x="640080" y="1417320"/>
            <a:ext cx="3134883" cy="1120140"/>
            <a:chOff x="0" y="-76200"/>
            <a:chExt cx="4179843" cy="1493520"/>
          </a:xfrm>
        </p:grpSpPr>
        <p:sp>
          <p:nvSpPr>
            <p:cNvPr id="521" name="Google Shape;521;p16"/>
            <p:cNvSpPr/>
            <p:nvPr/>
          </p:nvSpPr>
          <p:spPr>
            <a:xfrm>
              <a:off x="0" y="0"/>
              <a:ext cx="4179843" cy="1417320"/>
            </a:xfrm>
            <a:custGeom>
              <a:rect b="b" l="l" r="r" t="t"/>
              <a:pathLst>
                <a:path extrusionOk="0" h="1417320" w="4179843">
                  <a:moveTo>
                    <a:pt x="0" y="0"/>
                  </a:moveTo>
                  <a:lnTo>
                    <a:pt x="4179843" y="0"/>
                  </a:lnTo>
                  <a:lnTo>
                    <a:pt x="4179843" y="1417320"/>
                  </a:lnTo>
                  <a:lnTo>
                    <a:pt x="0" y="14173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463" l="0" r="0" t="-7463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2" name="Google Shape;522;p16"/>
            <p:cNvSpPr txBox="1"/>
            <p:nvPr/>
          </p:nvSpPr>
          <p:spPr>
            <a:xfrm>
              <a:off x="0" y="-76200"/>
              <a:ext cx="4179837" cy="14935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Flujo general</a:t>
              </a:r>
              <a:endParaRPr/>
            </a:p>
          </p:txBody>
        </p:sp>
      </p:grpSp>
      <p:pic>
        <p:nvPicPr>
          <p:cNvPr id="523" name="Google Shape;523;p16" title="UR 13.2 CU-113-flujo general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4116" y="2689860"/>
            <a:ext cx="17741486" cy="6003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17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7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7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7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7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7" name="Google Shape;537;p17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538" name="Google Shape;538;p17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17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540" name="Google Shape;540;p17"/>
          <p:cNvSpPr/>
          <p:nvPr/>
        </p:nvSpPr>
        <p:spPr>
          <a:xfrm>
            <a:off x="640080" y="1531620"/>
            <a:ext cx="17443229" cy="1062324"/>
          </a:xfrm>
          <a:custGeom>
            <a:rect b="b" l="l" r="r" t="t"/>
            <a:pathLst>
              <a:path extrusionOk="0" h="1416431" w="23257638">
                <a:moveTo>
                  <a:pt x="0" y="0"/>
                </a:moveTo>
                <a:lnTo>
                  <a:pt x="23257638" y="0"/>
                </a:lnTo>
                <a:lnTo>
                  <a:pt x="23257638" y="1416431"/>
                </a:lnTo>
                <a:lnTo>
                  <a:pt x="0" y="1416431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9710" l="0" r="0" t="-26971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1" name="Google Shape;541;p17"/>
          <p:cNvGrpSpPr/>
          <p:nvPr/>
        </p:nvGrpSpPr>
        <p:grpSpPr>
          <a:xfrm>
            <a:off x="640080" y="1481614"/>
            <a:ext cx="17443227" cy="1333219"/>
            <a:chOff x="0" y="0"/>
            <a:chExt cx="23257636" cy="1777625"/>
          </a:xfrm>
        </p:grpSpPr>
        <p:sp>
          <p:nvSpPr>
            <p:cNvPr id="542" name="Google Shape;542;p17"/>
            <p:cNvSpPr/>
            <p:nvPr/>
          </p:nvSpPr>
          <p:spPr>
            <a:xfrm>
              <a:off x="0" y="0"/>
              <a:ext cx="23257636" cy="1483072"/>
            </a:xfrm>
            <a:custGeom>
              <a:rect b="b" l="l" r="r" t="t"/>
              <a:pathLst>
                <a:path extrusionOk="0" h="1483072" w="23257636">
                  <a:moveTo>
                    <a:pt x="0" y="0"/>
                  </a:moveTo>
                  <a:lnTo>
                    <a:pt x="23257636" y="0"/>
                  </a:lnTo>
                  <a:lnTo>
                    <a:pt x="23257636" y="1483072"/>
                  </a:lnTo>
                  <a:lnTo>
                    <a:pt x="0" y="148307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55549" l="0" r="0" t="-25554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3" name="Google Shape;543;p17"/>
            <p:cNvSpPr txBox="1"/>
            <p:nvPr/>
          </p:nvSpPr>
          <p:spPr>
            <a:xfrm>
              <a:off x="0" y="227825"/>
              <a:ext cx="23257500" cy="154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1: El stock cambió recientemente por un ingreso de última hora. El sistema actualiza la alerta y la marca como "En proceso de resolución".</a:t>
              </a:r>
              <a:endParaRPr sz="3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544" name="Google Shape;544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91" y="3132844"/>
            <a:ext cx="17741486" cy="5665494"/>
          </a:xfrm>
          <a:prstGeom prst="rect">
            <a:avLst/>
          </a:prstGeom>
          <a:noFill/>
          <a:ln>
            <a:noFill/>
          </a:ln>
        </p:spPr>
      </p:pic>
      <p:sp>
        <p:nvSpPr>
          <p:cNvPr id="545" name="Google Shape;545;p17"/>
          <p:cNvSpPr txBox="1"/>
          <p:nvPr/>
        </p:nvSpPr>
        <p:spPr>
          <a:xfrm>
            <a:off x="640080" y="411480"/>
            <a:ext cx="164274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</a:t>
            </a: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CU-113: Consultando información de abastecimiento crítico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18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8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8"/>
          <p:cNvSpPr/>
          <p:nvPr/>
        </p:nvSpPr>
        <p:spPr>
          <a:xfrm>
            <a:off x="640080" y="525780"/>
            <a:ext cx="16427292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8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58" name="Google Shape;558;p18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559" name="Google Shape;559;p18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18"/>
            <p:cNvSpPr txBox="1"/>
            <p:nvPr/>
          </p:nvSpPr>
          <p:spPr>
            <a:xfrm>
              <a:off x="0" y="-38100"/>
              <a:ext cx="22677120" cy="612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561" name="Google Shape;561;p18"/>
          <p:cNvSpPr/>
          <p:nvPr/>
        </p:nvSpPr>
        <p:spPr>
          <a:xfrm>
            <a:off x="640080" y="1531620"/>
            <a:ext cx="12004547" cy="787622"/>
          </a:xfrm>
          <a:custGeom>
            <a:rect b="b" l="l" r="r" t="t"/>
            <a:pathLst>
              <a:path extrusionOk="0" h="1050163" w="16006063">
                <a:moveTo>
                  <a:pt x="0" y="0"/>
                </a:moveTo>
                <a:lnTo>
                  <a:pt x="16006063" y="0"/>
                </a:lnTo>
                <a:lnTo>
                  <a:pt x="16006063" y="1050163"/>
                </a:lnTo>
                <a:lnTo>
                  <a:pt x="0" y="1050163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46771" l="0" r="0" t="-2467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2" name="Google Shape;562;p18"/>
          <p:cNvGrpSpPr/>
          <p:nvPr/>
        </p:nvGrpSpPr>
        <p:grpSpPr>
          <a:xfrm>
            <a:off x="640048" y="1811150"/>
            <a:ext cx="17138475" cy="887650"/>
            <a:chOff x="-10" y="-66685"/>
            <a:chExt cx="22851300" cy="1183533"/>
          </a:xfrm>
        </p:grpSpPr>
        <p:sp>
          <p:nvSpPr>
            <p:cNvPr id="563" name="Google Shape;563;p18"/>
            <p:cNvSpPr/>
            <p:nvPr/>
          </p:nvSpPr>
          <p:spPr>
            <a:xfrm>
              <a:off x="0" y="0"/>
              <a:ext cx="16006127" cy="1116848"/>
            </a:xfrm>
            <a:custGeom>
              <a:rect b="b" l="l" r="r" t="t"/>
              <a:pathLst>
                <a:path extrusionOk="0" h="1116848" w="16006127">
                  <a:moveTo>
                    <a:pt x="0" y="0"/>
                  </a:moveTo>
                  <a:lnTo>
                    <a:pt x="16006127" y="0"/>
                  </a:lnTo>
                  <a:lnTo>
                    <a:pt x="16006127" y="1116848"/>
                  </a:lnTo>
                  <a:lnTo>
                    <a:pt x="0" y="11168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9254" l="0" r="0" t="-22924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4" name="Google Shape;564;p18"/>
            <p:cNvSpPr txBox="1"/>
            <p:nvPr/>
          </p:nvSpPr>
          <p:spPr>
            <a:xfrm>
              <a:off x="-10" y="-66685"/>
              <a:ext cx="22851300" cy="1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2: El producto faltante no tiene proveedores asociados en la lista maestra. El sistema informa que no existe proveedor sugerido y recomienda registrar uno.</a:t>
              </a:r>
              <a:endParaRPr/>
            </a:p>
          </p:txBody>
        </p:sp>
      </p:grpSp>
      <p:pic>
        <p:nvPicPr>
          <p:cNvPr id="565" name="Google Shape;56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91" y="3127955"/>
            <a:ext cx="17741486" cy="5847414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8"/>
          <p:cNvSpPr txBox="1"/>
          <p:nvPr/>
        </p:nvSpPr>
        <p:spPr>
          <a:xfrm>
            <a:off x="640080" y="411480"/>
            <a:ext cx="164274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</a:t>
            </a: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CU-113: Consultando información de abastecimiento crítico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f8d270b6c3_0_61"/>
          <p:cNvSpPr/>
          <p:nvPr/>
        </p:nvSpPr>
        <p:spPr>
          <a:xfrm>
            <a:off x="-22222" y="-22222"/>
            <a:ext cx="263938" cy="10331483"/>
          </a:xfrm>
          <a:custGeom>
            <a:rect b="b" l="l" r="r" t="t"/>
            <a:pathLst>
              <a:path extrusionOk="0" h="13775310" w="351917">
                <a:moveTo>
                  <a:pt x="0" y="0"/>
                </a:moveTo>
                <a:lnTo>
                  <a:pt x="351917" y="0"/>
                </a:lnTo>
                <a:lnTo>
                  <a:pt x="351917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g3f8d270b6c3_0_61"/>
          <p:cNvSpPr/>
          <p:nvPr/>
        </p:nvSpPr>
        <p:spPr>
          <a:xfrm>
            <a:off x="197234" y="-22222"/>
            <a:ext cx="18113026" cy="154210"/>
          </a:xfrm>
          <a:custGeom>
            <a:rect b="b" l="l" r="r" t="t"/>
            <a:pathLst>
              <a:path extrusionOk="0" h="205613" w="24150701">
                <a:moveTo>
                  <a:pt x="0" y="0"/>
                </a:moveTo>
                <a:lnTo>
                  <a:pt x="24150701" y="0"/>
                </a:lnTo>
                <a:lnTo>
                  <a:pt x="24150701" y="205613"/>
                </a:lnTo>
                <a:lnTo>
                  <a:pt x="0" y="205613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g3f8d270b6c3_0_61"/>
          <p:cNvSpPr/>
          <p:nvPr/>
        </p:nvSpPr>
        <p:spPr>
          <a:xfrm>
            <a:off x="640080" y="525780"/>
            <a:ext cx="16427291" cy="1005840"/>
          </a:xfrm>
          <a:custGeom>
            <a:rect b="b" l="l" r="r" t="t"/>
            <a:pathLst>
              <a:path extrusionOk="0" h="1341120" w="21903055">
                <a:moveTo>
                  <a:pt x="0" y="0"/>
                </a:moveTo>
                <a:lnTo>
                  <a:pt x="21903055" y="0"/>
                </a:lnTo>
                <a:lnTo>
                  <a:pt x="21903055" y="1341120"/>
                </a:lnTo>
                <a:lnTo>
                  <a:pt x="0" y="13411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68009" l="0" r="0" t="-2680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g3f8d270b6c3_0_61"/>
          <p:cNvSpPr/>
          <p:nvPr/>
        </p:nvSpPr>
        <p:spPr>
          <a:xfrm>
            <a:off x="640080" y="468630"/>
            <a:ext cx="16427259" cy="1062990"/>
          </a:xfrm>
          <a:custGeom>
            <a:rect b="b" l="l" r="r" t="t"/>
            <a:pathLst>
              <a:path extrusionOk="0" h="1417320" w="21903012">
                <a:moveTo>
                  <a:pt x="0" y="0"/>
                </a:moveTo>
                <a:lnTo>
                  <a:pt x="21903012" y="0"/>
                </a:lnTo>
                <a:lnTo>
                  <a:pt x="21903012" y="1417320"/>
                </a:lnTo>
                <a:lnTo>
                  <a:pt x="0" y="1417320"/>
                </a:lnTo>
                <a:close/>
              </a:path>
            </a:pathLst>
          </a:custGeom>
          <a:blipFill rotWithShape="1">
            <a:blip r:embed="rId4">
              <a:alphaModFix amt="0"/>
            </a:blip>
            <a:stretch>
              <a:fillRect b="-251132" l="0" r="0" t="-25113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g3f8d270b6c3_0_61"/>
          <p:cNvSpPr/>
          <p:nvPr/>
        </p:nvSpPr>
        <p:spPr>
          <a:xfrm>
            <a:off x="640080" y="9784080"/>
            <a:ext cx="17007840" cy="402336"/>
          </a:xfrm>
          <a:custGeom>
            <a:rect b="b" l="l" r="r" t="t"/>
            <a:pathLst>
              <a:path extrusionOk="0" h="536448" w="22677120">
                <a:moveTo>
                  <a:pt x="0" y="0"/>
                </a:moveTo>
                <a:lnTo>
                  <a:pt x="22677120" y="0"/>
                </a:lnTo>
                <a:lnTo>
                  <a:pt x="22677120" y="536448"/>
                </a:lnTo>
                <a:lnTo>
                  <a:pt x="0" y="53644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73181" l="0" r="0" t="-77318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0" name="Google Shape;580;g3f8d270b6c3_0_61"/>
          <p:cNvGrpSpPr/>
          <p:nvPr/>
        </p:nvGrpSpPr>
        <p:grpSpPr>
          <a:xfrm>
            <a:off x="640080" y="9726930"/>
            <a:ext cx="17007840" cy="459486"/>
            <a:chOff x="0" y="-38100"/>
            <a:chExt cx="22677120" cy="612648"/>
          </a:xfrm>
        </p:grpSpPr>
        <p:sp>
          <p:nvSpPr>
            <p:cNvPr id="581" name="Google Shape;581;g3f8d270b6c3_0_61"/>
            <p:cNvSpPr/>
            <p:nvPr/>
          </p:nvSpPr>
          <p:spPr>
            <a:xfrm>
              <a:off x="0" y="0"/>
              <a:ext cx="22677120" cy="574548"/>
            </a:xfrm>
            <a:custGeom>
              <a:rect b="b" l="l" r="r" t="t"/>
              <a:pathLst>
                <a:path extrusionOk="0" h="574548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574548"/>
                  </a:lnTo>
                  <a:lnTo>
                    <a:pt x="0" y="5745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718995" l="0" r="0" t="-71899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g3f8d270b6c3_0_61"/>
            <p:cNvSpPr txBox="1"/>
            <p:nvPr/>
          </p:nvSpPr>
          <p:spPr>
            <a:xfrm>
              <a:off x="0" y="-38100"/>
              <a:ext cx="22677000" cy="61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Puertas Blindadas · Ingeniería de Software II · 2026</a:t>
              </a:r>
              <a:endParaRPr/>
            </a:p>
          </p:txBody>
        </p:sp>
      </p:grpSp>
      <p:sp>
        <p:nvSpPr>
          <p:cNvPr id="583" name="Google Shape;583;g3f8d270b6c3_0_61"/>
          <p:cNvSpPr/>
          <p:nvPr/>
        </p:nvSpPr>
        <p:spPr>
          <a:xfrm>
            <a:off x="640080" y="1531620"/>
            <a:ext cx="12004547" cy="787622"/>
          </a:xfrm>
          <a:custGeom>
            <a:rect b="b" l="l" r="r" t="t"/>
            <a:pathLst>
              <a:path extrusionOk="0" h="1050163" w="16006063">
                <a:moveTo>
                  <a:pt x="0" y="0"/>
                </a:moveTo>
                <a:lnTo>
                  <a:pt x="16006063" y="0"/>
                </a:lnTo>
                <a:lnTo>
                  <a:pt x="16006063" y="1050163"/>
                </a:lnTo>
                <a:lnTo>
                  <a:pt x="0" y="1050163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46771" l="0" r="0" t="-246771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84" name="Google Shape;584;g3f8d270b6c3_0_61"/>
          <p:cNvGrpSpPr/>
          <p:nvPr/>
        </p:nvGrpSpPr>
        <p:grpSpPr>
          <a:xfrm>
            <a:off x="595460" y="1481614"/>
            <a:ext cx="17097075" cy="1407036"/>
            <a:chOff x="-59493" y="0"/>
            <a:chExt cx="22796100" cy="1876048"/>
          </a:xfrm>
        </p:grpSpPr>
        <p:sp>
          <p:nvSpPr>
            <p:cNvPr id="585" name="Google Shape;585;g3f8d270b6c3_0_61"/>
            <p:cNvSpPr/>
            <p:nvPr/>
          </p:nvSpPr>
          <p:spPr>
            <a:xfrm>
              <a:off x="0" y="0"/>
              <a:ext cx="16006127" cy="1116848"/>
            </a:xfrm>
            <a:custGeom>
              <a:rect b="b" l="l" r="r" t="t"/>
              <a:pathLst>
                <a:path extrusionOk="0" h="1116848" w="16006127">
                  <a:moveTo>
                    <a:pt x="0" y="0"/>
                  </a:moveTo>
                  <a:lnTo>
                    <a:pt x="16006127" y="0"/>
                  </a:lnTo>
                  <a:lnTo>
                    <a:pt x="16006127" y="1116848"/>
                  </a:lnTo>
                  <a:lnTo>
                    <a:pt x="0" y="1116848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9236" l="0" r="0" t="-229236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6" name="Google Shape;586;g3f8d270b6c3_0_61"/>
            <p:cNvSpPr txBox="1"/>
            <p:nvPr/>
          </p:nvSpPr>
          <p:spPr>
            <a:xfrm>
              <a:off x="-59493" y="692548"/>
              <a:ext cx="22796100" cy="11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Excepción 3: El proveedor sugerido no tiene tiempo de entrega registrado. El sistema muestra la ficha sin la estimación de plazo y advierte que la viabilidad temporal no puede evaluarse.</a:t>
              </a:r>
              <a:endParaRPr/>
            </a:p>
          </p:txBody>
        </p:sp>
      </p:grpSp>
      <p:pic>
        <p:nvPicPr>
          <p:cNvPr id="587" name="Google Shape;587;g3f8d270b6c3_0_61" title="UR 13.2 CU-113-Excepción 3.drawio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2991" y="3229493"/>
            <a:ext cx="17741486" cy="6063985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g3f8d270b6c3_0_61"/>
          <p:cNvSpPr txBox="1"/>
          <p:nvPr/>
        </p:nvSpPr>
        <p:spPr>
          <a:xfrm>
            <a:off x="640080" y="411480"/>
            <a:ext cx="16427400" cy="112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Diagrama de secuencia </a:t>
            </a:r>
            <a:r>
              <a:rPr b="1"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CU-113: Consultando información de abastecimiento crítico</a:t>
            </a:r>
            <a:endParaRPr b="1" sz="4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A1A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3"/>
          <p:cNvSpPr/>
          <p:nvPr/>
        </p:nvSpPr>
        <p:spPr>
          <a:xfrm>
            <a:off x="-22222" y="-22222"/>
            <a:ext cx="373666" cy="10331483"/>
          </a:xfrm>
          <a:custGeom>
            <a:rect b="b" l="l" r="r" t="t"/>
            <a:pathLst>
              <a:path extrusionOk="0" h="13775310" w="498221">
                <a:moveTo>
                  <a:pt x="0" y="0"/>
                </a:moveTo>
                <a:lnTo>
                  <a:pt x="498221" y="0"/>
                </a:lnTo>
                <a:lnTo>
                  <a:pt x="498221" y="13775310"/>
                </a:lnTo>
                <a:lnTo>
                  <a:pt x="0" y="13775310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23"/>
          <p:cNvSpPr/>
          <p:nvPr/>
        </p:nvSpPr>
        <p:spPr>
          <a:xfrm>
            <a:off x="914400" y="1005840"/>
            <a:ext cx="14264640" cy="640080"/>
          </a:xfrm>
          <a:custGeom>
            <a:rect b="b" l="l" r="r" t="t"/>
            <a:pathLst>
              <a:path extrusionOk="0" h="853440" w="19019520">
                <a:moveTo>
                  <a:pt x="0" y="0"/>
                </a:moveTo>
                <a:lnTo>
                  <a:pt x="19019520" y="0"/>
                </a:lnTo>
                <a:lnTo>
                  <a:pt x="1901952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383952" l="0" r="0" t="-38395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99" name="Google Shape;599;p23"/>
          <p:cNvGrpSpPr/>
          <p:nvPr/>
        </p:nvGrpSpPr>
        <p:grpSpPr>
          <a:xfrm>
            <a:off x="914400" y="934402"/>
            <a:ext cx="14264640" cy="711518"/>
            <a:chOff x="0" y="-47625"/>
            <a:chExt cx="19019520" cy="948690"/>
          </a:xfrm>
        </p:grpSpPr>
        <p:sp>
          <p:nvSpPr>
            <p:cNvPr id="600" name="Google Shape;600;p23"/>
            <p:cNvSpPr/>
            <p:nvPr/>
          </p:nvSpPr>
          <p:spPr>
            <a:xfrm>
              <a:off x="0" y="0"/>
              <a:ext cx="19019520" cy="901065"/>
            </a:xfrm>
            <a:custGeom>
              <a:rect b="b" l="l" r="r" t="t"/>
              <a:pathLst>
                <a:path extrusionOk="0" h="90106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901065"/>
                  </a:lnTo>
                  <a:lnTo>
                    <a:pt x="0" y="9010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361320" l="0" r="0" t="-3613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1" name="Google Shape;601;p23"/>
            <p:cNvSpPr txBox="1"/>
            <p:nvPr/>
          </p:nvSpPr>
          <p:spPr>
            <a:xfrm>
              <a:off x="0" y="-47625"/>
              <a:ext cx="19019520" cy="948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SISTEMA DE INVENTARIO</a:t>
              </a:r>
              <a:endParaRPr/>
            </a:p>
          </p:txBody>
        </p:sp>
      </p:grpSp>
      <p:sp>
        <p:nvSpPr>
          <p:cNvPr id="602" name="Google Shape;602;p23"/>
          <p:cNvSpPr/>
          <p:nvPr/>
        </p:nvSpPr>
        <p:spPr>
          <a:xfrm>
            <a:off x="914400" y="1828800"/>
            <a:ext cx="14264640" cy="4389120"/>
          </a:xfrm>
          <a:custGeom>
            <a:rect b="b" l="l" r="r" t="t"/>
            <a:pathLst>
              <a:path extrusionOk="0" h="5852160" w="19019520">
                <a:moveTo>
                  <a:pt x="0" y="0"/>
                </a:moveTo>
                <a:lnTo>
                  <a:pt x="19019520" y="0"/>
                </a:lnTo>
                <a:lnTo>
                  <a:pt x="19019520" y="5852160"/>
                </a:lnTo>
                <a:lnTo>
                  <a:pt x="0" y="585216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3282" l="0" r="0" t="-1328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3" name="Google Shape;603;p23"/>
          <p:cNvGrpSpPr/>
          <p:nvPr/>
        </p:nvGrpSpPr>
        <p:grpSpPr>
          <a:xfrm>
            <a:off x="914400" y="1585912"/>
            <a:ext cx="14264640" cy="4632008"/>
            <a:chOff x="0" y="-161925"/>
            <a:chExt cx="19019520" cy="6176010"/>
          </a:xfrm>
        </p:grpSpPr>
        <p:sp>
          <p:nvSpPr>
            <p:cNvPr id="604" name="Google Shape;604;p23"/>
            <p:cNvSpPr/>
            <p:nvPr/>
          </p:nvSpPr>
          <p:spPr>
            <a:xfrm>
              <a:off x="0" y="0"/>
              <a:ext cx="19019520" cy="6014085"/>
            </a:xfrm>
            <a:custGeom>
              <a:rect b="b" l="l" r="r" t="t"/>
              <a:pathLst>
                <a:path extrusionOk="0" h="6014085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6014085"/>
                  </a:lnTo>
                  <a:lnTo>
                    <a:pt x="0" y="601408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1620" l="0" r="0" t="-11620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23"/>
            <p:cNvSpPr txBox="1"/>
            <p:nvPr/>
          </p:nvSpPr>
          <p:spPr>
            <a:xfrm>
              <a:off x="0" y="-161925"/>
              <a:ext cx="19019520" cy="61760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PROYECTO INGENIERÍA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DE SOFTWARE II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INCREMENTO 1 GRUPO 14</a:t>
              </a:r>
              <a:endParaRPr/>
            </a:p>
          </p:txBody>
        </p:sp>
      </p:grpSp>
      <p:sp>
        <p:nvSpPr>
          <p:cNvPr id="606" name="Google Shape;606;p23"/>
          <p:cNvSpPr/>
          <p:nvPr/>
        </p:nvSpPr>
        <p:spPr>
          <a:xfrm>
            <a:off x="917581" y="5916235"/>
            <a:ext cx="8274082" cy="117634"/>
          </a:xfrm>
          <a:custGeom>
            <a:rect b="b" l="l" r="r" t="t"/>
            <a:pathLst>
              <a:path extrusionOk="0" h="156845" w="11032109">
                <a:moveTo>
                  <a:pt x="0" y="0"/>
                </a:moveTo>
                <a:lnTo>
                  <a:pt x="11032109" y="0"/>
                </a:lnTo>
                <a:lnTo>
                  <a:pt x="11032109" y="156845"/>
                </a:lnTo>
                <a:lnTo>
                  <a:pt x="0" y="156845"/>
                </a:lnTo>
                <a:close/>
              </a:path>
            </a:pathLst>
          </a:custGeom>
          <a:solidFill>
            <a:srgbClr val="F47920"/>
          </a:solidFill>
          <a:ln cap="sq" cmpd="sng" w="25400">
            <a:solidFill>
              <a:srgbClr val="F4792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3"/>
          <p:cNvSpPr/>
          <p:nvPr/>
        </p:nvSpPr>
        <p:spPr>
          <a:xfrm>
            <a:off x="914400" y="6583680"/>
            <a:ext cx="8229600" cy="548640"/>
          </a:xfrm>
          <a:custGeom>
            <a:rect b="b" l="l" r="r" t="t"/>
            <a:pathLst>
              <a:path extrusionOk="0" h="731520" w="10972800">
                <a:moveTo>
                  <a:pt x="0" y="0"/>
                </a:moveTo>
                <a:lnTo>
                  <a:pt x="10972800" y="0"/>
                </a:lnTo>
                <a:lnTo>
                  <a:pt x="1097280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42070" l="0" r="0" t="-2420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08" name="Google Shape;608;p23"/>
          <p:cNvGrpSpPr/>
          <p:nvPr/>
        </p:nvGrpSpPr>
        <p:grpSpPr>
          <a:xfrm>
            <a:off x="914400" y="6512242"/>
            <a:ext cx="8229600" cy="620078"/>
            <a:chOff x="0" y="-47625"/>
            <a:chExt cx="10972800" cy="826770"/>
          </a:xfrm>
        </p:grpSpPr>
        <p:sp>
          <p:nvSpPr>
            <p:cNvPr id="609" name="Google Shape;609;p23"/>
            <p:cNvSpPr/>
            <p:nvPr/>
          </p:nvSpPr>
          <p:spPr>
            <a:xfrm>
              <a:off x="0" y="0"/>
              <a:ext cx="10972800" cy="779145"/>
            </a:xfrm>
            <a:custGeom>
              <a:rect b="b" l="l" r="r" t="t"/>
              <a:pathLst>
                <a:path extrusionOk="0" h="7791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9145"/>
                  </a:lnTo>
                  <a:lnTo>
                    <a:pt x="0" y="7791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24424" l="0" r="0" t="-22442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0" name="Google Shape;610;p23"/>
            <p:cNvSpPr txBox="1"/>
            <p:nvPr/>
          </p:nvSpPr>
          <p:spPr>
            <a:xfrm>
              <a:off x="0" y="-47625"/>
              <a:ext cx="10972800" cy="8267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Autores:</a:t>
              </a:r>
              <a:endParaRPr/>
            </a:p>
          </p:txBody>
        </p:sp>
      </p:grpSp>
      <p:sp>
        <p:nvSpPr>
          <p:cNvPr id="611" name="Google Shape;611;p23"/>
          <p:cNvSpPr/>
          <p:nvPr/>
        </p:nvSpPr>
        <p:spPr>
          <a:xfrm>
            <a:off x="914400" y="7132320"/>
            <a:ext cx="8229600" cy="2377440"/>
          </a:xfrm>
          <a:custGeom>
            <a:rect b="b" l="l" r="r" t="t"/>
            <a:pathLst>
              <a:path extrusionOk="0" h="3169920" w="10972800">
                <a:moveTo>
                  <a:pt x="0" y="0"/>
                </a:moveTo>
                <a:lnTo>
                  <a:pt x="10972800" y="0"/>
                </a:lnTo>
                <a:lnTo>
                  <a:pt x="10972800" y="3169920"/>
                </a:lnTo>
                <a:lnTo>
                  <a:pt x="0" y="31699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7402" l="0" r="0" t="-17402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2" name="Google Shape;612;p23"/>
          <p:cNvGrpSpPr/>
          <p:nvPr/>
        </p:nvGrpSpPr>
        <p:grpSpPr>
          <a:xfrm>
            <a:off x="914400" y="7060882"/>
            <a:ext cx="8229600" cy="2448878"/>
            <a:chOff x="0" y="-47625"/>
            <a:chExt cx="10972800" cy="3265170"/>
          </a:xfrm>
        </p:grpSpPr>
        <p:sp>
          <p:nvSpPr>
            <p:cNvPr id="613" name="Google Shape;613;p23"/>
            <p:cNvSpPr/>
            <p:nvPr/>
          </p:nvSpPr>
          <p:spPr>
            <a:xfrm>
              <a:off x="0" y="0"/>
              <a:ext cx="10972800" cy="3217545"/>
            </a:xfrm>
            <a:custGeom>
              <a:rect b="b" l="l" r="r" t="t"/>
              <a:pathLst>
                <a:path extrusionOk="0" h="3217545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217545"/>
                  </a:lnTo>
                  <a:lnTo>
                    <a:pt x="0" y="321754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449" l="0" r="0" t="-16449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4" name="Google Shape;614;p23"/>
            <p:cNvSpPr txBox="1"/>
            <p:nvPr/>
          </p:nvSpPr>
          <p:spPr>
            <a:xfrm>
              <a:off x="0" y="-47625"/>
              <a:ext cx="10972800" cy="32651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Sofia Isidora Cariñe Valenzuela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Jhoe Eduardo Castillo Barrios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Karla Aylin Curín Navarro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Omar Adolfo Olmos Hernández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Lenin Andrés Reyes Gómez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1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Silvio Alberto Villagra Labbé</a:t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5" name="Google Shape;615;p23"/>
          <p:cNvSpPr/>
          <p:nvPr/>
        </p:nvSpPr>
        <p:spPr>
          <a:xfrm>
            <a:off x="10058400" y="6583680"/>
            <a:ext cx="7680960" cy="1280160"/>
          </a:xfrm>
          <a:custGeom>
            <a:rect b="b" l="l" r="r" t="t"/>
            <a:pathLst>
              <a:path extrusionOk="0" h="1706880" w="10241280">
                <a:moveTo>
                  <a:pt x="0" y="0"/>
                </a:moveTo>
                <a:lnTo>
                  <a:pt x="10241280" y="0"/>
                </a:lnTo>
                <a:lnTo>
                  <a:pt x="10241280" y="1706880"/>
                </a:lnTo>
                <a:lnTo>
                  <a:pt x="0" y="170688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66828" l="0" r="0" t="-6682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6" name="Google Shape;616;p23"/>
          <p:cNvGrpSpPr/>
          <p:nvPr/>
        </p:nvGrpSpPr>
        <p:grpSpPr>
          <a:xfrm>
            <a:off x="10058400" y="6512242"/>
            <a:ext cx="7680960" cy="1351598"/>
            <a:chOff x="0" y="-47625"/>
            <a:chExt cx="10241280" cy="1802130"/>
          </a:xfrm>
        </p:grpSpPr>
        <p:sp>
          <p:nvSpPr>
            <p:cNvPr id="617" name="Google Shape;617;p23"/>
            <p:cNvSpPr/>
            <p:nvPr/>
          </p:nvSpPr>
          <p:spPr>
            <a:xfrm>
              <a:off x="0" y="0"/>
              <a:ext cx="10241280" cy="1754505"/>
            </a:xfrm>
            <a:custGeom>
              <a:rect b="b" l="l" r="r" t="t"/>
              <a:pathLst>
                <a:path extrusionOk="0" h="175450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754505"/>
                  </a:lnTo>
                  <a:lnTo>
                    <a:pt x="0" y="175450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3735" l="0" r="0" t="-63735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8" name="Google Shape;618;p23"/>
            <p:cNvSpPr txBox="1"/>
            <p:nvPr/>
          </p:nvSpPr>
          <p:spPr>
            <a:xfrm>
              <a:off x="0" y="-47625"/>
              <a:ext cx="10241280" cy="1802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Facultad de Ingeniería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Ingeniería de Software II</a:t>
              </a:r>
              <a:endParaRPr/>
            </a:p>
          </p:txBody>
        </p:sp>
      </p:grpSp>
      <p:sp>
        <p:nvSpPr>
          <p:cNvPr id="619" name="Google Shape;619;p23"/>
          <p:cNvSpPr/>
          <p:nvPr/>
        </p:nvSpPr>
        <p:spPr>
          <a:xfrm>
            <a:off x="10058400" y="7955280"/>
            <a:ext cx="7680960" cy="640080"/>
          </a:xfrm>
          <a:custGeom>
            <a:rect b="b" l="l" r="r" t="t"/>
            <a:pathLst>
              <a:path extrusionOk="0" h="853440" w="10241280">
                <a:moveTo>
                  <a:pt x="0" y="0"/>
                </a:moveTo>
                <a:lnTo>
                  <a:pt x="10241280" y="0"/>
                </a:lnTo>
                <a:lnTo>
                  <a:pt x="10241280" y="853440"/>
                </a:lnTo>
                <a:lnTo>
                  <a:pt x="0" y="85344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183667" l="0" r="0" t="-18366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0" name="Google Shape;620;p23"/>
          <p:cNvGrpSpPr/>
          <p:nvPr/>
        </p:nvGrpSpPr>
        <p:grpSpPr>
          <a:xfrm>
            <a:off x="10058400" y="7883842"/>
            <a:ext cx="7680960" cy="711518"/>
            <a:chOff x="0" y="-47625"/>
            <a:chExt cx="10241280" cy="948690"/>
          </a:xfrm>
        </p:grpSpPr>
        <p:sp>
          <p:nvSpPr>
            <p:cNvPr id="621" name="Google Shape;621;p23"/>
            <p:cNvSpPr/>
            <p:nvPr/>
          </p:nvSpPr>
          <p:spPr>
            <a:xfrm>
              <a:off x="0" y="0"/>
              <a:ext cx="10241280" cy="901065"/>
            </a:xfrm>
            <a:custGeom>
              <a:rect b="b" l="l" r="r" t="t"/>
              <a:pathLst>
                <a:path extrusionOk="0" h="901065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901065"/>
                  </a:lnTo>
                  <a:lnTo>
                    <a:pt x="0" y="901065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71454" l="0" r="0" t="-171454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23"/>
            <p:cNvSpPr txBox="1"/>
            <p:nvPr/>
          </p:nvSpPr>
          <p:spPr>
            <a:xfrm>
              <a:off x="0" y="-47625"/>
              <a:ext cx="10241280" cy="9486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200">
                  <a:solidFill>
                    <a:srgbClr val="F47920"/>
                  </a:solidFill>
                  <a:latin typeface="Calibri"/>
                  <a:ea typeface="Calibri"/>
                  <a:cs typeface="Calibri"/>
                  <a:sym typeface="Calibri"/>
                </a:rPr>
                <a:t>Profesor: </a:t>
              </a:r>
              <a:r>
                <a:rPr lang="en-US" sz="2200">
                  <a:solidFill>
                    <a:srgbClr val="D1D5DB"/>
                  </a:solidFill>
                  <a:latin typeface="Calibri"/>
                  <a:ea typeface="Calibri"/>
                  <a:cs typeface="Calibri"/>
                  <a:sym typeface="Calibri"/>
                </a:rPr>
                <a:t>Paulo Quinsacara Jofré</a:t>
              </a:r>
              <a:endParaRPr/>
            </a:p>
          </p:txBody>
        </p:sp>
      </p:grpSp>
      <p:sp>
        <p:nvSpPr>
          <p:cNvPr id="623" name="Google Shape;623;p23"/>
          <p:cNvSpPr/>
          <p:nvPr/>
        </p:nvSpPr>
        <p:spPr>
          <a:xfrm>
            <a:off x="10058400" y="8686800"/>
            <a:ext cx="7680960" cy="548640"/>
          </a:xfrm>
          <a:custGeom>
            <a:rect b="b" l="l" r="r" t="t"/>
            <a:pathLst>
              <a:path extrusionOk="0" h="731520" w="10241280">
                <a:moveTo>
                  <a:pt x="0" y="0"/>
                </a:moveTo>
                <a:lnTo>
                  <a:pt x="10241280" y="0"/>
                </a:lnTo>
                <a:lnTo>
                  <a:pt x="10241280" y="731520"/>
                </a:lnTo>
                <a:lnTo>
                  <a:pt x="0" y="731520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222598" l="0" r="0" t="-22259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4" name="Google Shape;624;p23"/>
          <p:cNvGrpSpPr/>
          <p:nvPr/>
        </p:nvGrpSpPr>
        <p:grpSpPr>
          <a:xfrm>
            <a:off x="10058400" y="8629650"/>
            <a:ext cx="7680960" cy="605790"/>
            <a:chOff x="0" y="-38100"/>
            <a:chExt cx="10241280" cy="807720"/>
          </a:xfrm>
        </p:grpSpPr>
        <p:sp>
          <p:nvSpPr>
            <p:cNvPr id="625" name="Google Shape;625;p23"/>
            <p:cNvSpPr/>
            <p:nvPr/>
          </p:nvSpPr>
          <p:spPr>
            <a:xfrm>
              <a:off x="0" y="0"/>
              <a:ext cx="10241280" cy="769620"/>
            </a:xfrm>
            <a:custGeom>
              <a:rect b="b" l="l" r="r" t="t"/>
              <a:pathLst>
                <a:path extrusionOk="0" h="76962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69620"/>
                  </a:lnTo>
                  <a:lnTo>
                    <a:pt x="0" y="76962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09282" l="0" r="0" t="-209282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6" name="Google Shape;626;p23"/>
            <p:cNvSpPr txBox="1"/>
            <p:nvPr/>
          </p:nvSpPr>
          <p:spPr>
            <a:xfrm>
              <a:off x="0" y="-38100"/>
              <a:ext cx="10241280" cy="8077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Santiago, Chile · 2026</a:t>
              </a:r>
              <a:endParaRPr/>
            </a:p>
          </p:txBody>
        </p:sp>
      </p:grpSp>
      <p:sp>
        <p:nvSpPr>
          <p:cNvPr id="627" name="Google Shape;627;p23"/>
          <p:cNvSpPr/>
          <p:nvPr/>
        </p:nvSpPr>
        <p:spPr>
          <a:xfrm>
            <a:off x="927106" y="1572768"/>
            <a:ext cx="4102132" cy="619506"/>
          </a:xfrm>
          <a:custGeom>
            <a:rect b="b" l="l" r="r" t="t"/>
            <a:pathLst>
              <a:path extrusionOk="0" h="826008" w="5469509">
                <a:moveTo>
                  <a:pt x="0" y="0"/>
                </a:moveTo>
                <a:lnTo>
                  <a:pt x="5469509" y="0"/>
                </a:lnTo>
                <a:lnTo>
                  <a:pt x="5469509" y="826008"/>
                </a:lnTo>
                <a:lnTo>
                  <a:pt x="0" y="826008"/>
                </a:lnTo>
                <a:close/>
              </a:path>
            </a:pathLst>
          </a:custGeom>
          <a:blipFill rotWithShape="1">
            <a:blip r:embed="rId3">
              <a:alphaModFix amt="0"/>
            </a:blip>
            <a:stretch>
              <a:fillRect b="-78935" l="0" r="0" t="-7893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28" name="Google Shape;628;p23"/>
          <p:cNvGrpSpPr/>
          <p:nvPr/>
        </p:nvGrpSpPr>
        <p:grpSpPr>
          <a:xfrm>
            <a:off x="927106" y="1472756"/>
            <a:ext cx="4102099" cy="719566"/>
            <a:chOff x="0" y="-66675"/>
            <a:chExt cx="5469464" cy="959421"/>
          </a:xfrm>
        </p:grpSpPr>
        <p:sp>
          <p:nvSpPr>
            <p:cNvPr id="629" name="Google Shape;629;p23"/>
            <p:cNvSpPr/>
            <p:nvPr/>
          </p:nvSpPr>
          <p:spPr>
            <a:xfrm>
              <a:off x="0" y="0"/>
              <a:ext cx="5469464" cy="892743"/>
            </a:xfrm>
            <a:custGeom>
              <a:rect b="b" l="l" r="r" t="t"/>
              <a:pathLst>
                <a:path extrusionOk="0" h="892743" w="5469464">
                  <a:moveTo>
                    <a:pt x="0" y="0"/>
                  </a:moveTo>
                  <a:lnTo>
                    <a:pt x="5469464" y="0"/>
                  </a:lnTo>
                  <a:lnTo>
                    <a:pt x="5469464" y="892743"/>
                  </a:lnTo>
                  <a:lnTo>
                    <a:pt x="0" y="892743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69377" l="0" r="0" t="-69377"/>
              </a:stretch>
            </a:blip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23"/>
            <p:cNvSpPr txBox="1"/>
            <p:nvPr/>
          </p:nvSpPr>
          <p:spPr>
            <a:xfrm>
              <a:off x="0" y="-66675"/>
              <a:ext cx="5469458" cy="9594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099">
                  <a:solidFill>
                    <a:srgbClr val="9CA3AF"/>
                  </a:solidFill>
                  <a:latin typeface="Calibri"/>
                  <a:ea typeface="Calibri"/>
                  <a:cs typeface="Calibri"/>
                  <a:sym typeface="Calibri"/>
                </a:rPr>
                <a:t>Universidad Andrés Bello</a:t>
              </a:r>
              <a:endParaRPr/>
            </a:p>
          </p:txBody>
        </p:sp>
      </p:grpSp>
      <p:sp>
        <p:nvSpPr>
          <p:cNvPr id="631" name="Google Shape;631;p23"/>
          <p:cNvSpPr/>
          <p:nvPr/>
        </p:nvSpPr>
        <p:spPr>
          <a:xfrm>
            <a:off x="15760065" y="91430"/>
            <a:ext cx="2228278" cy="1874520"/>
          </a:xfrm>
          <a:custGeom>
            <a:rect b="b" l="l" r="r" t="t"/>
            <a:pathLst>
              <a:path extrusionOk="0" h="2499360" w="2971038">
                <a:moveTo>
                  <a:pt x="0" y="0"/>
                </a:moveTo>
                <a:lnTo>
                  <a:pt x="2971038" y="0"/>
                </a:lnTo>
                <a:lnTo>
                  <a:pt x="2971038" y="2499360"/>
                </a:lnTo>
                <a:lnTo>
                  <a:pt x="0" y="24993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49" l="0" r="0" t="-148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silvio villagra</dc:creator>
</cp:coreProperties>
</file>