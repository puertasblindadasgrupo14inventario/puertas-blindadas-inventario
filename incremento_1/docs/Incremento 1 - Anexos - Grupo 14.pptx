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libri (MS) Bold" charset="1" panose="020F0702030404030204"/>
      <p:regular r:id="rId32"/>
    </p:embeddedFont>
    <p:embeddedFont>
      <p:font typeface="Calibri (MS)" charset="1" panose="020F050202020403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2.xml" Type="http://schemas.openxmlformats.org/officeDocument/2006/relationships/notesSlide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notesSlides/notesSlide20.xml" Type="http://schemas.openxmlformats.org/officeDocument/2006/relationships/notesSlide"/><Relationship Id="rId53" Target="notesSlides/notesSlide21.xml" Type="http://schemas.openxmlformats.org/officeDocument/2006/relationships/notesSlide"/><Relationship Id="rId54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373666" cy="10331482"/>
            <a:chOff x="0" y="0"/>
            <a:chExt cx="498221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21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498221">
                  <a:moveTo>
                    <a:pt x="0" y="0"/>
                  </a:moveTo>
                  <a:lnTo>
                    <a:pt x="498221" y="0"/>
                  </a:lnTo>
                  <a:lnTo>
                    <a:pt x="498221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005840"/>
            <a:ext cx="14264640" cy="640080"/>
            <a:chOff x="0" y="0"/>
            <a:chExt cx="19019520" cy="853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36" r="0" b="-383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70121"/>
            <a:ext cx="14264640" cy="675799"/>
            <a:chOff x="0" y="0"/>
            <a:chExt cx="19019520" cy="9010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19520" cy="901065"/>
            </a:xfrm>
            <a:custGeom>
              <a:avLst/>
              <a:gdLst/>
              <a:ahLst/>
              <a:cxnLst/>
              <a:rect r="r" b="b" t="t" l="l"/>
              <a:pathLst>
                <a:path h="90106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286" r="0" b="-3612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01952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8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DE INVENTARIO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828800"/>
            <a:ext cx="14264640" cy="4389120"/>
            <a:chOff x="0" y="0"/>
            <a:chExt cx="19019520" cy="5852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19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82" r="0" b="-1328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1707356"/>
            <a:ext cx="14264640" cy="4510564"/>
            <a:chOff x="0" y="0"/>
            <a:chExt cx="19019520" cy="60140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6014085"/>
            </a:xfrm>
            <a:custGeom>
              <a:avLst/>
              <a:gdLst/>
              <a:ahLst/>
              <a:cxnLst/>
              <a:rect r="r" b="b" t="t" l="l"/>
              <a:pathLst>
                <a:path h="601408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014085"/>
                  </a:lnTo>
                  <a:lnTo>
                    <a:pt x="0" y="60140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21" r="0" b="-116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19019520" cy="617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PROYECTO INGENIERÍA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SOFTWARE I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INCREMENTO 1 GRUPO 14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7581" y="5916235"/>
            <a:ext cx="8274082" cy="117634"/>
            <a:chOff x="0" y="0"/>
            <a:chExt cx="11032109" cy="1568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32109" cy="156845"/>
            </a:xfrm>
            <a:custGeom>
              <a:avLst/>
              <a:gdLst/>
              <a:ahLst/>
              <a:cxnLst/>
              <a:rect r="r" b="b" t="t" l="l"/>
              <a:pathLst>
                <a:path h="156845" w="11032109">
                  <a:moveTo>
                    <a:pt x="0" y="0"/>
                  </a:moveTo>
                  <a:lnTo>
                    <a:pt x="11032109" y="0"/>
                  </a:lnTo>
                  <a:lnTo>
                    <a:pt x="11032109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6583680"/>
            <a:ext cx="8229600" cy="548640"/>
            <a:chOff x="0" y="0"/>
            <a:chExt cx="10972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6547961"/>
            <a:ext cx="8229600" cy="584359"/>
            <a:chOff x="0" y="0"/>
            <a:chExt cx="10972800" cy="7791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779145"/>
            </a:xfrm>
            <a:custGeom>
              <a:avLst/>
              <a:gdLst/>
              <a:ahLst/>
              <a:cxnLst/>
              <a:rect r="r" b="b" t="t" l="l"/>
              <a:pathLst>
                <a:path h="7791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4410" r="0" b="-224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Autores: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7132320"/>
            <a:ext cx="8229600" cy="2377440"/>
            <a:chOff x="0" y="0"/>
            <a:chExt cx="10972800" cy="3169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1" r="0" b="-1740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7096601"/>
            <a:ext cx="8229600" cy="2413159"/>
            <a:chOff x="0" y="0"/>
            <a:chExt cx="10972800" cy="32175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3217545"/>
            </a:xfrm>
            <a:custGeom>
              <a:avLst/>
              <a:gdLst/>
              <a:ahLst/>
              <a:cxnLst/>
              <a:rect r="r" b="b" t="t" l="l"/>
              <a:pathLst>
                <a:path h="32175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7545"/>
                  </a:lnTo>
                  <a:lnTo>
                    <a:pt x="0" y="32175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49" r="0" b="-164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3265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Sofia Isidora Cariñe Valenzuela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Jhoe Eduardo Castillo Barrios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Karla Aylin Curín Navarro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Valentín Ignacio García Farías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Omar Adolfo Olmos Hernández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Silvio Alberto Villagra Labbé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0" y="6583680"/>
            <a:ext cx="7680960" cy="1280160"/>
            <a:chOff x="0" y="0"/>
            <a:chExt cx="10241280" cy="1706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0" y="6547961"/>
            <a:ext cx="7680960" cy="1315879"/>
            <a:chOff x="0" y="0"/>
            <a:chExt cx="10241280" cy="17545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1754505"/>
            </a:xfrm>
            <a:custGeom>
              <a:avLst/>
              <a:gdLst/>
              <a:ahLst/>
              <a:cxnLst/>
              <a:rect r="r" b="b" t="t" l="l"/>
              <a:pathLst>
                <a:path h="17545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736" r="0" b="-637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241280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Facultad de Ingeniería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de Software I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0" y="7955280"/>
            <a:ext cx="7680960" cy="640080"/>
            <a:chOff x="0" y="0"/>
            <a:chExt cx="1024128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657" r="0" b="-18365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0" y="7919561"/>
            <a:ext cx="7680960" cy="675799"/>
            <a:chOff x="0" y="0"/>
            <a:chExt cx="10241280" cy="9010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0" cy="901065"/>
            </a:xfrm>
            <a:custGeom>
              <a:avLst/>
              <a:gdLst/>
              <a:ahLst/>
              <a:cxnLst/>
              <a:rect r="r" b="b" t="t" l="l"/>
              <a:pathLst>
                <a:path h="90106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462" r="0" b="-1714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24128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Profesor: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Paulo Quinsacara Jofré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58400" y="8686800"/>
            <a:ext cx="7680960" cy="548640"/>
            <a:chOff x="0" y="0"/>
            <a:chExt cx="102412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0" y="8658225"/>
            <a:ext cx="7680960" cy="577215"/>
            <a:chOff x="0" y="0"/>
            <a:chExt cx="10241280" cy="7696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769620"/>
            </a:xfrm>
            <a:custGeom>
              <a:avLst/>
              <a:gdLst/>
              <a:ahLst/>
              <a:cxnLst/>
              <a:rect r="r" b="b" t="t" l="l"/>
              <a:pathLst>
                <a:path h="7696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286" r="0" b="-20928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24128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Santiago, Chile · 2026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7106" y="1572768"/>
            <a:ext cx="4102094" cy="619554"/>
            <a:chOff x="0" y="0"/>
            <a:chExt cx="5469458" cy="8260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69509" cy="826008"/>
            </a:xfrm>
            <a:custGeom>
              <a:avLst/>
              <a:gdLst/>
              <a:ahLst/>
              <a:cxnLst/>
              <a:rect r="r" b="b" t="t" l="l"/>
              <a:pathLst>
                <a:path h="826008" w="5469509">
                  <a:moveTo>
                    <a:pt x="0" y="0"/>
                  </a:moveTo>
                  <a:lnTo>
                    <a:pt x="5469509" y="0"/>
                  </a:lnTo>
                  <a:lnTo>
                    <a:pt x="5469509" y="826008"/>
                  </a:lnTo>
                  <a:lnTo>
                    <a:pt x="0" y="826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28" r="0" b="-7893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27106" y="1522762"/>
            <a:ext cx="4102094" cy="669560"/>
            <a:chOff x="0" y="0"/>
            <a:chExt cx="5469458" cy="89274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69464" cy="892743"/>
            </a:xfrm>
            <a:custGeom>
              <a:avLst/>
              <a:gdLst/>
              <a:ahLst/>
              <a:cxnLst/>
              <a:rect r="r" b="b" t="t" l="l"/>
              <a:pathLst>
                <a:path h="892743" w="5469464">
                  <a:moveTo>
                    <a:pt x="0" y="0"/>
                  </a:moveTo>
                  <a:lnTo>
                    <a:pt x="5469464" y="0"/>
                  </a:lnTo>
                  <a:lnTo>
                    <a:pt x="5469464" y="892743"/>
                  </a:lnTo>
                  <a:lnTo>
                    <a:pt x="0" y="892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376" r="0" b="-6937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5469458" cy="959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 Andrés Bello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760065" y="91430"/>
            <a:ext cx="2228288" cy="1874549"/>
            <a:chOff x="0" y="0"/>
            <a:chExt cx="2971051" cy="249939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71038" cy="2499360"/>
            </a:xfrm>
            <a:custGeom>
              <a:avLst/>
              <a:gdLst/>
              <a:ahLst/>
              <a:cxnLst/>
              <a:rect r="r" b="b" t="t" l="l"/>
              <a:pathLst>
                <a:path h="2499360" w="2971038">
                  <a:moveTo>
                    <a:pt x="0" y="0"/>
                  </a:moveTo>
                  <a:lnTo>
                    <a:pt x="2971038" y="0"/>
                  </a:lnTo>
                  <a:lnTo>
                    <a:pt x="2971038" y="2499360"/>
                  </a:lnTo>
                  <a:lnTo>
                    <a:pt x="0" y="249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8" r="0" b="-14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08264" y="3715779"/>
            <a:ext cx="1871462" cy="1005840"/>
            <a:chOff x="0" y="0"/>
            <a:chExt cx="2495283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5296" cy="1341120"/>
            </a:xfrm>
            <a:custGeom>
              <a:avLst/>
              <a:gdLst/>
              <a:ahLst/>
              <a:cxnLst/>
              <a:rect r="r" b="b" t="t" l="l"/>
              <a:pathLst>
                <a:path h="1341120" w="2495296">
                  <a:moveTo>
                    <a:pt x="0" y="0"/>
                  </a:moveTo>
                  <a:lnTo>
                    <a:pt x="2495296" y="0"/>
                  </a:lnTo>
                  <a:lnTo>
                    <a:pt x="2495296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006" t="0" r="-1900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08264" y="3658629"/>
            <a:ext cx="1871462" cy="1062990"/>
            <a:chOff x="0" y="0"/>
            <a:chExt cx="2495283" cy="1417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5284" cy="1417320"/>
            </a:xfrm>
            <a:custGeom>
              <a:avLst/>
              <a:gdLst/>
              <a:ahLst/>
              <a:cxnLst/>
              <a:rect r="r" b="b" t="t" l="l"/>
              <a:pathLst>
                <a:path h="1417320" w="2495284">
                  <a:moveTo>
                    <a:pt x="0" y="0"/>
                  </a:moveTo>
                  <a:lnTo>
                    <a:pt x="2495284" y="0"/>
                  </a:lnTo>
                  <a:lnTo>
                    <a:pt x="2495284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76" t="0" r="-2287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495283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Anexos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955023" y="4593146"/>
            <a:ext cx="2378021" cy="148257"/>
            <a:chOff x="0" y="0"/>
            <a:chExt cx="3170695" cy="1976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0682" cy="197612"/>
            </a:xfrm>
            <a:custGeom>
              <a:avLst/>
              <a:gdLst/>
              <a:ahLst/>
              <a:cxnLst/>
              <a:rect r="r" b="b" t="t" l="l"/>
              <a:pathLst>
                <a:path h="197612" w="3170682">
                  <a:moveTo>
                    <a:pt x="0" y="0"/>
                  </a:moveTo>
                  <a:lnTo>
                    <a:pt x="3170682" y="0"/>
                  </a:lnTo>
                  <a:lnTo>
                    <a:pt x="3170682" y="197612"/>
                  </a:lnTo>
                  <a:lnTo>
                    <a:pt x="0" y="197612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219456"/>
            <a:ext cx="17007840" cy="1005840"/>
            <a:chOff x="0" y="0"/>
            <a:chExt cx="2267712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245" r="0" b="-2792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162306"/>
            <a:ext cx="17007840" cy="1062990"/>
            <a:chOff x="0" y="0"/>
            <a:chExt cx="22677120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1417320"/>
            </a:xfrm>
            <a:custGeom>
              <a:avLst/>
              <a:gdLst/>
              <a:ahLst/>
              <a:cxnLst/>
              <a:rect r="r" b="b" t="t" l="l"/>
              <a:pathLst>
                <a:path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FR-01 SQL-Tabla MATERIAL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4412" y="1148124"/>
            <a:ext cx="17074515" cy="7381875"/>
            <a:chOff x="0" y="0"/>
            <a:chExt cx="22766020" cy="9842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66020" cy="9842500"/>
            </a:xfrm>
            <a:custGeom>
              <a:avLst/>
              <a:gdLst/>
              <a:ahLst/>
              <a:cxnLst/>
              <a:rect r="r" b="b" t="t" l="l"/>
              <a:pathLst>
                <a:path h="9842500" w="22766020">
                  <a:moveTo>
                    <a:pt x="0" y="0"/>
                  </a:moveTo>
                  <a:lnTo>
                    <a:pt x="22766020" y="0"/>
                  </a:lnTo>
                  <a:lnTo>
                    <a:pt x="22766020" y="9842500"/>
                  </a:lnTo>
                  <a:lnTo>
                    <a:pt x="0" y="9842500"/>
                  </a:lnTo>
                  <a:close/>
                </a:path>
              </a:pathLst>
            </a:custGeom>
            <a:solidFill>
              <a:srgbClr val="1E1E1E"/>
            </a:solidFill>
            <a:ln w="38100" cap="sq">
              <a:solidFill>
                <a:srgbClr val="F4792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8230" y="1399118"/>
            <a:ext cx="6308893" cy="644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Entidad central del inventario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material (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material_sku VARCHAR(16) NOT NULL,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SKU: 4-16 chars, único → satisface FR-01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material_nombre_material VARCHAR(200) NOT NULL,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material_descripcion TEXT,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material_material_critico BOOLEAN NOT NULL DEFAULT FALSE,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material_presentacion VARCHAR(150),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material_stock_critico NUMERIC(12,4),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material_stock_maximo NUMERIC(12,4),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material_stock_minimo NUMERIC(12,4),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material_es_rotativo BOOLEAN NOT NULL DEFAULT TRUE,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material_estado VARCHAR(50) NOT NULL,</a:t>
            </a:r>
          </a:p>
          <a:p>
            <a:pPr algn="l">
              <a:lnSpc>
                <a:spcPts val="2206"/>
              </a:lnSpc>
            </a:pP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FKs hacia catálogos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material_categoria_general_id_cat BIGINT,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material_categoria_funcional_id_cat BIGINT,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material_clasificacion_nivel_esp_id BIGINT,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material_unidad_medida_id BIGINT NOT NULL,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CONSTRAINT pk_material PRIMARY KEY (material_sku),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CONSTRAINT ck_material_sku_len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CHECK (length(material_sku) BETWEEN 4 AND 16)</a:t>
            </a:r>
          </a:p>
          <a:p>
            <a:pPr algn="l">
              <a:lnSpc>
                <a:spcPts val="2206"/>
              </a:lnSpc>
            </a:pPr>
            <a:r>
              <a:rPr lang="en-US" sz="183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88132" y="1418168"/>
            <a:ext cx="4210764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Claves foráneas de material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ALTER TABLE material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ADD CONSTRAINT fk_mat_cat_gen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FOREIGN KEY (...)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REFERENCES material_categoria_general,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ADD CONSTRAINT fk_mat_cat_func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FOREIGN KEY (...)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REFERENCES material_categoria_funcional,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ADD CONSTRAINT fk_mat_unidad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FOREIGN KEY (material_unidad_medida_id)</a:t>
            </a:r>
          </a:p>
          <a:p>
            <a:pPr algn="l">
              <a:lnSpc>
                <a:spcPts val="2166"/>
              </a:lnSpc>
            </a:pPr>
            <a:r>
              <a:rPr lang="en-US" sz="180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REFERENCES material_unidad_medida;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52537" y="5385940"/>
            <a:ext cx="4245893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822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Índices de material</a:t>
            </a:r>
          </a:p>
          <a:p>
            <a:pPr algn="l">
              <a:lnSpc>
                <a:spcPts val="2187"/>
              </a:lnSpc>
            </a:pPr>
            <a:r>
              <a:rPr lang="en-US" sz="182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INDEX idx_material_estado</a:t>
            </a:r>
          </a:p>
          <a:p>
            <a:pPr algn="l">
              <a:lnSpc>
                <a:spcPts val="2187"/>
              </a:lnSpc>
            </a:pPr>
            <a:r>
              <a:rPr lang="en-US" sz="182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ON material(material_estado);</a:t>
            </a:r>
          </a:p>
          <a:p>
            <a:pPr algn="l">
              <a:lnSpc>
                <a:spcPts val="2187"/>
              </a:lnSpc>
            </a:pPr>
            <a:r>
              <a:rPr lang="en-US" sz="182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INDEX idx_material_cat_gen</a:t>
            </a:r>
          </a:p>
          <a:p>
            <a:pPr algn="l">
              <a:lnSpc>
                <a:spcPts val="2187"/>
              </a:lnSpc>
            </a:pPr>
            <a:r>
              <a:rPr lang="en-US" sz="182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ON material(material_categoria_general...);</a:t>
            </a:r>
          </a:p>
          <a:p>
            <a:pPr algn="l">
              <a:lnSpc>
                <a:spcPts val="2187"/>
              </a:lnSpc>
            </a:pPr>
            <a:r>
              <a:rPr lang="en-US" sz="182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INDEX idx_material_unidad</a:t>
            </a:r>
          </a:p>
          <a:p>
            <a:pPr algn="l">
              <a:lnSpc>
                <a:spcPts val="2187"/>
              </a:lnSpc>
            </a:pPr>
            <a:r>
              <a:rPr lang="en-US" sz="182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ON material(material_unidad_medida...);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219456"/>
            <a:ext cx="17007840" cy="1005840"/>
            <a:chOff x="0" y="0"/>
            <a:chExt cx="2267712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245" r="0" b="-2792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162306"/>
            <a:ext cx="17007840" cy="1062990"/>
            <a:chOff x="0" y="0"/>
            <a:chExt cx="22677120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1417320"/>
            </a:xfrm>
            <a:custGeom>
              <a:avLst/>
              <a:gdLst/>
              <a:ahLst/>
              <a:cxnLst/>
              <a:rect r="r" b="b" t="t" l="l"/>
              <a:pathLst>
                <a:path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FR-19 SQL-Tabla MOVIMIENTO_INVENTARIO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4412" y="1148124"/>
            <a:ext cx="17074515" cy="7381875"/>
            <a:chOff x="0" y="0"/>
            <a:chExt cx="22766020" cy="9842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66020" cy="9842500"/>
            </a:xfrm>
            <a:custGeom>
              <a:avLst/>
              <a:gdLst/>
              <a:ahLst/>
              <a:cxnLst/>
              <a:rect r="r" b="b" t="t" l="l"/>
              <a:pathLst>
                <a:path h="9842500" w="22766020">
                  <a:moveTo>
                    <a:pt x="0" y="0"/>
                  </a:moveTo>
                  <a:lnTo>
                    <a:pt x="22766020" y="0"/>
                  </a:lnTo>
                  <a:lnTo>
                    <a:pt x="22766020" y="9842500"/>
                  </a:lnTo>
                  <a:lnTo>
                    <a:pt x="0" y="9842500"/>
                  </a:lnTo>
                  <a:close/>
                </a:path>
              </a:pathLst>
            </a:custGeom>
            <a:solidFill>
              <a:srgbClr val="1E1E1E"/>
            </a:solidFill>
            <a:ln w="38100" cap="sq">
              <a:solidFill>
                <a:srgbClr val="F4792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93409" y="1964817"/>
            <a:ext cx="8914209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Evento central de stock. Cubre FR-19 (salidas)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movimiento_inventario (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movimiento_inventario_id_movimiento BIGINT GENERATED ALWAYS AS IDENTITY NOT NULL,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movimiento_inventario_fecha_hora TIMESTAMPTZ NOT NULL DEFAULT now(),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movimiento_inventario_cantidad NUMERIC(12,4) NOT NULL,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movimiento_inventario_estado VARCHAR(50) NOT NULL,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13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material_sku VARCHAR(16) NOT NULL, -- → FR-01 SKU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bodega_id_bodega BIGINT, -- bodega origen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lote_id_lote BIGINT, -- trazabilidad FIFO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proyecto_id_proyecto BIGINT, -- FK blanda → terreno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factura_compra_id_factura_compra BIGINT,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usuario_id_usuario BIGINT NOT NULL, -- quién registra la salida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tipo: SALIDA / ENTRADA / AJUSTE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movimiento_inventario_tipo_movimiento_id BIGINT NOT NULL,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motivo específico (consumo, pérdida, traslado…)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movimiento_inventario_motivo_movimiento_id BIGINT,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813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CONSTRAINT pk_mov_inv PRIMARY KEY (movimiento_inventario_id_movimiento),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CONSTRAINT ck_mov_inv_cant CHECK (movimiento_inventario_cantidad &gt;= 0)</a:t>
            </a:r>
          </a:p>
          <a:p>
            <a:pPr algn="l">
              <a:lnSpc>
                <a:spcPts val="2176"/>
              </a:lnSpc>
            </a:pPr>
            <a:r>
              <a:rPr lang="en-US" sz="181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64894" y="1964817"/>
            <a:ext cx="5490324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Catálogo tipo de movimiento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movimiento_inventario_tipo_movimiento (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id BIGINT GENERATED ALWAYS AS IDENTITY,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nombre VARCHAR(150) NOT NULL,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Ej.: 'ENTRADA', 'SALIDA', 'AJUSTE'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CONSTRAINT pk_mov_tipo PRIMARY KEY (id)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64894" y="4379852"/>
            <a:ext cx="5782628" cy="381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Catálogo clasificación de salida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movimiento_inventario_clasificacion_salida (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id BIGINT GENERATED ALWAYS AS IDENTITY,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nombre VARCHAR(150) NOT NULL,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Ej.: 'consumo', 'pérdida', 'traslado'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-- Motivo asociado a clasificación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6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TABLE movimiento_inventario_motivo_movimiento (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id BIGINT GENERATED ALWAYS AS IDENTITY,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nombre VARCHAR(150) NOT NULL,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clasificacion_salida_id BIGINT,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FK → clasificacion_salida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-- Ej.: 'venta', 'uso interno', 'pérdida'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);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221952"/>
            <a:ext cx="4385862" cy="1005840"/>
            <a:chOff x="0" y="0"/>
            <a:chExt cx="58478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47842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47842">
                  <a:moveTo>
                    <a:pt x="0" y="0"/>
                  </a:moveTo>
                  <a:lnTo>
                    <a:pt x="5847842" y="0"/>
                  </a:lnTo>
                  <a:lnTo>
                    <a:pt x="584784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03" r="0" b="-3490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164802"/>
            <a:ext cx="4385862" cy="1062990"/>
            <a:chOff x="0" y="0"/>
            <a:chExt cx="58478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47815" cy="1417320"/>
            </a:xfrm>
            <a:custGeom>
              <a:avLst/>
              <a:gdLst/>
              <a:ahLst/>
              <a:cxnLst/>
              <a:rect r="r" b="b" t="t" l="l"/>
              <a:pathLst>
                <a:path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94" r="0" b="-303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58478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149138" y="665636"/>
            <a:ext cx="9989725" cy="8575253"/>
            <a:chOff x="0" y="0"/>
            <a:chExt cx="13319633" cy="114336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19633" cy="11433683"/>
            </a:xfrm>
            <a:custGeom>
              <a:avLst/>
              <a:gdLst/>
              <a:ahLst/>
              <a:cxnLst/>
              <a:rect r="r" b="b" t="t" l="l"/>
              <a:pathLst>
                <a:path h="11433683" w="13319633">
                  <a:moveTo>
                    <a:pt x="0" y="0"/>
                  </a:moveTo>
                  <a:lnTo>
                    <a:pt x="13319633" y="0"/>
                  </a:lnTo>
                  <a:lnTo>
                    <a:pt x="13319633" y="11433683"/>
                  </a:lnTo>
                  <a:lnTo>
                    <a:pt x="0" y="11433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39613" y="9231354"/>
            <a:ext cx="10008803" cy="200968"/>
            <a:chOff x="0" y="0"/>
            <a:chExt cx="13345071" cy="2679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45033" cy="267970"/>
            </a:xfrm>
            <a:custGeom>
              <a:avLst/>
              <a:gdLst/>
              <a:ahLst/>
              <a:cxnLst/>
              <a:rect r="r" b="b" t="t" l="l"/>
              <a:pathLst>
                <a:path h="267970" w="13345033">
                  <a:moveTo>
                    <a:pt x="0" y="0"/>
                  </a:moveTo>
                  <a:lnTo>
                    <a:pt x="13345033" y="0"/>
                  </a:lnTo>
                  <a:lnTo>
                    <a:pt x="13345033" y="267970"/>
                  </a:lnTo>
                  <a:lnTo>
                    <a:pt x="0" y="26797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221952"/>
            <a:ext cx="4385862" cy="1005840"/>
            <a:chOff x="0" y="0"/>
            <a:chExt cx="58478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47842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47842">
                  <a:moveTo>
                    <a:pt x="0" y="0"/>
                  </a:moveTo>
                  <a:lnTo>
                    <a:pt x="5847842" y="0"/>
                  </a:lnTo>
                  <a:lnTo>
                    <a:pt x="584784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03" r="0" b="-3490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164802"/>
            <a:ext cx="4385862" cy="1062990"/>
            <a:chOff x="0" y="0"/>
            <a:chExt cx="58478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47815" cy="1417320"/>
            </a:xfrm>
            <a:custGeom>
              <a:avLst/>
              <a:gdLst/>
              <a:ahLst/>
              <a:cxnLst/>
              <a:rect r="r" b="b" t="t" l="l"/>
              <a:pathLst>
                <a:path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394" r="0" b="-303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58478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53077" y="2915136"/>
            <a:ext cx="16201301" cy="5181600"/>
            <a:chOff x="0" y="0"/>
            <a:chExt cx="21601735" cy="690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601685" cy="6908800"/>
            </a:xfrm>
            <a:custGeom>
              <a:avLst/>
              <a:gdLst/>
              <a:ahLst/>
              <a:cxnLst/>
              <a:rect r="r" b="b" t="t" l="l"/>
              <a:pathLst>
                <a:path h="6908800" w="21601685">
                  <a:moveTo>
                    <a:pt x="0" y="0"/>
                  </a:moveTo>
                  <a:lnTo>
                    <a:pt x="21601685" y="0"/>
                  </a:lnTo>
                  <a:lnTo>
                    <a:pt x="21601685" y="6908800"/>
                  </a:lnTo>
                  <a:lnTo>
                    <a:pt x="0" y="690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43552" y="8087211"/>
            <a:ext cx="16220380" cy="169793"/>
            <a:chOff x="0" y="0"/>
            <a:chExt cx="21627173" cy="2263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627212" cy="226441"/>
            </a:xfrm>
            <a:custGeom>
              <a:avLst/>
              <a:gdLst/>
              <a:ahLst/>
              <a:cxnLst/>
              <a:rect r="r" b="b" t="t" l="l"/>
              <a:pathLst>
                <a:path h="226441" w="21627212">
                  <a:moveTo>
                    <a:pt x="0" y="0"/>
                  </a:moveTo>
                  <a:lnTo>
                    <a:pt x="21627212" y="0"/>
                  </a:lnTo>
                  <a:lnTo>
                    <a:pt x="21627212" y="226441"/>
                  </a:lnTo>
                  <a:lnTo>
                    <a:pt x="0" y="226441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CU-01: Registrando producto con SKU único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1531620"/>
            <a:ext cx="3134878" cy="569424"/>
            <a:chOff x="0" y="0"/>
            <a:chExt cx="4179837" cy="7592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79824" cy="759206"/>
            </a:xfrm>
            <a:custGeom>
              <a:avLst/>
              <a:gdLst/>
              <a:ahLst/>
              <a:cxnLst/>
              <a:rect r="r" b="b" t="t" l="l"/>
              <a:pathLst>
                <a:path h="759206" w="4179824">
                  <a:moveTo>
                    <a:pt x="0" y="0"/>
                  </a:moveTo>
                  <a:lnTo>
                    <a:pt x="4179824" y="0"/>
                  </a:lnTo>
                  <a:lnTo>
                    <a:pt x="4179824" y="759206"/>
                  </a:lnTo>
                  <a:lnTo>
                    <a:pt x="0" y="759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99" r="0" b="-5720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481614"/>
            <a:ext cx="3134878" cy="619430"/>
            <a:chOff x="0" y="0"/>
            <a:chExt cx="4179837" cy="8259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9843" cy="825902"/>
            </a:xfrm>
            <a:custGeom>
              <a:avLst/>
              <a:gdLst/>
              <a:ahLst/>
              <a:cxnLst/>
              <a:rect r="r" b="b" t="t" l="l"/>
              <a:pathLst>
                <a:path h="825902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825902"/>
                  </a:lnTo>
                  <a:lnTo>
                    <a:pt x="0" y="8259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612" r="0" b="-4861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4179837" cy="892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18056" y="9246556"/>
            <a:ext cx="15559126" cy="174488"/>
            <a:chOff x="0" y="0"/>
            <a:chExt cx="20745501" cy="2326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45450" cy="232664"/>
            </a:xfrm>
            <a:custGeom>
              <a:avLst/>
              <a:gdLst/>
              <a:ahLst/>
              <a:cxnLst/>
              <a:rect r="r" b="b" t="t" l="l"/>
              <a:pathLst>
                <a:path h="232664" w="20745450">
                  <a:moveTo>
                    <a:pt x="0" y="0"/>
                  </a:moveTo>
                  <a:lnTo>
                    <a:pt x="20745450" y="0"/>
                  </a:lnTo>
                  <a:lnTo>
                    <a:pt x="20745450" y="232664"/>
                  </a:lnTo>
                  <a:lnTo>
                    <a:pt x="0" y="232664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527858" y="2147049"/>
            <a:ext cx="15539476" cy="7109308"/>
            <a:chOff x="0" y="0"/>
            <a:chExt cx="20719301" cy="94790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719287" cy="9479026"/>
            </a:xfrm>
            <a:custGeom>
              <a:avLst/>
              <a:gdLst/>
              <a:ahLst/>
              <a:cxnLst/>
              <a:rect r="r" b="b" t="t" l="l"/>
              <a:pathLst>
                <a:path h="9479026" w="20719287">
                  <a:moveTo>
                    <a:pt x="0" y="0"/>
                  </a:moveTo>
                  <a:lnTo>
                    <a:pt x="20719287" y="0"/>
                  </a:lnTo>
                  <a:lnTo>
                    <a:pt x="20719287" y="9479026"/>
                  </a:lnTo>
                  <a:lnTo>
                    <a:pt x="0" y="947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" r="0" b="-6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CU-01: Registrando producto con SKU único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1341120"/>
            <a:ext cx="15666377" cy="812168"/>
            <a:chOff x="0" y="0"/>
            <a:chExt cx="20888503" cy="1082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88452" cy="1082929"/>
            </a:xfrm>
            <a:custGeom>
              <a:avLst/>
              <a:gdLst/>
              <a:ahLst/>
              <a:cxnLst/>
              <a:rect r="r" b="b" t="t" l="l"/>
              <a:pathLst>
                <a:path h="1082929" w="20888452">
                  <a:moveTo>
                    <a:pt x="0" y="0"/>
                  </a:moveTo>
                  <a:lnTo>
                    <a:pt x="20888452" y="0"/>
                  </a:lnTo>
                  <a:lnTo>
                    <a:pt x="20888452" y="1082929"/>
                  </a:lnTo>
                  <a:lnTo>
                    <a:pt x="0" y="1082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584" r="0" b="-32558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291114"/>
            <a:ext cx="15666377" cy="862174"/>
            <a:chOff x="0" y="0"/>
            <a:chExt cx="20888503" cy="11495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88499" cy="1149568"/>
            </a:xfrm>
            <a:custGeom>
              <a:avLst/>
              <a:gdLst/>
              <a:ahLst/>
              <a:cxnLst/>
              <a:rect r="r" b="b" t="t" l="l"/>
              <a:pathLst>
                <a:path h="1149568" w="20888499">
                  <a:moveTo>
                    <a:pt x="0" y="0"/>
                  </a:moveTo>
                  <a:lnTo>
                    <a:pt x="20888499" y="0"/>
                  </a:lnTo>
                  <a:lnTo>
                    <a:pt x="20888499" y="1149568"/>
                  </a:lnTo>
                  <a:lnTo>
                    <a:pt x="0" y="11495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4057" r="0" b="-30405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0888503" cy="1216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El usuario deja el campo vacío. El sistema solicita el ingreso obligatorio.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4292" y="8338014"/>
            <a:ext cx="17549070" cy="276292"/>
            <a:chOff x="0" y="0"/>
            <a:chExt cx="23398759" cy="3683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398735" cy="368427"/>
            </a:xfrm>
            <a:custGeom>
              <a:avLst/>
              <a:gdLst/>
              <a:ahLst/>
              <a:cxnLst/>
              <a:rect r="r" b="b" t="t" l="l"/>
              <a:pathLst>
                <a:path h="368427" w="23398735">
                  <a:moveTo>
                    <a:pt x="0" y="0"/>
                  </a:moveTo>
                  <a:lnTo>
                    <a:pt x="23398735" y="0"/>
                  </a:lnTo>
                  <a:lnTo>
                    <a:pt x="23398735" y="368427"/>
                  </a:lnTo>
                  <a:lnTo>
                    <a:pt x="0" y="368427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17093" y="2492540"/>
            <a:ext cx="17523438" cy="5892251"/>
            <a:chOff x="0" y="0"/>
            <a:chExt cx="23364584" cy="78563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364571" cy="7856347"/>
            </a:xfrm>
            <a:custGeom>
              <a:avLst/>
              <a:gdLst/>
              <a:ahLst/>
              <a:cxnLst/>
              <a:rect r="r" b="b" t="t" l="l"/>
              <a:pathLst>
                <a:path h="7856347" w="23364571">
                  <a:moveTo>
                    <a:pt x="0" y="0"/>
                  </a:moveTo>
                  <a:lnTo>
                    <a:pt x="23364571" y="0"/>
                  </a:lnTo>
                  <a:lnTo>
                    <a:pt x="23364571" y="7856347"/>
                  </a:lnTo>
                  <a:lnTo>
                    <a:pt x="0" y="7856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3" r="0" b="-53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CU-01: Registrando producto con SKU único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1559852"/>
            <a:ext cx="15979130" cy="709698"/>
            <a:chOff x="0" y="0"/>
            <a:chExt cx="21305507" cy="9462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05520" cy="946277"/>
            </a:xfrm>
            <a:custGeom>
              <a:avLst/>
              <a:gdLst/>
              <a:ahLst/>
              <a:cxnLst/>
              <a:rect r="r" b="b" t="t" l="l"/>
              <a:pathLst>
                <a:path h="946277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946277"/>
                  </a:lnTo>
                  <a:lnTo>
                    <a:pt x="0" y="9462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02" r="0" b="-38840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509846"/>
            <a:ext cx="15979130" cy="759704"/>
            <a:chOff x="0" y="0"/>
            <a:chExt cx="21305507" cy="10129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05513" cy="1012939"/>
            </a:xfrm>
            <a:custGeom>
              <a:avLst/>
              <a:gdLst/>
              <a:ahLst/>
              <a:cxnLst/>
              <a:rect r="r" b="b" t="t" l="l"/>
              <a:pathLst>
                <a:path h="1012939" w="21305513">
                  <a:moveTo>
                    <a:pt x="0" y="0"/>
                  </a:moveTo>
                  <a:lnTo>
                    <a:pt x="21305513" y="0"/>
                  </a:lnTo>
                  <a:lnTo>
                    <a:pt x="21305513" y="1012939"/>
                  </a:lnTo>
                  <a:lnTo>
                    <a:pt x="0" y="10129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835" r="0" b="-35983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1305507" cy="1079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2 Formato fuera de rango “4-16 caracteres.”. El sistema informa las reglas del SKU.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26412" y="8932650"/>
            <a:ext cx="17273597" cy="261595"/>
            <a:chOff x="0" y="0"/>
            <a:chExt cx="23031463" cy="3487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031450" cy="348742"/>
            </a:xfrm>
            <a:custGeom>
              <a:avLst/>
              <a:gdLst/>
              <a:ahLst/>
              <a:cxnLst/>
              <a:rect r="r" b="b" t="t" l="l"/>
              <a:pathLst>
                <a:path h="348742" w="23031450">
                  <a:moveTo>
                    <a:pt x="0" y="0"/>
                  </a:moveTo>
                  <a:lnTo>
                    <a:pt x="23031450" y="0"/>
                  </a:lnTo>
                  <a:lnTo>
                    <a:pt x="23031450" y="348742"/>
                  </a:lnTo>
                  <a:lnTo>
                    <a:pt x="0" y="348742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2478986"/>
            <a:ext cx="17246213" cy="6467332"/>
            <a:chOff x="0" y="0"/>
            <a:chExt cx="22994950" cy="86231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995001" cy="8623046"/>
            </a:xfrm>
            <a:custGeom>
              <a:avLst/>
              <a:gdLst/>
              <a:ahLst/>
              <a:cxnLst/>
              <a:rect r="r" b="b" t="t" l="l"/>
              <a:pathLst>
                <a:path h="8623046" w="22995001">
                  <a:moveTo>
                    <a:pt x="0" y="0"/>
                  </a:moveTo>
                  <a:lnTo>
                    <a:pt x="22995001" y="0"/>
                  </a:lnTo>
                  <a:lnTo>
                    <a:pt x="22995001" y="8623046"/>
                  </a:lnTo>
                  <a:lnTo>
                    <a:pt x="0" y="8623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4" r="0" b="-74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CU-01: Registrando producto con SKU único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1531620"/>
            <a:ext cx="11676250" cy="756456"/>
            <a:chOff x="0" y="0"/>
            <a:chExt cx="15568333" cy="10086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68295" cy="1008634"/>
            </a:xfrm>
            <a:custGeom>
              <a:avLst/>
              <a:gdLst/>
              <a:ahLst/>
              <a:cxnLst/>
              <a:rect r="r" b="b" t="t" l="l"/>
              <a:pathLst>
                <a:path h="1008634" w="15568295">
                  <a:moveTo>
                    <a:pt x="0" y="0"/>
                  </a:moveTo>
                  <a:lnTo>
                    <a:pt x="15568295" y="0"/>
                  </a:lnTo>
                  <a:lnTo>
                    <a:pt x="15568295" y="1008634"/>
                  </a:lnTo>
                  <a:lnTo>
                    <a:pt x="0" y="10086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45" r="0" b="-25054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481614"/>
            <a:ext cx="11676250" cy="806463"/>
            <a:chOff x="0" y="0"/>
            <a:chExt cx="15568333" cy="1075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68329" cy="1075284"/>
            </a:xfrm>
            <a:custGeom>
              <a:avLst/>
              <a:gdLst/>
              <a:ahLst/>
              <a:cxnLst/>
              <a:rect r="r" b="b" t="t" l="l"/>
              <a:pathLst>
                <a:path h="1075284" w="15568329">
                  <a:moveTo>
                    <a:pt x="0" y="0"/>
                  </a:moveTo>
                  <a:lnTo>
                    <a:pt x="15568329" y="0"/>
                  </a:lnTo>
                  <a:lnTo>
                    <a:pt x="15568329" y="1075284"/>
                  </a:lnTo>
                  <a:lnTo>
                    <a:pt x="0" y="10752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2111" r="0" b="-2321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5568333" cy="1141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3 El SKU ya está registrado. El sistema solicita un código distinto.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303059" y="9248413"/>
            <a:ext cx="14360804" cy="205464"/>
            <a:chOff x="0" y="0"/>
            <a:chExt cx="19147739" cy="2739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147789" cy="273939"/>
            </a:xfrm>
            <a:custGeom>
              <a:avLst/>
              <a:gdLst/>
              <a:ahLst/>
              <a:cxnLst/>
              <a:rect r="r" b="b" t="t" l="l"/>
              <a:pathLst>
                <a:path h="273939" w="19147789">
                  <a:moveTo>
                    <a:pt x="0" y="0"/>
                  </a:moveTo>
                  <a:lnTo>
                    <a:pt x="19147789" y="0"/>
                  </a:lnTo>
                  <a:lnTo>
                    <a:pt x="19147789" y="273939"/>
                  </a:lnTo>
                  <a:lnTo>
                    <a:pt x="0" y="273939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2312956" y="2288076"/>
            <a:ext cx="14340992" cy="6991236"/>
            <a:chOff x="0" y="0"/>
            <a:chExt cx="19121323" cy="9321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21374" cy="9321673"/>
            </a:xfrm>
            <a:custGeom>
              <a:avLst/>
              <a:gdLst/>
              <a:ahLst/>
              <a:cxnLst/>
              <a:rect r="r" b="b" t="t" l="l"/>
              <a:pathLst>
                <a:path h="9321673" w="19121374">
                  <a:moveTo>
                    <a:pt x="0" y="0"/>
                  </a:moveTo>
                  <a:lnTo>
                    <a:pt x="19121374" y="0"/>
                  </a:lnTo>
                  <a:lnTo>
                    <a:pt x="19121374" y="9321673"/>
                  </a:lnTo>
                  <a:lnTo>
                    <a:pt x="0" y="932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3" t="0" r="-53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CU-02: Buscando producto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1531620"/>
            <a:ext cx="3134878" cy="1005840"/>
            <a:chOff x="0" y="0"/>
            <a:chExt cx="4179837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798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79824">
                  <a:moveTo>
                    <a:pt x="0" y="0"/>
                  </a:moveTo>
                  <a:lnTo>
                    <a:pt x="4179824" y="0"/>
                  </a:lnTo>
                  <a:lnTo>
                    <a:pt x="41798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86" r="0" b="-1068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474470"/>
            <a:ext cx="3134878" cy="1062990"/>
            <a:chOff x="0" y="0"/>
            <a:chExt cx="4179837" cy="1417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9843" cy="1417320"/>
            </a:xfrm>
            <a:custGeom>
              <a:avLst/>
              <a:gdLst/>
              <a:ahLst/>
              <a:cxnLst/>
              <a:rect r="r" b="b" t="t" l="l"/>
              <a:pathLst>
                <a:path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63" r="0" b="-74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84575" y="9160678"/>
            <a:ext cx="15149227" cy="169888"/>
            <a:chOff x="0" y="0"/>
            <a:chExt cx="20198969" cy="2265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198969" cy="226568"/>
            </a:xfrm>
            <a:custGeom>
              <a:avLst/>
              <a:gdLst/>
              <a:ahLst/>
              <a:cxnLst/>
              <a:rect r="r" b="b" t="t" l="l"/>
              <a:pathLst>
                <a:path h="226568" w="20198969">
                  <a:moveTo>
                    <a:pt x="0" y="0"/>
                  </a:moveTo>
                  <a:lnTo>
                    <a:pt x="20198969" y="0"/>
                  </a:lnTo>
                  <a:lnTo>
                    <a:pt x="20198969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794129" y="2625023"/>
            <a:ext cx="15130110" cy="6543770"/>
            <a:chOff x="0" y="0"/>
            <a:chExt cx="20173480" cy="87250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73442" cy="8725027"/>
            </a:xfrm>
            <a:custGeom>
              <a:avLst/>
              <a:gdLst/>
              <a:ahLst/>
              <a:cxnLst/>
              <a:rect r="r" b="b" t="t" l="l"/>
              <a:pathLst>
                <a:path h="8725027" w="20173442">
                  <a:moveTo>
                    <a:pt x="0" y="0"/>
                  </a:moveTo>
                  <a:lnTo>
                    <a:pt x="20173442" y="0"/>
                  </a:lnTo>
                  <a:lnTo>
                    <a:pt x="20173442" y="8725027"/>
                  </a:lnTo>
                  <a:lnTo>
                    <a:pt x="0" y="8725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0" r="0" b="-5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CU-02: Buscando producto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1531620"/>
            <a:ext cx="12284116" cy="662940"/>
            <a:chOff x="0" y="0"/>
            <a:chExt cx="16378822" cy="883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378810" cy="883920"/>
            </a:xfrm>
            <a:custGeom>
              <a:avLst/>
              <a:gdLst/>
              <a:ahLst/>
              <a:cxnLst/>
              <a:rect r="r" b="b" t="t" l="l"/>
              <a:pathLst>
                <a:path h="883920" w="16378810">
                  <a:moveTo>
                    <a:pt x="0" y="0"/>
                  </a:moveTo>
                  <a:lnTo>
                    <a:pt x="16378810" y="0"/>
                  </a:lnTo>
                  <a:lnTo>
                    <a:pt x="16378810" y="883920"/>
                  </a:lnTo>
                  <a:lnTo>
                    <a:pt x="0" y="883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801" r="0" b="-31080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481614"/>
            <a:ext cx="12284116" cy="712946"/>
            <a:chOff x="0" y="0"/>
            <a:chExt cx="16378822" cy="9505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378824" cy="950592"/>
            </a:xfrm>
            <a:custGeom>
              <a:avLst/>
              <a:gdLst/>
              <a:ahLst/>
              <a:cxnLst/>
              <a:rect r="r" b="b" t="t" l="l"/>
              <a:pathLst>
                <a:path h="950592" w="16378824">
                  <a:moveTo>
                    <a:pt x="0" y="0"/>
                  </a:moveTo>
                  <a:lnTo>
                    <a:pt x="16378824" y="0"/>
                  </a:lnTo>
                  <a:lnTo>
                    <a:pt x="16378824" y="950592"/>
                  </a:lnTo>
                  <a:lnTo>
                    <a:pt x="0" y="950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729" r="0" b="-2857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6378822" cy="1017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Campo de búsqueda vacío. El sistema solicita ingresar 3 caracteres.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25735" y="9216523"/>
            <a:ext cx="17252785" cy="257327"/>
            <a:chOff x="0" y="0"/>
            <a:chExt cx="23003713" cy="3431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003763" cy="343154"/>
            </a:xfrm>
            <a:custGeom>
              <a:avLst/>
              <a:gdLst/>
              <a:ahLst/>
              <a:cxnLst/>
              <a:rect r="r" b="b" t="t" l="l"/>
              <a:pathLst>
                <a:path h="343154" w="23003763">
                  <a:moveTo>
                    <a:pt x="0" y="0"/>
                  </a:moveTo>
                  <a:lnTo>
                    <a:pt x="23003763" y="0"/>
                  </a:lnTo>
                  <a:lnTo>
                    <a:pt x="23003763" y="343154"/>
                  </a:lnTo>
                  <a:lnTo>
                    <a:pt x="0" y="343154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3292526"/>
            <a:ext cx="17224058" cy="5963831"/>
            <a:chOff x="0" y="0"/>
            <a:chExt cx="22965410" cy="79517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965411" cy="7951724"/>
            </a:xfrm>
            <a:custGeom>
              <a:avLst/>
              <a:gdLst/>
              <a:ahLst/>
              <a:cxnLst/>
              <a:rect r="r" b="b" t="t" l="l"/>
              <a:pathLst>
                <a:path h="7951724" w="22965411">
                  <a:moveTo>
                    <a:pt x="0" y="0"/>
                  </a:moveTo>
                  <a:lnTo>
                    <a:pt x="22965411" y="0"/>
                  </a:lnTo>
                  <a:lnTo>
                    <a:pt x="22965411" y="7951724"/>
                  </a:lnTo>
                  <a:lnTo>
                    <a:pt x="0" y="795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8" r="0" b="-5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CU-02: Buscando producto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1531620"/>
            <a:ext cx="17458811" cy="1062295"/>
            <a:chOff x="0" y="0"/>
            <a:chExt cx="23278414" cy="14163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278464" cy="1416431"/>
            </a:xfrm>
            <a:custGeom>
              <a:avLst/>
              <a:gdLst/>
              <a:ahLst/>
              <a:cxnLst/>
              <a:rect r="r" b="b" t="t" l="l"/>
              <a:pathLst>
                <a:path h="1416431" w="23278464">
                  <a:moveTo>
                    <a:pt x="0" y="0"/>
                  </a:moveTo>
                  <a:lnTo>
                    <a:pt x="23278464" y="0"/>
                  </a:lnTo>
                  <a:lnTo>
                    <a:pt x="23278464" y="1416431"/>
                  </a:lnTo>
                  <a:lnTo>
                    <a:pt x="0" y="1416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006" r="0" b="-27000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481614"/>
            <a:ext cx="17458811" cy="1112301"/>
            <a:chOff x="0" y="0"/>
            <a:chExt cx="23278414" cy="14830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278418" cy="1483072"/>
            </a:xfrm>
            <a:custGeom>
              <a:avLst/>
              <a:gdLst/>
              <a:ahLst/>
              <a:cxnLst/>
              <a:rect r="r" b="b" t="t" l="l"/>
              <a:pathLst>
                <a:path h="1483072" w="23278418">
                  <a:moveTo>
                    <a:pt x="0" y="0"/>
                  </a:moveTo>
                  <a:lnTo>
                    <a:pt x="23278418" y="0"/>
                  </a:lnTo>
                  <a:lnTo>
                    <a:pt x="23278418" y="1483072"/>
                  </a:lnTo>
                  <a:lnTo>
                    <a:pt x="0" y="14830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838" r="0" b="-2558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3278414" cy="1549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2 Sin coincidencias para el criterio ingresado. El sistema informa "No se encontraron productos con los filtros aplicados."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62308" y="9110129"/>
            <a:ext cx="16795756" cy="165059"/>
            <a:chOff x="0" y="0"/>
            <a:chExt cx="22394342" cy="220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394290" cy="220091"/>
            </a:xfrm>
            <a:custGeom>
              <a:avLst/>
              <a:gdLst/>
              <a:ahLst/>
              <a:cxnLst/>
              <a:rect r="r" b="b" t="t" l="l"/>
              <a:pathLst>
                <a:path h="220091" w="22394290">
                  <a:moveTo>
                    <a:pt x="0" y="0"/>
                  </a:moveTo>
                  <a:lnTo>
                    <a:pt x="22394290" y="0"/>
                  </a:lnTo>
                  <a:lnTo>
                    <a:pt x="22394290" y="220091"/>
                  </a:lnTo>
                  <a:lnTo>
                    <a:pt x="0" y="220091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72414" y="2645674"/>
            <a:ext cx="16762638" cy="6474571"/>
            <a:chOff x="0" y="0"/>
            <a:chExt cx="22350184" cy="86327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350222" cy="8632698"/>
            </a:xfrm>
            <a:custGeom>
              <a:avLst/>
              <a:gdLst/>
              <a:ahLst/>
              <a:cxnLst/>
              <a:rect r="r" b="b" t="t" l="l"/>
              <a:pathLst>
                <a:path h="8632698" w="22350222">
                  <a:moveTo>
                    <a:pt x="0" y="0"/>
                  </a:moveTo>
                  <a:lnTo>
                    <a:pt x="22350222" y="0"/>
                  </a:lnTo>
                  <a:lnTo>
                    <a:pt x="22350222" y="8632698"/>
                  </a:lnTo>
                  <a:lnTo>
                    <a:pt x="0" y="8632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3" t="0" r="-43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CU-03: Consultando ficha de producto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1531620"/>
            <a:ext cx="3134878" cy="1005840"/>
            <a:chOff x="0" y="0"/>
            <a:chExt cx="4179837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798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79824">
                  <a:moveTo>
                    <a:pt x="0" y="0"/>
                  </a:moveTo>
                  <a:lnTo>
                    <a:pt x="4179824" y="0"/>
                  </a:lnTo>
                  <a:lnTo>
                    <a:pt x="41798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86" r="0" b="-1068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474470"/>
            <a:ext cx="3134878" cy="1062990"/>
            <a:chOff x="0" y="0"/>
            <a:chExt cx="4179837" cy="1417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9843" cy="1417320"/>
            </a:xfrm>
            <a:custGeom>
              <a:avLst/>
              <a:gdLst/>
              <a:ahLst/>
              <a:cxnLst/>
              <a:rect r="r" b="b" t="t" l="l"/>
              <a:pathLst>
                <a:path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63" r="0" b="-74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7495" y="8978817"/>
            <a:ext cx="16013049" cy="157363"/>
            <a:chOff x="0" y="0"/>
            <a:chExt cx="21350732" cy="2098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50732" cy="209804"/>
            </a:xfrm>
            <a:custGeom>
              <a:avLst/>
              <a:gdLst/>
              <a:ahLst/>
              <a:cxnLst/>
              <a:rect r="r" b="b" t="t" l="l"/>
              <a:pathLst>
                <a:path h="209804" w="21350732">
                  <a:moveTo>
                    <a:pt x="0" y="0"/>
                  </a:moveTo>
                  <a:lnTo>
                    <a:pt x="21350732" y="0"/>
                  </a:lnTo>
                  <a:lnTo>
                    <a:pt x="21350732" y="209804"/>
                  </a:lnTo>
                  <a:lnTo>
                    <a:pt x="0" y="209804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47124" y="2819371"/>
            <a:ext cx="15993742" cy="6169085"/>
            <a:chOff x="0" y="0"/>
            <a:chExt cx="21324989" cy="82254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24951" cy="8225409"/>
            </a:xfrm>
            <a:custGeom>
              <a:avLst/>
              <a:gdLst/>
              <a:ahLst/>
              <a:cxnLst/>
              <a:rect r="r" b="b" t="t" l="l"/>
              <a:pathLst>
                <a:path h="8225409" w="21324951">
                  <a:moveTo>
                    <a:pt x="0" y="0"/>
                  </a:moveTo>
                  <a:lnTo>
                    <a:pt x="21324951" y="0"/>
                  </a:lnTo>
                  <a:lnTo>
                    <a:pt x="21324951" y="8225409"/>
                  </a:lnTo>
                  <a:lnTo>
                    <a:pt x="0" y="8225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2" r="0" b="-26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CU-03: Consultando ficha de producto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8805" y="8721233"/>
            <a:ext cx="16690419" cy="164020"/>
            <a:chOff x="0" y="0"/>
            <a:chExt cx="22253892" cy="218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53829" cy="218694"/>
            </a:xfrm>
            <a:custGeom>
              <a:avLst/>
              <a:gdLst/>
              <a:ahLst/>
              <a:cxnLst/>
              <a:rect r="r" b="b" t="t" l="l"/>
              <a:pathLst>
                <a:path h="218694" w="22253829">
                  <a:moveTo>
                    <a:pt x="0" y="0"/>
                  </a:moveTo>
                  <a:lnTo>
                    <a:pt x="22253829" y="0"/>
                  </a:lnTo>
                  <a:lnTo>
                    <a:pt x="22253829" y="218694"/>
                  </a:lnTo>
                  <a:lnTo>
                    <a:pt x="0" y="218694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531620"/>
            <a:ext cx="11130724" cy="694115"/>
            <a:chOff x="0" y="0"/>
            <a:chExt cx="14840966" cy="9254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40965" cy="925449"/>
            </a:xfrm>
            <a:custGeom>
              <a:avLst/>
              <a:gdLst/>
              <a:ahLst/>
              <a:cxnLst/>
              <a:rect r="r" b="b" t="t" l="l"/>
              <a:pathLst>
                <a:path h="925449" w="14840965">
                  <a:moveTo>
                    <a:pt x="0" y="0"/>
                  </a:moveTo>
                  <a:lnTo>
                    <a:pt x="14840965" y="0"/>
                  </a:lnTo>
                  <a:lnTo>
                    <a:pt x="14840965" y="925449"/>
                  </a:lnTo>
                  <a:lnTo>
                    <a:pt x="0" y="9254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253" r="0" b="-26225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81614"/>
            <a:ext cx="11130724" cy="744122"/>
            <a:chOff x="0" y="0"/>
            <a:chExt cx="14840966" cy="9921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840962" cy="992156"/>
            </a:xfrm>
            <a:custGeom>
              <a:avLst/>
              <a:gdLst/>
              <a:ahLst/>
              <a:cxnLst/>
              <a:rect r="r" b="b" t="t" l="l"/>
              <a:pathLst>
                <a:path h="992156" w="14840962">
                  <a:moveTo>
                    <a:pt x="0" y="0"/>
                  </a:moveTo>
                  <a:lnTo>
                    <a:pt x="14840962" y="0"/>
                  </a:lnTo>
                  <a:lnTo>
                    <a:pt x="14840962" y="992156"/>
                  </a:lnTo>
                  <a:lnTo>
                    <a:pt x="0" y="992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1462" r="0" b="-24146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4840966" cy="1058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Error de carga de datos. El sistema solicita refrescar la vista.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8853" y="2625785"/>
            <a:ext cx="16670293" cy="6105496"/>
            <a:chOff x="0" y="0"/>
            <a:chExt cx="22227057" cy="81406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227032" cy="8140700"/>
            </a:xfrm>
            <a:custGeom>
              <a:avLst/>
              <a:gdLst/>
              <a:ahLst/>
              <a:cxnLst/>
              <a:rect r="r" b="b" t="t" l="l"/>
              <a:pathLst>
                <a:path h="8140700" w="22227032">
                  <a:moveTo>
                    <a:pt x="0" y="0"/>
                  </a:moveTo>
                  <a:lnTo>
                    <a:pt x="22227032" y="0"/>
                  </a:lnTo>
                  <a:lnTo>
                    <a:pt x="22227032" y="8140700"/>
                  </a:lnTo>
                  <a:lnTo>
                    <a:pt x="0" y="814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4" t="0" r="-74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CU-04: Eliminando producto del sistema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9061" y="9248661"/>
            <a:ext cx="16131473" cy="186595"/>
            <a:chOff x="0" y="0"/>
            <a:chExt cx="21508631" cy="2487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8593" cy="248793"/>
            </a:xfrm>
            <a:custGeom>
              <a:avLst/>
              <a:gdLst/>
              <a:ahLst/>
              <a:cxnLst/>
              <a:rect r="r" b="b" t="t" l="l"/>
              <a:pathLst>
                <a:path h="248793" w="21508593">
                  <a:moveTo>
                    <a:pt x="0" y="0"/>
                  </a:moveTo>
                  <a:lnTo>
                    <a:pt x="21508593" y="0"/>
                  </a:lnTo>
                  <a:lnTo>
                    <a:pt x="21508593" y="248793"/>
                  </a:lnTo>
                  <a:lnTo>
                    <a:pt x="0" y="24879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531620"/>
            <a:ext cx="3134878" cy="1005840"/>
            <a:chOff x="0" y="0"/>
            <a:chExt cx="4179837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98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79824">
                  <a:moveTo>
                    <a:pt x="0" y="0"/>
                  </a:moveTo>
                  <a:lnTo>
                    <a:pt x="4179824" y="0"/>
                  </a:lnTo>
                  <a:lnTo>
                    <a:pt x="41798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86" r="0" b="-1068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74470"/>
            <a:ext cx="3134878" cy="1062990"/>
            <a:chOff x="0" y="0"/>
            <a:chExt cx="4179837" cy="1417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9843" cy="1417320"/>
            </a:xfrm>
            <a:custGeom>
              <a:avLst/>
              <a:gdLst/>
              <a:ahLst/>
              <a:cxnLst/>
              <a:rect r="r" b="b" t="t" l="l"/>
              <a:pathLst>
                <a:path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63" r="0" b="-746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2914136"/>
            <a:ext cx="16112176" cy="6344164"/>
            <a:chOff x="0" y="0"/>
            <a:chExt cx="21482901" cy="84588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82938" cy="8458835"/>
            </a:xfrm>
            <a:custGeom>
              <a:avLst/>
              <a:gdLst/>
              <a:ahLst/>
              <a:cxnLst/>
              <a:rect r="r" b="b" t="t" l="l"/>
              <a:pathLst>
                <a:path h="8458835" w="21482938">
                  <a:moveTo>
                    <a:pt x="0" y="0"/>
                  </a:moveTo>
                  <a:lnTo>
                    <a:pt x="21482938" y="0"/>
                  </a:lnTo>
                  <a:lnTo>
                    <a:pt x="21482938" y="8458835"/>
                  </a:lnTo>
                  <a:lnTo>
                    <a:pt x="0" y="845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CU-04: Eliminando producto del sistema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9690" y="8321288"/>
            <a:ext cx="17368104" cy="162325"/>
            <a:chOff x="0" y="0"/>
            <a:chExt cx="23157472" cy="2164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157435" cy="216408"/>
            </a:xfrm>
            <a:custGeom>
              <a:avLst/>
              <a:gdLst/>
              <a:ahLst/>
              <a:cxnLst/>
              <a:rect r="r" b="b" t="t" l="l"/>
              <a:pathLst>
                <a:path h="216408" w="23157435">
                  <a:moveTo>
                    <a:pt x="0" y="0"/>
                  </a:moveTo>
                  <a:lnTo>
                    <a:pt x="23157435" y="0"/>
                  </a:lnTo>
                  <a:lnTo>
                    <a:pt x="23157435" y="216408"/>
                  </a:lnTo>
                  <a:lnTo>
                    <a:pt x="0" y="216408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531620"/>
            <a:ext cx="17443228" cy="1062295"/>
            <a:chOff x="0" y="0"/>
            <a:chExt cx="23257637" cy="14163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257638" cy="1416431"/>
            </a:xfrm>
            <a:custGeom>
              <a:avLst/>
              <a:gdLst/>
              <a:ahLst/>
              <a:cxnLst/>
              <a:rect r="r" b="b" t="t" l="l"/>
              <a:pathLst>
                <a:path h="1416431" w="23257638">
                  <a:moveTo>
                    <a:pt x="0" y="0"/>
                  </a:moveTo>
                  <a:lnTo>
                    <a:pt x="23257638" y="0"/>
                  </a:lnTo>
                  <a:lnTo>
                    <a:pt x="23257638" y="1416431"/>
                  </a:lnTo>
                  <a:lnTo>
                    <a:pt x="0" y="1416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721" r="0" b="-26971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81614"/>
            <a:ext cx="17443228" cy="1112301"/>
            <a:chOff x="0" y="0"/>
            <a:chExt cx="23257637" cy="14830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257636" cy="1483072"/>
            </a:xfrm>
            <a:custGeom>
              <a:avLst/>
              <a:gdLst/>
              <a:ahLst/>
              <a:cxnLst/>
              <a:rect r="r" b="b" t="t" l="l"/>
              <a:pathLst>
                <a:path h="1483072" w="23257636">
                  <a:moveTo>
                    <a:pt x="0" y="0"/>
                  </a:moveTo>
                  <a:lnTo>
                    <a:pt x="23257636" y="0"/>
                  </a:lnTo>
                  <a:lnTo>
                    <a:pt x="23257636" y="1483072"/>
                  </a:lnTo>
                  <a:lnTo>
                    <a:pt x="0" y="14830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5565" r="0" b="-2555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3257637" cy="1549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Producto con movimientos asociados. El sistema impide el borrado por integridad referencial e indica que sólo puede "Desactivarse".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9634" y="3386995"/>
            <a:ext cx="17348197" cy="4944237"/>
            <a:chOff x="0" y="0"/>
            <a:chExt cx="23130929" cy="65923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130890" cy="6592316"/>
            </a:xfrm>
            <a:custGeom>
              <a:avLst/>
              <a:gdLst/>
              <a:ahLst/>
              <a:cxnLst/>
              <a:rect r="r" b="b" t="t" l="l"/>
              <a:pathLst>
                <a:path h="6592316" w="23130890">
                  <a:moveTo>
                    <a:pt x="0" y="0"/>
                  </a:moveTo>
                  <a:lnTo>
                    <a:pt x="23130890" y="0"/>
                  </a:lnTo>
                  <a:lnTo>
                    <a:pt x="23130890" y="6592316"/>
                  </a:lnTo>
                  <a:lnTo>
                    <a:pt x="0" y="6592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7" t="0" r="-108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CU-04: Eliminando producto del sistema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2687" y="8982875"/>
            <a:ext cx="15463371" cy="184252"/>
            <a:chOff x="0" y="0"/>
            <a:chExt cx="20617828" cy="2456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17814" cy="245618"/>
            </a:xfrm>
            <a:custGeom>
              <a:avLst/>
              <a:gdLst/>
              <a:ahLst/>
              <a:cxnLst/>
              <a:rect r="r" b="b" t="t" l="l"/>
              <a:pathLst>
                <a:path h="245618" w="20617814">
                  <a:moveTo>
                    <a:pt x="0" y="0"/>
                  </a:moveTo>
                  <a:lnTo>
                    <a:pt x="20617814" y="0"/>
                  </a:lnTo>
                  <a:lnTo>
                    <a:pt x="20617814" y="245618"/>
                  </a:lnTo>
                  <a:lnTo>
                    <a:pt x="0" y="245618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531620"/>
            <a:ext cx="12004596" cy="787632"/>
            <a:chOff x="0" y="0"/>
            <a:chExt cx="16006128" cy="1050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06063" cy="1050163"/>
            </a:xfrm>
            <a:custGeom>
              <a:avLst/>
              <a:gdLst/>
              <a:ahLst/>
              <a:cxnLst/>
              <a:rect r="r" b="b" t="t" l="l"/>
              <a:pathLst>
                <a:path h="1050163" w="16006063">
                  <a:moveTo>
                    <a:pt x="0" y="0"/>
                  </a:moveTo>
                  <a:lnTo>
                    <a:pt x="16006063" y="0"/>
                  </a:lnTo>
                  <a:lnTo>
                    <a:pt x="16006063" y="1050163"/>
                  </a:lnTo>
                  <a:lnTo>
                    <a:pt x="0" y="1050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775" r="0" b="-24677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81614"/>
            <a:ext cx="12004596" cy="837638"/>
            <a:chOff x="0" y="0"/>
            <a:chExt cx="16006128" cy="11168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006127" cy="1116848"/>
            </a:xfrm>
            <a:custGeom>
              <a:avLst/>
              <a:gdLst/>
              <a:ahLst/>
              <a:cxnLst/>
              <a:rect r="r" b="b" t="t" l="l"/>
              <a:pathLst>
                <a:path h="1116848" w="16006127">
                  <a:moveTo>
                    <a:pt x="0" y="0"/>
                  </a:moveTo>
                  <a:lnTo>
                    <a:pt x="16006127" y="0"/>
                  </a:lnTo>
                  <a:lnTo>
                    <a:pt x="16006127" y="1116848"/>
                  </a:lnTo>
                  <a:lnTo>
                    <a:pt x="0" y="11168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249" r="0" b="-2292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6006128" cy="1183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2 Usuario cancela la confirmación. El sistema aborta la eliminación.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2108" y="2463146"/>
            <a:ext cx="15444511" cy="6525301"/>
            <a:chOff x="0" y="0"/>
            <a:chExt cx="20592682" cy="87004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92669" cy="8700389"/>
            </a:xfrm>
            <a:custGeom>
              <a:avLst/>
              <a:gdLst/>
              <a:ahLst/>
              <a:cxnLst/>
              <a:rect r="r" b="b" t="t" l="l"/>
              <a:pathLst>
                <a:path h="8700389" w="20592669">
                  <a:moveTo>
                    <a:pt x="0" y="0"/>
                  </a:moveTo>
                  <a:lnTo>
                    <a:pt x="20592669" y="0"/>
                  </a:lnTo>
                  <a:lnTo>
                    <a:pt x="20592669" y="8700389"/>
                  </a:lnTo>
                  <a:lnTo>
                    <a:pt x="0" y="8700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5" t="0" r="-55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CU-25: Registrando salidas de inventario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13414" y="8981494"/>
            <a:ext cx="14239761" cy="150819"/>
            <a:chOff x="0" y="0"/>
            <a:chExt cx="18986348" cy="201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986373" cy="201041"/>
            </a:xfrm>
            <a:custGeom>
              <a:avLst/>
              <a:gdLst/>
              <a:ahLst/>
              <a:cxnLst/>
              <a:rect r="r" b="b" t="t" l="l"/>
              <a:pathLst>
                <a:path h="201041" w="18986373">
                  <a:moveTo>
                    <a:pt x="0" y="0"/>
                  </a:moveTo>
                  <a:lnTo>
                    <a:pt x="18986373" y="0"/>
                  </a:lnTo>
                  <a:lnTo>
                    <a:pt x="18986373" y="201041"/>
                  </a:lnTo>
                  <a:lnTo>
                    <a:pt x="0" y="201041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531620"/>
            <a:ext cx="3134878" cy="1005840"/>
            <a:chOff x="0" y="0"/>
            <a:chExt cx="4179837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9824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79824">
                  <a:moveTo>
                    <a:pt x="0" y="0"/>
                  </a:moveTo>
                  <a:lnTo>
                    <a:pt x="4179824" y="0"/>
                  </a:lnTo>
                  <a:lnTo>
                    <a:pt x="417982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86" r="0" b="-1068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74470"/>
            <a:ext cx="3134878" cy="1062990"/>
            <a:chOff x="0" y="0"/>
            <a:chExt cx="4179837" cy="1417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9843" cy="1417320"/>
            </a:xfrm>
            <a:custGeom>
              <a:avLst/>
              <a:gdLst/>
              <a:ahLst/>
              <a:cxnLst/>
              <a:rect r="r" b="b" t="t" l="l"/>
              <a:pathLst>
                <a:path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63" r="0" b="-746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general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22653" y="2579027"/>
            <a:ext cx="14242694" cy="6373606"/>
            <a:chOff x="0" y="0"/>
            <a:chExt cx="18990259" cy="84981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990311" cy="8498205"/>
            </a:xfrm>
            <a:custGeom>
              <a:avLst/>
              <a:gdLst/>
              <a:ahLst/>
              <a:cxnLst/>
              <a:rect r="r" b="b" t="t" l="l"/>
              <a:pathLst>
                <a:path h="8498205" w="18990311">
                  <a:moveTo>
                    <a:pt x="0" y="0"/>
                  </a:moveTo>
                  <a:lnTo>
                    <a:pt x="18990311" y="0"/>
                  </a:lnTo>
                  <a:lnTo>
                    <a:pt x="18990311" y="8498205"/>
                  </a:lnTo>
                  <a:lnTo>
                    <a:pt x="0" y="8498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" t="0" r="-45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CU-25: Registrando salidas de inventario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2146" y="7989465"/>
            <a:ext cx="17243212" cy="187757"/>
            <a:chOff x="0" y="0"/>
            <a:chExt cx="22990950" cy="2503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90938" cy="250317"/>
            </a:xfrm>
            <a:custGeom>
              <a:avLst/>
              <a:gdLst/>
              <a:ahLst/>
              <a:cxnLst/>
              <a:rect r="r" b="b" t="t" l="l"/>
              <a:pathLst>
                <a:path h="250317" w="22990938">
                  <a:moveTo>
                    <a:pt x="0" y="0"/>
                  </a:moveTo>
                  <a:lnTo>
                    <a:pt x="22990938" y="0"/>
                  </a:lnTo>
                  <a:lnTo>
                    <a:pt x="22990938" y="250317"/>
                  </a:lnTo>
                  <a:lnTo>
                    <a:pt x="0" y="250317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531620"/>
            <a:ext cx="16427263" cy="678523"/>
            <a:chOff x="0" y="0"/>
            <a:chExt cx="21903017" cy="9046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03055" cy="904748"/>
            </a:xfrm>
            <a:custGeom>
              <a:avLst/>
              <a:gdLst/>
              <a:ahLst/>
              <a:cxnLst/>
              <a:rect r="r" b="b" t="t" l="l"/>
              <a:pathLst>
                <a:path h="904748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904748"/>
                  </a:lnTo>
                  <a:lnTo>
                    <a:pt x="0" y="904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386" r="0" b="-42138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81614"/>
            <a:ext cx="16427263" cy="728529"/>
            <a:chOff x="0" y="0"/>
            <a:chExt cx="21903017" cy="9713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03012" cy="971375"/>
            </a:xfrm>
            <a:custGeom>
              <a:avLst/>
              <a:gdLst/>
              <a:ahLst/>
              <a:cxnLst/>
              <a:rect r="r" b="b" t="t" l="l"/>
              <a:pathLst>
                <a:path h="971375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971375"/>
                  </a:lnTo>
                  <a:lnTo>
                    <a:pt x="0" y="9713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9357" r="0" b="-3893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1903017" cy="1038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1 Falta de motivo. El sistema informa que es un campo obligatorio.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3147" y="3177569"/>
            <a:ext cx="17221171" cy="4843453"/>
            <a:chOff x="0" y="0"/>
            <a:chExt cx="22961562" cy="645793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961600" cy="6457950"/>
            </a:xfrm>
            <a:custGeom>
              <a:avLst/>
              <a:gdLst/>
              <a:ahLst/>
              <a:cxnLst/>
              <a:rect r="r" b="b" t="t" l="l"/>
              <a:pathLst>
                <a:path h="6457950" w="22961600">
                  <a:moveTo>
                    <a:pt x="0" y="0"/>
                  </a:moveTo>
                  <a:lnTo>
                    <a:pt x="22961600" y="0"/>
                  </a:lnTo>
                  <a:lnTo>
                    <a:pt x="22961600" y="6457950"/>
                  </a:lnTo>
                  <a:lnTo>
                    <a:pt x="0" y="6457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9" r="0" b="-79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525780"/>
            <a:ext cx="16427263" cy="1005840"/>
            <a:chOff x="0" y="0"/>
            <a:chExt cx="21903017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03055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03055">
                  <a:moveTo>
                    <a:pt x="0" y="0"/>
                  </a:moveTo>
                  <a:lnTo>
                    <a:pt x="21903055" y="0"/>
                  </a:lnTo>
                  <a:lnTo>
                    <a:pt x="21903055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005" r="0" b="-2680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468630"/>
            <a:ext cx="16427263" cy="1062990"/>
            <a:chOff x="0" y="0"/>
            <a:chExt cx="21903017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03012" cy="1417320"/>
            </a:xfrm>
            <a:custGeom>
              <a:avLst/>
              <a:gdLst/>
              <a:ahLst/>
              <a:cxnLst/>
              <a:rect r="r" b="b" t="t" l="l"/>
              <a:pathLst>
                <a:path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118" r="0" b="-2511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Diagrama de secuencia CU-25: Registrando salidas de inventario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3721" y="8760666"/>
            <a:ext cx="17180062" cy="204702"/>
            <a:chOff x="0" y="0"/>
            <a:chExt cx="22906749" cy="2729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06737" cy="272923"/>
            </a:xfrm>
            <a:custGeom>
              <a:avLst/>
              <a:gdLst/>
              <a:ahLst/>
              <a:cxnLst/>
              <a:rect r="r" b="b" t="t" l="l"/>
              <a:pathLst>
                <a:path h="272923" w="22906737">
                  <a:moveTo>
                    <a:pt x="0" y="0"/>
                  </a:moveTo>
                  <a:lnTo>
                    <a:pt x="22906737" y="0"/>
                  </a:lnTo>
                  <a:lnTo>
                    <a:pt x="22906737" y="272923"/>
                  </a:lnTo>
                  <a:lnTo>
                    <a:pt x="0" y="27292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0080" y="1531620"/>
            <a:ext cx="17007840" cy="834390"/>
            <a:chOff x="0" y="0"/>
            <a:chExt cx="22677120" cy="1112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677120" cy="1112520"/>
            </a:xfrm>
            <a:custGeom>
              <a:avLst/>
              <a:gdLst/>
              <a:ahLst/>
              <a:cxnLst/>
              <a:rect r="r" b="b" t="t" l="l"/>
              <a:pathLst>
                <a:path h="11125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112520"/>
                  </a:lnTo>
                  <a:lnTo>
                    <a:pt x="0" y="1112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898" r="0" b="-34689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0080" y="1481614"/>
            <a:ext cx="17007840" cy="884396"/>
            <a:chOff x="0" y="0"/>
            <a:chExt cx="22677120" cy="11791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179194"/>
            </a:xfrm>
            <a:custGeom>
              <a:avLst/>
              <a:gdLst/>
              <a:ahLst/>
              <a:cxnLst/>
              <a:rect r="r" b="b" t="t" l="l"/>
              <a:pathLst>
                <a:path h="1179194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179194"/>
                  </a:lnTo>
                  <a:lnTo>
                    <a:pt x="0" y="117919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717" r="0" b="-32471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267712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Exepción 2 Stock insuficiente. El sistema bloquea el retiro e indica la cantidad máxima disponible.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4180" y="3364449"/>
            <a:ext cx="17159097" cy="5421192"/>
            <a:chOff x="0" y="0"/>
            <a:chExt cx="22878796" cy="7228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78796" cy="7228205"/>
            </a:xfrm>
            <a:custGeom>
              <a:avLst/>
              <a:gdLst/>
              <a:ahLst/>
              <a:cxnLst/>
              <a:rect r="r" b="b" t="t" l="l"/>
              <a:pathLst>
                <a:path h="7228205" w="22878796">
                  <a:moveTo>
                    <a:pt x="0" y="0"/>
                  </a:moveTo>
                  <a:lnTo>
                    <a:pt x="22878796" y="0"/>
                  </a:lnTo>
                  <a:lnTo>
                    <a:pt x="22878796" y="7228205"/>
                  </a:lnTo>
                  <a:lnTo>
                    <a:pt x="0" y="7228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363" t="0" r="-5363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263938" cy="10331482"/>
            <a:chOff x="0" y="0"/>
            <a:chExt cx="351917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917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351917">
                  <a:moveTo>
                    <a:pt x="0" y="0"/>
                  </a:moveTo>
                  <a:lnTo>
                    <a:pt x="351917" y="0"/>
                  </a:lnTo>
                  <a:lnTo>
                    <a:pt x="351917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97234" y="-22222"/>
            <a:ext cx="18113026" cy="154210"/>
            <a:chOff x="0" y="0"/>
            <a:chExt cx="24150701" cy="205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50701" cy="205613"/>
            </a:xfrm>
            <a:custGeom>
              <a:avLst/>
              <a:gdLst/>
              <a:ahLst/>
              <a:cxnLst/>
              <a:rect r="r" b="b" t="t" l="l"/>
              <a:pathLst>
                <a:path h="205613" w="24150701">
                  <a:moveTo>
                    <a:pt x="0" y="0"/>
                  </a:moveTo>
                  <a:lnTo>
                    <a:pt x="24150701" y="0"/>
                  </a:lnTo>
                  <a:lnTo>
                    <a:pt x="24150701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0080" y="219456"/>
            <a:ext cx="17007840" cy="1005840"/>
            <a:chOff x="0" y="0"/>
            <a:chExt cx="2267712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245" r="0" b="-2792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162306"/>
            <a:ext cx="17007840" cy="1062990"/>
            <a:chOff x="0" y="0"/>
            <a:chExt cx="22677120" cy="141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1417320"/>
            </a:xfrm>
            <a:custGeom>
              <a:avLst/>
              <a:gdLst/>
              <a:ahLst/>
              <a:cxnLst/>
              <a:rect r="r" b="b" t="t" l="l"/>
              <a:pathLst>
                <a:path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Propuesta de Solución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9784080"/>
            <a:ext cx="17007840" cy="402336"/>
            <a:chOff x="0" y="0"/>
            <a:chExt cx="22677120" cy="536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67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113" r="0" b="-77311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9755505"/>
            <a:ext cx="17007840" cy="430911"/>
            <a:chOff x="0" y="0"/>
            <a:chExt cx="22677120" cy="574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67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9064" r="0" b="-71906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Puertas Blindadas · Ingeniería de Software I · 2026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7858" y="1477394"/>
            <a:ext cx="17052322" cy="2513362"/>
            <a:chOff x="0" y="0"/>
            <a:chExt cx="22736429" cy="33511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36429" cy="3351149"/>
            </a:xfrm>
            <a:custGeom>
              <a:avLst/>
              <a:gdLst/>
              <a:ahLst/>
              <a:cxnLst/>
              <a:rect r="r" b="b" t="t" l="l"/>
              <a:pathLst>
                <a:path h="3351149" w="22736429">
                  <a:moveTo>
                    <a:pt x="0" y="0"/>
                  </a:moveTo>
                  <a:lnTo>
                    <a:pt x="22736429" y="0"/>
                  </a:lnTo>
                  <a:lnTo>
                    <a:pt x="22736429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36363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17858" y="1477394"/>
            <a:ext cx="154210" cy="2513362"/>
            <a:chOff x="0" y="0"/>
            <a:chExt cx="205613" cy="33511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613" cy="3351149"/>
            </a:xfrm>
            <a:custGeom>
              <a:avLst/>
              <a:gdLst/>
              <a:ahLst/>
              <a:cxnLst/>
              <a:rect r="r" b="b" t="t" l="l"/>
              <a:pathLst>
                <a:path h="3351149" w="205613">
                  <a:moveTo>
                    <a:pt x="0" y="0"/>
                  </a:moveTo>
                  <a:lnTo>
                    <a:pt x="205613" y="0"/>
                  </a:lnTo>
                  <a:lnTo>
                    <a:pt x="205613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1645920"/>
            <a:ext cx="1188720" cy="914400"/>
            <a:chOff x="0" y="0"/>
            <a:chExt cx="158496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763" t="0" r="-48763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1588770"/>
            <a:ext cx="1188720" cy="971550"/>
            <a:chOff x="0" y="0"/>
            <a:chExt cx="1584960" cy="129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496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863" t="0" r="-5486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5849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94560" y="1682496"/>
            <a:ext cx="15179040" cy="640080"/>
            <a:chOff x="0" y="0"/>
            <a:chExt cx="2023872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23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752" r="0" b="-411751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194560" y="1639633"/>
            <a:ext cx="15179040" cy="682943"/>
            <a:chOff x="0" y="0"/>
            <a:chExt cx="20238720" cy="9105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238720" cy="910590"/>
            </a:xfrm>
            <a:custGeom>
              <a:avLst/>
              <a:gdLst/>
              <a:ahLst/>
              <a:cxnLst/>
              <a:rect r="r" b="b" t="t" l="l"/>
              <a:pathLst>
                <a:path h="91059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073" r="0" b="-38307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0238720" cy="967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del Incremento 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94560" y="2359152"/>
            <a:ext cx="15179040" cy="1554480"/>
            <a:chOff x="0" y="0"/>
            <a:chExt cx="20238720" cy="2072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238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133" r="0" b="-14013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94560" y="2323433"/>
            <a:ext cx="15179040" cy="1590199"/>
            <a:chOff x="0" y="0"/>
            <a:chExt cx="20238720" cy="21202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238720" cy="2120265"/>
            </a:xfrm>
            <a:custGeom>
              <a:avLst/>
              <a:gdLst/>
              <a:ahLst/>
              <a:cxnLst/>
              <a:rect r="r" b="b" t="t" l="l"/>
              <a:pathLst>
                <a:path h="2120265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2120265"/>
                  </a:lnTo>
                  <a:lnTo>
                    <a:pt x="0" y="21202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991" r="0" b="-13599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238720" cy="2167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Desarrollo de 28 RF sobre un total de 83, cubriendo el 33,7% del sistema. Esto supera el mínimo del 30% exigido para la primera iteración.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17858" y="4220594"/>
            <a:ext cx="17052322" cy="2513362"/>
            <a:chOff x="0" y="0"/>
            <a:chExt cx="22736429" cy="33511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736429" cy="3351149"/>
            </a:xfrm>
            <a:custGeom>
              <a:avLst/>
              <a:gdLst/>
              <a:ahLst/>
              <a:cxnLst/>
              <a:rect r="r" b="b" t="t" l="l"/>
              <a:pathLst>
                <a:path h="3351149" w="22736429">
                  <a:moveTo>
                    <a:pt x="0" y="0"/>
                  </a:moveTo>
                  <a:lnTo>
                    <a:pt x="22736429" y="0"/>
                  </a:lnTo>
                  <a:lnTo>
                    <a:pt x="22736429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36363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17858" y="4220594"/>
            <a:ext cx="154210" cy="2513362"/>
            <a:chOff x="0" y="0"/>
            <a:chExt cx="205613" cy="335114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5613" cy="3351149"/>
            </a:xfrm>
            <a:custGeom>
              <a:avLst/>
              <a:gdLst/>
              <a:ahLst/>
              <a:cxnLst/>
              <a:rect r="r" b="b" t="t" l="l"/>
              <a:pathLst>
                <a:path h="3351149" w="205613">
                  <a:moveTo>
                    <a:pt x="0" y="0"/>
                  </a:moveTo>
                  <a:lnTo>
                    <a:pt x="205613" y="0"/>
                  </a:lnTo>
                  <a:lnTo>
                    <a:pt x="205613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" y="4389120"/>
            <a:ext cx="1188720" cy="914400"/>
            <a:chOff x="0" y="0"/>
            <a:chExt cx="158496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84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763" t="0" r="-48763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4331970"/>
            <a:ext cx="1188720" cy="971550"/>
            <a:chOff x="0" y="0"/>
            <a:chExt cx="1584960" cy="1295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8496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863" t="0" r="-5486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5849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94560" y="4425696"/>
            <a:ext cx="15179040" cy="640080"/>
            <a:chOff x="0" y="0"/>
            <a:chExt cx="2023872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23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752" r="0" b="-411751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194560" y="4382834"/>
            <a:ext cx="15179040" cy="682943"/>
            <a:chOff x="0" y="0"/>
            <a:chExt cx="20238720" cy="9105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238720" cy="910590"/>
            </a:xfrm>
            <a:custGeom>
              <a:avLst/>
              <a:gdLst/>
              <a:ahLst/>
              <a:cxnLst/>
              <a:rect r="r" b="b" t="t" l="l"/>
              <a:pathLst>
                <a:path h="91059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073" r="0" b="-38307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20238720" cy="967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Formatos y estándares del sistema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94560" y="5102352"/>
            <a:ext cx="15179040" cy="1554480"/>
            <a:chOff x="0" y="0"/>
            <a:chExt cx="20238720" cy="2072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238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133" r="0" b="-140132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194560" y="5066633"/>
            <a:ext cx="15179040" cy="1590199"/>
            <a:chOff x="0" y="0"/>
            <a:chExt cx="20238720" cy="212026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238720" cy="2120265"/>
            </a:xfrm>
            <a:custGeom>
              <a:avLst/>
              <a:gdLst/>
              <a:ahLst/>
              <a:cxnLst/>
              <a:rect r="r" b="b" t="t" l="l"/>
              <a:pathLst>
                <a:path h="2120265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2120265"/>
                  </a:lnTo>
                  <a:lnTo>
                    <a:pt x="0" y="21202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991" r="0" b="-13599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0238720" cy="2167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define el uso de fechas (dd/mm/yyyy), hora (HH:mm), timestamps ISO 8601, moneda en CLP (con conversión via API Banco Central), correos electrónicos y roles de acceso (Gerencia / JOP).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17858" y="6963794"/>
            <a:ext cx="17052322" cy="2513362"/>
            <a:chOff x="0" y="0"/>
            <a:chExt cx="22736429" cy="33511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736429" cy="3351149"/>
            </a:xfrm>
            <a:custGeom>
              <a:avLst/>
              <a:gdLst/>
              <a:ahLst/>
              <a:cxnLst/>
              <a:rect r="r" b="b" t="t" l="l"/>
              <a:pathLst>
                <a:path h="3351149" w="22736429">
                  <a:moveTo>
                    <a:pt x="0" y="0"/>
                  </a:moveTo>
                  <a:lnTo>
                    <a:pt x="22736429" y="0"/>
                  </a:lnTo>
                  <a:lnTo>
                    <a:pt x="22736429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2E2E2E"/>
            </a:solidFill>
            <a:ln w="25400" cap="sq">
              <a:solidFill>
                <a:srgbClr val="363636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17858" y="6963794"/>
            <a:ext cx="154210" cy="2513362"/>
            <a:chOff x="0" y="0"/>
            <a:chExt cx="205613" cy="335114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5613" cy="3351149"/>
            </a:xfrm>
            <a:custGeom>
              <a:avLst/>
              <a:gdLst/>
              <a:ahLst/>
              <a:cxnLst/>
              <a:rect r="r" b="b" t="t" l="l"/>
              <a:pathLst>
                <a:path h="3351149" w="205613">
                  <a:moveTo>
                    <a:pt x="0" y="0"/>
                  </a:moveTo>
                  <a:lnTo>
                    <a:pt x="205613" y="0"/>
                  </a:lnTo>
                  <a:lnTo>
                    <a:pt x="205613" y="3351149"/>
                  </a:lnTo>
                  <a:lnTo>
                    <a:pt x="0" y="3351149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7132320"/>
            <a:ext cx="1188720" cy="914400"/>
            <a:chOff x="0" y="0"/>
            <a:chExt cx="158496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84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763" t="0" r="-48763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14400" y="7075170"/>
            <a:ext cx="1188720" cy="971550"/>
            <a:chOff x="0" y="0"/>
            <a:chExt cx="1584960" cy="1295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84960" cy="1295400"/>
            </a:xfrm>
            <a:custGeom>
              <a:avLst/>
              <a:gdLst/>
              <a:ahLst/>
              <a:cxnLst/>
              <a:rect r="r" b="b" t="t" l="l"/>
              <a:pathLst>
                <a:path h="129540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863" t="0" r="-5486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158496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194560" y="7168896"/>
            <a:ext cx="15179040" cy="640080"/>
            <a:chOff x="0" y="0"/>
            <a:chExt cx="2023872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238720" cy="853440"/>
            </a:xfrm>
            <a:custGeom>
              <a:avLst/>
              <a:gdLst/>
              <a:ahLst/>
              <a:cxnLst/>
              <a:rect r="r" b="b" t="t" l="l"/>
              <a:pathLst>
                <a:path h="85344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752" r="0" b="-41175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2194560" y="7126034"/>
            <a:ext cx="15179040" cy="682943"/>
            <a:chOff x="0" y="0"/>
            <a:chExt cx="20238720" cy="91059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238720" cy="910590"/>
            </a:xfrm>
            <a:custGeom>
              <a:avLst/>
              <a:gdLst/>
              <a:ahLst/>
              <a:cxnLst/>
              <a:rect r="r" b="b" t="t" l="l"/>
              <a:pathLst>
                <a:path h="91059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3073" r="0" b="-38307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20238720" cy="967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Roles del sistema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194560" y="7845552"/>
            <a:ext cx="15179040" cy="1554480"/>
            <a:chOff x="0" y="0"/>
            <a:chExt cx="20238720" cy="2072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2387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133" r="0" b="-140132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194560" y="7809833"/>
            <a:ext cx="15179040" cy="1590199"/>
            <a:chOff x="0" y="0"/>
            <a:chExt cx="20238720" cy="21202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238720" cy="2120265"/>
            </a:xfrm>
            <a:custGeom>
              <a:avLst/>
              <a:gdLst/>
              <a:ahLst/>
              <a:cxnLst/>
              <a:rect r="r" b="b" t="t" l="l"/>
              <a:pathLst>
                <a:path h="2120265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2120265"/>
                  </a:lnTo>
                  <a:lnTo>
                    <a:pt x="0" y="21202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991" r="0" b="-1359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0238720" cy="2167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Gerencia: vista completa del sistema de inventario, incluida información financiera.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JOP (Jefe de Operaciones y Producción): acceso a inventario y rotación, sin acceso a precios ni datos financieros.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373666" cy="10331482"/>
            <a:chOff x="0" y="0"/>
            <a:chExt cx="498221" cy="1377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21" cy="13775310"/>
            </a:xfrm>
            <a:custGeom>
              <a:avLst/>
              <a:gdLst/>
              <a:ahLst/>
              <a:cxnLst/>
              <a:rect r="r" b="b" t="t" l="l"/>
              <a:pathLst>
                <a:path h="13775310" w="498221">
                  <a:moveTo>
                    <a:pt x="0" y="0"/>
                  </a:moveTo>
                  <a:lnTo>
                    <a:pt x="498221" y="0"/>
                  </a:lnTo>
                  <a:lnTo>
                    <a:pt x="498221" y="13775310"/>
                  </a:lnTo>
                  <a:lnTo>
                    <a:pt x="0" y="13775310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005840"/>
            <a:ext cx="14264640" cy="640080"/>
            <a:chOff x="0" y="0"/>
            <a:chExt cx="19019520" cy="853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36" r="0" b="-383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70121"/>
            <a:ext cx="14264640" cy="675799"/>
            <a:chOff x="0" y="0"/>
            <a:chExt cx="19019520" cy="9010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19520" cy="901065"/>
            </a:xfrm>
            <a:custGeom>
              <a:avLst/>
              <a:gdLst/>
              <a:ahLst/>
              <a:cxnLst/>
              <a:rect r="r" b="b" t="t" l="l"/>
              <a:pathLst>
                <a:path h="90106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286" r="0" b="-36128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01952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8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 DE INVENTARIO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828800"/>
            <a:ext cx="14264640" cy="4389120"/>
            <a:chOff x="0" y="0"/>
            <a:chExt cx="19019520" cy="5852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19520" cy="5852160"/>
            </a:xfrm>
            <a:custGeom>
              <a:avLst/>
              <a:gdLst/>
              <a:ahLst/>
              <a:cxnLst/>
              <a:rect r="r" b="b" t="t" l="l"/>
              <a:pathLst>
                <a:path h="58521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82" r="0" b="-1328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1707356"/>
            <a:ext cx="14264640" cy="4510564"/>
            <a:chOff x="0" y="0"/>
            <a:chExt cx="19019520" cy="60140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6014085"/>
            </a:xfrm>
            <a:custGeom>
              <a:avLst/>
              <a:gdLst/>
              <a:ahLst/>
              <a:cxnLst/>
              <a:rect r="r" b="b" t="t" l="l"/>
              <a:pathLst>
                <a:path h="601408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014085"/>
                  </a:lnTo>
                  <a:lnTo>
                    <a:pt x="0" y="60140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21" r="0" b="-1162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19019520" cy="6176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PROYECTO INGENIERÍA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SOFTWARE I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INCREMENTO 1 GRUPO 14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7581" y="5916235"/>
            <a:ext cx="8274082" cy="117634"/>
            <a:chOff x="0" y="0"/>
            <a:chExt cx="11032109" cy="1568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32109" cy="156845"/>
            </a:xfrm>
            <a:custGeom>
              <a:avLst/>
              <a:gdLst/>
              <a:ahLst/>
              <a:cxnLst/>
              <a:rect r="r" b="b" t="t" l="l"/>
              <a:pathLst>
                <a:path h="156845" w="11032109">
                  <a:moveTo>
                    <a:pt x="0" y="0"/>
                  </a:moveTo>
                  <a:lnTo>
                    <a:pt x="11032109" y="0"/>
                  </a:lnTo>
                  <a:lnTo>
                    <a:pt x="11032109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F47920"/>
            </a:solidFill>
            <a:ln w="25400" cap="sq">
              <a:solidFill>
                <a:srgbClr val="F4792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6583680"/>
            <a:ext cx="8229600" cy="548640"/>
            <a:chOff x="0" y="0"/>
            <a:chExt cx="10972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072" r="0" b="-24207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6547961"/>
            <a:ext cx="8229600" cy="584359"/>
            <a:chOff x="0" y="0"/>
            <a:chExt cx="10972800" cy="7791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779145"/>
            </a:xfrm>
            <a:custGeom>
              <a:avLst/>
              <a:gdLst/>
              <a:ahLst/>
              <a:cxnLst/>
              <a:rect r="r" b="b" t="t" l="l"/>
              <a:pathLst>
                <a:path h="7791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4410" r="0" b="-224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Autores: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7132320"/>
            <a:ext cx="8229600" cy="2377440"/>
            <a:chOff x="0" y="0"/>
            <a:chExt cx="10972800" cy="3169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01" r="0" b="-1740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7096601"/>
            <a:ext cx="8229600" cy="2413159"/>
            <a:chOff x="0" y="0"/>
            <a:chExt cx="10972800" cy="32175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3217545"/>
            </a:xfrm>
            <a:custGeom>
              <a:avLst/>
              <a:gdLst/>
              <a:ahLst/>
              <a:cxnLst/>
              <a:rect r="r" b="b" t="t" l="l"/>
              <a:pathLst>
                <a:path h="32175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7545"/>
                  </a:lnTo>
                  <a:lnTo>
                    <a:pt x="0" y="32175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49" r="0" b="-164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800" cy="3265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Sofia Isidora Cariñe Valenzuela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Jhoe Eduardo Castillo Barrios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Karla Aylin Curín Navarro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Valentín Ignacio García Farías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Omar Adolfo Olmos Hernández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Silvio Alberto Villagra Labbé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0" y="6583680"/>
            <a:ext cx="7680960" cy="1280160"/>
            <a:chOff x="0" y="0"/>
            <a:chExt cx="10241280" cy="1706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0" y="6547961"/>
            <a:ext cx="7680960" cy="1315879"/>
            <a:chOff x="0" y="0"/>
            <a:chExt cx="10241280" cy="17545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1754505"/>
            </a:xfrm>
            <a:custGeom>
              <a:avLst/>
              <a:gdLst/>
              <a:ahLst/>
              <a:cxnLst/>
              <a:rect r="r" b="b" t="t" l="l"/>
              <a:pathLst>
                <a:path h="17545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736" r="0" b="-637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241280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Facultad de Ingeniería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de Software I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0" y="7955280"/>
            <a:ext cx="7680960" cy="640080"/>
            <a:chOff x="0" y="0"/>
            <a:chExt cx="1024128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657" r="0" b="-18365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0" y="7919561"/>
            <a:ext cx="7680960" cy="675799"/>
            <a:chOff x="0" y="0"/>
            <a:chExt cx="10241280" cy="9010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0" cy="901065"/>
            </a:xfrm>
            <a:custGeom>
              <a:avLst/>
              <a:gdLst/>
              <a:ahLst/>
              <a:cxnLst/>
              <a:rect r="r" b="b" t="t" l="l"/>
              <a:pathLst>
                <a:path h="90106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462" r="0" b="-1714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24128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79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Profesor: </a:t>
              </a:r>
              <a:r>
                <a:rPr lang="en-US" sz="2200">
                  <a:solidFill>
                    <a:srgbClr val="D1D5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Paulo Quinsacara Jofré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58400" y="8686800"/>
            <a:ext cx="7680960" cy="548640"/>
            <a:chOff x="0" y="0"/>
            <a:chExt cx="102412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600" r="0" b="-22260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0" y="8658225"/>
            <a:ext cx="7680960" cy="577215"/>
            <a:chOff x="0" y="0"/>
            <a:chExt cx="10241280" cy="7696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769620"/>
            </a:xfrm>
            <a:custGeom>
              <a:avLst/>
              <a:gdLst/>
              <a:ahLst/>
              <a:cxnLst/>
              <a:rect r="r" b="b" t="t" l="l"/>
              <a:pathLst>
                <a:path h="7696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286" r="0" b="-20928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24128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Santiago, Chile · 2026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7106" y="1572768"/>
            <a:ext cx="4102094" cy="619554"/>
            <a:chOff x="0" y="0"/>
            <a:chExt cx="5469458" cy="8260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69509" cy="826008"/>
            </a:xfrm>
            <a:custGeom>
              <a:avLst/>
              <a:gdLst/>
              <a:ahLst/>
              <a:cxnLst/>
              <a:rect r="r" b="b" t="t" l="l"/>
              <a:pathLst>
                <a:path h="826008" w="5469509">
                  <a:moveTo>
                    <a:pt x="0" y="0"/>
                  </a:moveTo>
                  <a:lnTo>
                    <a:pt x="5469509" y="0"/>
                  </a:lnTo>
                  <a:lnTo>
                    <a:pt x="5469509" y="826008"/>
                  </a:lnTo>
                  <a:lnTo>
                    <a:pt x="0" y="826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28" r="0" b="-7893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27106" y="1522762"/>
            <a:ext cx="4102094" cy="669560"/>
            <a:chOff x="0" y="0"/>
            <a:chExt cx="5469458" cy="89274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69464" cy="892743"/>
            </a:xfrm>
            <a:custGeom>
              <a:avLst/>
              <a:gdLst/>
              <a:ahLst/>
              <a:cxnLst/>
              <a:rect r="r" b="b" t="t" l="l"/>
              <a:pathLst>
                <a:path h="892743" w="5469464">
                  <a:moveTo>
                    <a:pt x="0" y="0"/>
                  </a:moveTo>
                  <a:lnTo>
                    <a:pt x="5469464" y="0"/>
                  </a:lnTo>
                  <a:lnTo>
                    <a:pt x="5469464" y="892743"/>
                  </a:lnTo>
                  <a:lnTo>
                    <a:pt x="0" y="8927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376" r="0" b="-6937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5469458" cy="959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 Andrés Bello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760065" y="91430"/>
            <a:ext cx="2228288" cy="1874549"/>
            <a:chOff x="0" y="0"/>
            <a:chExt cx="2971051" cy="249939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71038" cy="2499360"/>
            </a:xfrm>
            <a:custGeom>
              <a:avLst/>
              <a:gdLst/>
              <a:ahLst/>
              <a:cxnLst/>
              <a:rect r="r" b="b" t="t" l="l"/>
              <a:pathLst>
                <a:path h="2499360" w="2971038">
                  <a:moveTo>
                    <a:pt x="0" y="0"/>
                  </a:moveTo>
                  <a:lnTo>
                    <a:pt x="2971038" y="0"/>
                  </a:lnTo>
                  <a:lnTo>
                    <a:pt x="2971038" y="2499360"/>
                  </a:lnTo>
                  <a:lnTo>
                    <a:pt x="0" y="249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8" r="0" b="-14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DAHMUbXhIok</dc:identifier>
  <dcterms:modified xsi:type="dcterms:W3CDTF">2011-08-01T06:04:30Z</dcterms:modified>
  <cp:revision>1</cp:revision>
  <dc:title>Anexos_PuertasBlindadas.pptx</dc:title>
</cp:coreProperties>
</file>