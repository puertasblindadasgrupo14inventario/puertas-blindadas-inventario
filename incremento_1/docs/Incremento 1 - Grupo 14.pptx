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alibri (MS) Bold" charset="1" panose="020F0702030404030204"/>
      <p:regular r:id="rId23"/>
    </p:embeddedFont>
    <p:embeddedFont>
      <p:font typeface="Calibri (MS)" charset="1" panose="020F0502020204030204"/>
      <p:regular r:id="rId24"/>
    </p:embeddedFont>
    <p:embeddedFont>
      <p:font typeface="Calibri (MS) Italics" charset="1" panose="020F05020202040A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354587" cy="10312403"/>
            <a:chOff x="0" y="0"/>
            <a:chExt cx="472783" cy="13749871"/>
          </a:xfrm>
        </p:grpSpPr>
        <p:sp>
          <p:nvSpPr>
            <p:cNvPr name="Freeform 3" id="3"/>
            <p:cNvSpPr/>
            <p:nvPr/>
          </p:nvSpPr>
          <p:spPr>
            <a:xfrm flipH="false" flipV="false" rot="0">
              <a:off x="0" y="0"/>
              <a:ext cx="472821" cy="13749910"/>
            </a:xfrm>
            <a:custGeom>
              <a:avLst/>
              <a:gdLst/>
              <a:ahLst/>
              <a:cxnLst/>
              <a:rect r="r" b="b" t="t" l="l"/>
              <a:pathLst>
                <a:path h="13749910" w="472821">
                  <a:moveTo>
                    <a:pt x="0" y="0"/>
                  </a:moveTo>
                  <a:lnTo>
                    <a:pt x="472821" y="0"/>
                  </a:lnTo>
                  <a:lnTo>
                    <a:pt x="472821"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914400" y="1005840"/>
            <a:ext cx="14264640" cy="640080"/>
            <a:chOff x="0" y="0"/>
            <a:chExt cx="19019520" cy="853440"/>
          </a:xfrm>
        </p:grpSpPr>
        <p:sp>
          <p:nvSpPr>
            <p:cNvPr name="Freeform 5" id="5"/>
            <p:cNvSpPr/>
            <p:nvPr/>
          </p:nvSpPr>
          <p:spPr>
            <a:xfrm flipH="false" flipV="false" rot="0">
              <a:off x="0" y="0"/>
              <a:ext cx="19019520" cy="853440"/>
            </a:xfrm>
            <a:custGeom>
              <a:avLst/>
              <a:gdLst/>
              <a:ahLst/>
              <a:cxnLst/>
              <a:rect r="r" b="b" t="t" l="l"/>
              <a:pathLst>
                <a:path h="853440" w="19019520">
                  <a:moveTo>
                    <a:pt x="0" y="0"/>
                  </a:moveTo>
                  <a:lnTo>
                    <a:pt x="19019520" y="0"/>
                  </a:lnTo>
                  <a:lnTo>
                    <a:pt x="19019520" y="853440"/>
                  </a:lnTo>
                  <a:lnTo>
                    <a:pt x="0" y="853440"/>
                  </a:lnTo>
                  <a:close/>
                </a:path>
              </a:pathLst>
            </a:custGeom>
            <a:blipFill>
              <a:blip r:embed="rId3">
                <a:alphaModFix amt="0"/>
              </a:blip>
              <a:stretch>
                <a:fillRect l="0" t="-384237" r="0" b="-384237"/>
              </a:stretch>
            </a:blipFill>
          </p:spPr>
        </p:sp>
        <p:sp>
          <p:nvSpPr>
            <p:cNvPr name="TextBox 6" id="6"/>
            <p:cNvSpPr txBox="true"/>
            <p:nvPr/>
          </p:nvSpPr>
          <p:spPr>
            <a:xfrm>
              <a:off x="0" y="-47625"/>
              <a:ext cx="19019520" cy="901065"/>
            </a:xfrm>
            <a:prstGeom prst="rect">
              <a:avLst/>
            </a:prstGeom>
          </p:spPr>
          <p:txBody>
            <a:bodyPr anchor="ctr" rtlCol="false" tIns="0" lIns="0" bIns="0" rIns="0"/>
            <a:lstStyle/>
            <a:p>
              <a:pPr algn="l">
                <a:lnSpc>
                  <a:spcPts val="2640"/>
                </a:lnSpc>
              </a:pPr>
              <a:r>
                <a:rPr lang="en-US" b="true" sz="2200" spc="799">
                  <a:solidFill>
                    <a:srgbClr val="F47920"/>
                  </a:solidFill>
                  <a:latin typeface="Calibri (MS) Bold"/>
                  <a:ea typeface="Calibri (MS) Bold"/>
                  <a:cs typeface="Calibri (MS) Bold"/>
                  <a:sym typeface="Calibri (MS) Bold"/>
                </a:rPr>
                <a:t>SISTEMA DE INVENTARIO</a:t>
              </a:r>
            </a:p>
          </p:txBody>
        </p:sp>
      </p:grpSp>
      <p:grpSp>
        <p:nvGrpSpPr>
          <p:cNvPr name="Group 7" id="7"/>
          <p:cNvGrpSpPr/>
          <p:nvPr/>
        </p:nvGrpSpPr>
        <p:grpSpPr>
          <a:xfrm rot="0">
            <a:off x="1028700" y="1965972"/>
            <a:ext cx="14264640" cy="4389120"/>
            <a:chOff x="0" y="0"/>
            <a:chExt cx="19019520" cy="5852160"/>
          </a:xfrm>
        </p:grpSpPr>
        <p:sp>
          <p:nvSpPr>
            <p:cNvPr name="Freeform 8" id="8"/>
            <p:cNvSpPr/>
            <p:nvPr/>
          </p:nvSpPr>
          <p:spPr>
            <a:xfrm flipH="false" flipV="false" rot="0">
              <a:off x="0" y="0"/>
              <a:ext cx="19019520" cy="5852160"/>
            </a:xfrm>
            <a:custGeom>
              <a:avLst/>
              <a:gdLst/>
              <a:ahLst/>
              <a:cxnLst/>
              <a:rect r="r" b="b" t="t" l="l"/>
              <a:pathLst>
                <a:path h="5852160" w="19019520">
                  <a:moveTo>
                    <a:pt x="0" y="0"/>
                  </a:moveTo>
                  <a:lnTo>
                    <a:pt x="19019520" y="0"/>
                  </a:lnTo>
                  <a:lnTo>
                    <a:pt x="19019520" y="5852160"/>
                  </a:lnTo>
                  <a:lnTo>
                    <a:pt x="0" y="5852160"/>
                  </a:lnTo>
                  <a:close/>
                </a:path>
              </a:pathLst>
            </a:custGeom>
            <a:blipFill>
              <a:blip r:embed="rId3">
                <a:alphaModFix amt="0"/>
              </a:blip>
              <a:stretch>
                <a:fillRect l="0" t="-13326" r="0" b="-13326"/>
              </a:stretch>
            </a:blipFill>
          </p:spPr>
        </p:sp>
        <p:sp>
          <p:nvSpPr>
            <p:cNvPr name="TextBox 9" id="9"/>
            <p:cNvSpPr txBox="true"/>
            <p:nvPr/>
          </p:nvSpPr>
          <p:spPr>
            <a:xfrm>
              <a:off x="0" y="-161925"/>
              <a:ext cx="19019520" cy="601408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PROYECTO INGENIERÍA</a:t>
              </a:r>
            </a:p>
            <a:p>
              <a:pPr algn="l">
                <a:lnSpc>
                  <a:spcPts val="9600"/>
                </a:lnSpc>
              </a:pPr>
              <a:r>
                <a:rPr lang="en-US" sz="8000" b="true">
                  <a:solidFill>
                    <a:srgbClr val="FFFFFF"/>
                  </a:solidFill>
                  <a:latin typeface="Calibri (MS) Bold"/>
                  <a:ea typeface="Calibri (MS) Bold"/>
                  <a:cs typeface="Calibri (MS) Bold"/>
                  <a:sym typeface="Calibri (MS) Bold"/>
                </a:rPr>
                <a:t>DE SOFTWARE I</a:t>
              </a:r>
            </a:p>
            <a:p>
              <a:pPr algn="l">
                <a:lnSpc>
                  <a:spcPts val="9600"/>
                </a:lnSpc>
              </a:pPr>
              <a:r>
                <a:rPr lang="en-US" sz="8000" b="true">
                  <a:solidFill>
                    <a:srgbClr val="FFFFFF"/>
                  </a:solidFill>
                  <a:latin typeface="Calibri (MS) Bold"/>
                  <a:ea typeface="Calibri (MS) Bold"/>
                  <a:cs typeface="Calibri (MS) Bold"/>
                  <a:sym typeface="Calibri (MS) Bold"/>
                </a:rPr>
                <a:t>INCREMENTO 1 GRUPO 14</a:t>
              </a:r>
            </a:p>
          </p:txBody>
        </p:sp>
      </p:grpSp>
      <p:grpSp>
        <p:nvGrpSpPr>
          <p:cNvPr name="Group 10" id="10"/>
          <p:cNvGrpSpPr/>
          <p:nvPr/>
        </p:nvGrpSpPr>
        <p:grpSpPr>
          <a:xfrm rot="0">
            <a:off x="927106" y="5925760"/>
            <a:ext cx="8255003" cy="98555"/>
            <a:chOff x="0" y="0"/>
            <a:chExt cx="11006671" cy="131407"/>
          </a:xfrm>
        </p:grpSpPr>
        <p:sp>
          <p:nvSpPr>
            <p:cNvPr name="Freeform 11" id="11"/>
            <p:cNvSpPr/>
            <p:nvPr/>
          </p:nvSpPr>
          <p:spPr>
            <a:xfrm flipH="false" flipV="false" rot="0">
              <a:off x="0" y="0"/>
              <a:ext cx="11006709" cy="131445"/>
            </a:xfrm>
            <a:custGeom>
              <a:avLst/>
              <a:gdLst/>
              <a:ahLst/>
              <a:cxnLst/>
              <a:rect r="r" b="b" t="t" l="l"/>
              <a:pathLst>
                <a:path h="131445" w="11006709">
                  <a:moveTo>
                    <a:pt x="0" y="0"/>
                  </a:moveTo>
                  <a:lnTo>
                    <a:pt x="11006709" y="0"/>
                  </a:lnTo>
                  <a:lnTo>
                    <a:pt x="11006709" y="131445"/>
                  </a:lnTo>
                  <a:lnTo>
                    <a:pt x="0" y="131445"/>
                  </a:lnTo>
                  <a:close/>
                </a:path>
              </a:pathLst>
            </a:custGeom>
            <a:solidFill>
              <a:srgbClr val="F47920"/>
            </a:solidFill>
            <a:ln w="25400" cap="sq">
              <a:solidFill>
                <a:srgbClr val="F47920"/>
              </a:solidFill>
              <a:prstDash val="solid"/>
              <a:miter/>
            </a:ln>
          </p:spPr>
        </p:sp>
      </p:grpSp>
      <p:grpSp>
        <p:nvGrpSpPr>
          <p:cNvPr name="Group 12" id="12"/>
          <p:cNvGrpSpPr/>
          <p:nvPr/>
        </p:nvGrpSpPr>
        <p:grpSpPr>
          <a:xfrm rot="0">
            <a:off x="914400" y="6583680"/>
            <a:ext cx="8229600" cy="548640"/>
            <a:chOff x="0" y="0"/>
            <a:chExt cx="10972800" cy="731520"/>
          </a:xfrm>
        </p:grpSpPr>
        <p:sp>
          <p:nvSpPr>
            <p:cNvPr name="Freeform 13" id="1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14" id="14"/>
            <p:cNvSpPr txBox="true"/>
            <p:nvPr/>
          </p:nvSpPr>
          <p:spPr>
            <a:xfrm>
              <a:off x="0" y="-47625"/>
              <a:ext cx="10972800" cy="779145"/>
            </a:xfrm>
            <a:prstGeom prst="rect">
              <a:avLst/>
            </a:prstGeom>
          </p:spPr>
          <p:txBody>
            <a:bodyPr anchor="ctr" rtlCol="false" tIns="0" lIns="0" bIns="0" rIns="0"/>
            <a:lstStyle/>
            <a:p>
              <a:pPr algn="l">
                <a:lnSpc>
                  <a:spcPts val="2640"/>
                </a:lnSpc>
              </a:pPr>
              <a:r>
                <a:rPr lang="en-US" sz="2200" b="true">
                  <a:solidFill>
                    <a:srgbClr val="F47920"/>
                  </a:solidFill>
                  <a:latin typeface="Calibri (MS) Bold"/>
                  <a:ea typeface="Calibri (MS) Bold"/>
                  <a:cs typeface="Calibri (MS) Bold"/>
                  <a:sym typeface="Calibri (MS) Bold"/>
                </a:rPr>
                <a:t>Autores:</a:t>
              </a:r>
            </a:p>
          </p:txBody>
        </p:sp>
      </p:grpSp>
      <p:grpSp>
        <p:nvGrpSpPr>
          <p:cNvPr name="Group 15" id="15"/>
          <p:cNvGrpSpPr/>
          <p:nvPr/>
        </p:nvGrpSpPr>
        <p:grpSpPr>
          <a:xfrm rot="0">
            <a:off x="914400" y="7132320"/>
            <a:ext cx="8229600" cy="2377440"/>
            <a:chOff x="0" y="0"/>
            <a:chExt cx="10972800" cy="3169920"/>
          </a:xfrm>
        </p:grpSpPr>
        <p:sp>
          <p:nvSpPr>
            <p:cNvPr name="Freeform 16" id="16"/>
            <p:cNvSpPr/>
            <p:nvPr/>
          </p:nvSpPr>
          <p:spPr>
            <a:xfrm flipH="false" flipV="false" rot="0">
              <a:off x="0" y="0"/>
              <a:ext cx="10972800" cy="3169920"/>
            </a:xfrm>
            <a:custGeom>
              <a:avLst/>
              <a:gdLst/>
              <a:ahLst/>
              <a:cxnLst/>
              <a:rect r="r" b="b" t="t" l="l"/>
              <a:pathLst>
                <a:path h="3169920" w="10972800">
                  <a:moveTo>
                    <a:pt x="0" y="0"/>
                  </a:moveTo>
                  <a:lnTo>
                    <a:pt x="10972800" y="0"/>
                  </a:lnTo>
                  <a:lnTo>
                    <a:pt x="10972800" y="3169920"/>
                  </a:lnTo>
                  <a:lnTo>
                    <a:pt x="0" y="3169920"/>
                  </a:lnTo>
                  <a:close/>
                </a:path>
              </a:pathLst>
            </a:custGeom>
            <a:blipFill>
              <a:blip r:embed="rId3">
                <a:alphaModFix amt="0"/>
              </a:blip>
              <a:stretch>
                <a:fillRect l="0" t="-17448" r="0" b="-17448"/>
              </a:stretch>
            </a:blipFill>
          </p:spPr>
        </p:sp>
        <p:sp>
          <p:nvSpPr>
            <p:cNvPr name="TextBox 17" id="17"/>
            <p:cNvSpPr txBox="true"/>
            <p:nvPr/>
          </p:nvSpPr>
          <p:spPr>
            <a:xfrm>
              <a:off x="0" y="-47625"/>
              <a:ext cx="10972800" cy="3217545"/>
            </a:xfrm>
            <a:prstGeom prst="rect">
              <a:avLst/>
            </a:prstGeom>
          </p:spPr>
          <p:txBody>
            <a:bodyPr anchor="ctr" rtlCol="false" tIns="0" lIns="0" bIns="0" rIns="0"/>
            <a:lstStyle/>
            <a:p>
              <a:pPr algn="l">
                <a:lnSpc>
                  <a:spcPts val="2520"/>
                </a:lnSpc>
              </a:pPr>
              <a:r>
                <a:rPr lang="en-US" sz="2100">
                  <a:solidFill>
                    <a:srgbClr val="D1D5DB"/>
                  </a:solidFill>
                  <a:latin typeface="Calibri (MS)"/>
                  <a:ea typeface="Calibri (MS)"/>
                  <a:cs typeface="Calibri (MS)"/>
                  <a:sym typeface="Calibri (MS)"/>
                </a:rPr>
                <a:t>Sofia Isidora Cariñe Valenzuela</a:t>
              </a:r>
            </a:p>
            <a:p>
              <a:pPr algn="l">
                <a:lnSpc>
                  <a:spcPts val="2520"/>
                </a:lnSpc>
              </a:pPr>
              <a:r>
                <a:rPr lang="en-US" sz="2100">
                  <a:solidFill>
                    <a:srgbClr val="D1D5DB"/>
                  </a:solidFill>
                  <a:latin typeface="Calibri (MS)"/>
                  <a:ea typeface="Calibri (MS)"/>
                  <a:cs typeface="Calibri (MS)"/>
                  <a:sym typeface="Calibri (MS)"/>
                </a:rPr>
                <a:t>Jhoe Eduardo Castillo Barrios</a:t>
              </a:r>
            </a:p>
            <a:p>
              <a:pPr algn="l">
                <a:lnSpc>
                  <a:spcPts val="2520"/>
                </a:lnSpc>
              </a:pPr>
              <a:r>
                <a:rPr lang="en-US" sz="2100">
                  <a:solidFill>
                    <a:srgbClr val="D1D5DB"/>
                  </a:solidFill>
                  <a:latin typeface="Calibri (MS)"/>
                  <a:ea typeface="Calibri (MS)"/>
                  <a:cs typeface="Calibri (MS)"/>
                  <a:sym typeface="Calibri (MS)"/>
                </a:rPr>
                <a:t>Karla Aylin Curín Navarro</a:t>
              </a:r>
            </a:p>
            <a:p>
              <a:pPr algn="l">
                <a:lnSpc>
                  <a:spcPts val="2520"/>
                </a:lnSpc>
              </a:pPr>
              <a:r>
                <a:rPr lang="en-US" sz="2100">
                  <a:solidFill>
                    <a:srgbClr val="D1D5DB"/>
                  </a:solidFill>
                  <a:latin typeface="Calibri (MS)"/>
                  <a:ea typeface="Calibri (MS)"/>
                  <a:cs typeface="Calibri (MS)"/>
                  <a:sym typeface="Calibri (MS)"/>
                </a:rPr>
                <a:t>Valentín Ignacio García Farías</a:t>
              </a:r>
            </a:p>
            <a:p>
              <a:pPr algn="l">
                <a:lnSpc>
                  <a:spcPts val="2520"/>
                </a:lnSpc>
              </a:pPr>
              <a:r>
                <a:rPr lang="en-US" sz="2100">
                  <a:solidFill>
                    <a:srgbClr val="D1D5DB"/>
                  </a:solidFill>
                  <a:latin typeface="Calibri (MS)"/>
                  <a:ea typeface="Calibri (MS)"/>
                  <a:cs typeface="Calibri (MS)"/>
                  <a:sym typeface="Calibri (MS)"/>
                </a:rPr>
                <a:t>Omar Adolfo Olmos Hernández</a:t>
              </a:r>
            </a:p>
            <a:p>
              <a:pPr algn="l">
                <a:lnSpc>
                  <a:spcPts val="2520"/>
                </a:lnSpc>
              </a:pPr>
              <a:r>
                <a:rPr lang="en-US" sz="2100">
                  <a:solidFill>
                    <a:srgbClr val="D1D5DB"/>
                  </a:solidFill>
                  <a:latin typeface="Calibri (MS)"/>
                  <a:ea typeface="Calibri (MS)"/>
                  <a:cs typeface="Calibri (MS)"/>
                  <a:sym typeface="Calibri (MS)"/>
                </a:rPr>
                <a:t>Silvio Alberto Villagra Labbé</a:t>
              </a:r>
            </a:p>
          </p:txBody>
        </p:sp>
      </p:grpSp>
      <p:grpSp>
        <p:nvGrpSpPr>
          <p:cNvPr name="Group 18" id="18"/>
          <p:cNvGrpSpPr/>
          <p:nvPr/>
        </p:nvGrpSpPr>
        <p:grpSpPr>
          <a:xfrm rot="0">
            <a:off x="10058400" y="6583680"/>
            <a:ext cx="7680960" cy="1280160"/>
            <a:chOff x="0" y="0"/>
            <a:chExt cx="10241280" cy="1706880"/>
          </a:xfrm>
        </p:grpSpPr>
        <p:sp>
          <p:nvSpPr>
            <p:cNvPr name="Freeform 19" id="19"/>
            <p:cNvSpPr/>
            <p:nvPr/>
          </p:nvSpPr>
          <p:spPr>
            <a:xfrm flipH="false" flipV="false" rot="0">
              <a:off x="0" y="0"/>
              <a:ext cx="10241280" cy="1706880"/>
            </a:xfrm>
            <a:custGeom>
              <a:avLst/>
              <a:gdLst/>
              <a:ahLst/>
              <a:cxnLst/>
              <a:rect r="r" b="b" t="t" l="l"/>
              <a:pathLst>
                <a:path h="1706880" w="10241280">
                  <a:moveTo>
                    <a:pt x="0" y="0"/>
                  </a:moveTo>
                  <a:lnTo>
                    <a:pt x="10241280" y="0"/>
                  </a:lnTo>
                  <a:lnTo>
                    <a:pt x="10241280" y="1706880"/>
                  </a:lnTo>
                  <a:lnTo>
                    <a:pt x="0" y="1706880"/>
                  </a:lnTo>
                  <a:close/>
                </a:path>
              </a:pathLst>
            </a:custGeom>
            <a:blipFill>
              <a:blip r:embed="rId3">
                <a:alphaModFix amt="0"/>
              </a:blip>
              <a:stretch>
                <a:fillRect l="0" t="-66910" r="0" b="-66910"/>
              </a:stretch>
            </a:blipFill>
          </p:spPr>
        </p:sp>
        <p:sp>
          <p:nvSpPr>
            <p:cNvPr name="TextBox 20" id="20"/>
            <p:cNvSpPr txBox="true"/>
            <p:nvPr/>
          </p:nvSpPr>
          <p:spPr>
            <a:xfrm>
              <a:off x="0" y="-47625"/>
              <a:ext cx="10241280" cy="1754505"/>
            </a:xfrm>
            <a:prstGeom prst="rect">
              <a:avLst/>
            </a:prstGeom>
          </p:spPr>
          <p:txBody>
            <a:bodyPr anchor="ctr" rtlCol="false" tIns="0" lIns="0" bIns="0" rIns="0"/>
            <a:lstStyle/>
            <a:p>
              <a:pPr algn="l">
                <a:lnSpc>
                  <a:spcPts val="2640"/>
                </a:lnSpc>
              </a:pPr>
              <a:r>
                <a:rPr lang="en-US" sz="2200">
                  <a:solidFill>
                    <a:srgbClr val="9CA3AF"/>
                  </a:solidFill>
                  <a:latin typeface="Calibri (MS)"/>
                  <a:ea typeface="Calibri (MS)"/>
                  <a:cs typeface="Calibri (MS)"/>
                  <a:sym typeface="Calibri (MS)"/>
                </a:rPr>
                <a:t>Facultad de Ingeniería</a:t>
              </a:r>
            </a:p>
            <a:p>
              <a:pPr algn="l">
                <a:lnSpc>
                  <a:spcPts val="2640"/>
                </a:lnSpc>
              </a:pPr>
              <a:r>
                <a:rPr lang="en-US" sz="2200">
                  <a:solidFill>
                    <a:srgbClr val="9CA3AF"/>
                  </a:solidFill>
                  <a:latin typeface="Calibri (MS)"/>
                  <a:ea typeface="Calibri (MS)"/>
                  <a:cs typeface="Calibri (MS)"/>
                  <a:sym typeface="Calibri (MS)"/>
                </a:rPr>
                <a:t>Ingeniería de Software I</a:t>
              </a:r>
            </a:p>
          </p:txBody>
        </p:sp>
      </p:grpSp>
      <p:grpSp>
        <p:nvGrpSpPr>
          <p:cNvPr name="Group 21" id="21"/>
          <p:cNvGrpSpPr/>
          <p:nvPr/>
        </p:nvGrpSpPr>
        <p:grpSpPr>
          <a:xfrm rot="0">
            <a:off x="10058400" y="7955280"/>
            <a:ext cx="7680960" cy="640080"/>
            <a:chOff x="0" y="0"/>
            <a:chExt cx="10241280" cy="853440"/>
          </a:xfrm>
        </p:grpSpPr>
        <p:sp>
          <p:nvSpPr>
            <p:cNvPr name="Freeform 22" id="22"/>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23" id="23"/>
            <p:cNvSpPr txBox="true"/>
            <p:nvPr/>
          </p:nvSpPr>
          <p:spPr>
            <a:xfrm>
              <a:off x="0" y="-47625"/>
              <a:ext cx="10241280" cy="901065"/>
            </a:xfrm>
            <a:prstGeom prst="rect">
              <a:avLst/>
            </a:prstGeom>
          </p:spPr>
          <p:txBody>
            <a:bodyPr anchor="ctr" rtlCol="false" tIns="0" lIns="0" bIns="0" rIns="0"/>
            <a:lstStyle/>
            <a:p>
              <a:pPr algn="l">
                <a:lnSpc>
                  <a:spcPts val="2640"/>
                </a:lnSpc>
              </a:pPr>
              <a:r>
                <a:rPr lang="en-US" sz="2200" b="true">
                  <a:solidFill>
                    <a:srgbClr val="F47920"/>
                  </a:solidFill>
                  <a:latin typeface="Calibri (MS) Bold"/>
                  <a:ea typeface="Calibri (MS) Bold"/>
                  <a:cs typeface="Calibri (MS) Bold"/>
                  <a:sym typeface="Calibri (MS) Bold"/>
                </a:rPr>
                <a:t>Profesor: </a:t>
              </a:r>
              <a:r>
                <a:rPr lang="en-US" sz="2200">
                  <a:solidFill>
                    <a:srgbClr val="D1D5DB"/>
                  </a:solidFill>
                  <a:latin typeface="Calibri (MS)"/>
                  <a:ea typeface="Calibri (MS)"/>
                  <a:cs typeface="Calibri (MS)"/>
                  <a:sym typeface="Calibri (MS)"/>
                </a:rPr>
                <a:t>Paulo Quinsacara Jofré</a:t>
              </a:r>
            </a:p>
          </p:txBody>
        </p:sp>
      </p:grpSp>
      <p:grpSp>
        <p:nvGrpSpPr>
          <p:cNvPr name="Group 24" id="24"/>
          <p:cNvGrpSpPr/>
          <p:nvPr/>
        </p:nvGrpSpPr>
        <p:grpSpPr>
          <a:xfrm rot="0">
            <a:off x="10058400" y="8686800"/>
            <a:ext cx="7680960" cy="548640"/>
            <a:chOff x="0" y="0"/>
            <a:chExt cx="10241280" cy="731520"/>
          </a:xfrm>
        </p:grpSpPr>
        <p:sp>
          <p:nvSpPr>
            <p:cNvPr name="Freeform 25" id="25"/>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26" id="26"/>
            <p:cNvSpPr txBox="true"/>
            <p:nvPr/>
          </p:nvSpPr>
          <p:spPr>
            <a:xfrm>
              <a:off x="0" y="-38100"/>
              <a:ext cx="10241280" cy="769620"/>
            </a:xfrm>
            <a:prstGeom prst="rect">
              <a:avLst/>
            </a:prstGeom>
          </p:spPr>
          <p:txBody>
            <a:bodyPr anchor="ctr" rtlCol="false" tIns="0" lIns="0" bIns="0" rIns="0"/>
            <a:lstStyle/>
            <a:p>
              <a:pPr algn="l">
                <a:lnSpc>
                  <a:spcPts val="2400"/>
                </a:lnSpc>
              </a:pPr>
              <a:r>
                <a:rPr lang="en-US" sz="2000">
                  <a:solidFill>
                    <a:srgbClr val="9CA3AF"/>
                  </a:solidFill>
                  <a:latin typeface="Calibri (MS)"/>
                  <a:ea typeface="Calibri (MS)"/>
                  <a:cs typeface="Calibri (MS)"/>
                  <a:sym typeface="Calibri (MS)"/>
                </a:rPr>
                <a:t>Santiago, Chile · 2026</a:t>
              </a:r>
            </a:p>
          </p:txBody>
        </p:sp>
      </p:grpSp>
      <p:grpSp>
        <p:nvGrpSpPr>
          <p:cNvPr name="Group 27" id="27"/>
          <p:cNvGrpSpPr/>
          <p:nvPr/>
        </p:nvGrpSpPr>
        <p:grpSpPr>
          <a:xfrm rot="0">
            <a:off x="927106" y="1572768"/>
            <a:ext cx="4102098" cy="619551"/>
            <a:chOff x="0" y="0"/>
            <a:chExt cx="5469465" cy="826068"/>
          </a:xfrm>
        </p:grpSpPr>
        <p:sp>
          <p:nvSpPr>
            <p:cNvPr name="Freeform 28" id="28"/>
            <p:cNvSpPr/>
            <p:nvPr/>
          </p:nvSpPr>
          <p:spPr>
            <a:xfrm flipH="false" flipV="false" rot="0">
              <a:off x="0" y="0"/>
              <a:ext cx="5469465" cy="826068"/>
            </a:xfrm>
            <a:custGeom>
              <a:avLst/>
              <a:gdLst/>
              <a:ahLst/>
              <a:cxnLst/>
              <a:rect r="r" b="b" t="t" l="l"/>
              <a:pathLst>
                <a:path h="826068" w="5469465">
                  <a:moveTo>
                    <a:pt x="0" y="0"/>
                  </a:moveTo>
                  <a:lnTo>
                    <a:pt x="5469465" y="0"/>
                  </a:lnTo>
                  <a:lnTo>
                    <a:pt x="5469465" y="826068"/>
                  </a:lnTo>
                  <a:lnTo>
                    <a:pt x="0" y="826068"/>
                  </a:lnTo>
                  <a:close/>
                </a:path>
              </a:pathLst>
            </a:custGeom>
            <a:blipFill>
              <a:blip r:embed="rId3">
                <a:alphaModFix amt="0"/>
              </a:blip>
              <a:stretch>
                <a:fillRect l="0" t="-487823" r="-310154" b="-470474"/>
              </a:stretch>
            </a:blipFill>
          </p:spPr>
        </p:sp>
        <p:sp>
          <p:nvSpPr>
            <p:cNvPr name="TextBox 29" id="29"/>
            <p:cNvSpPr txBox="true"/>
            <p:nvPr/>
          </p:nvSpPr>
          <p:spPr>
            <a:xfrm>
              <a:off x="0" y="-66675"/>
              <a:ext cx="5469465" cy="892743"/>
            </a:xfrm>
            <a:prstGeom prst="rect">
              <a:avLst/>
            </a:prstGeom>
          </p:spPr>
          <p:txBody>
            <a:bodyPr anchor="ctr" rtlCol="false" tIns="0" lIns="0" bIns="0" rIns="0"/>
            <a:lstStyle/>
            <a:p>
              <a:pPr algn="l">
                <a:lnSpc>
                  <a:spcPts val="3719"/>
                </a:lnSpc>
              </a:pPr>
              <a:r>
                <a:rPr lang="en-US" sz="3099">
                  <a:solidFill>
                    <a:srgbClr val="9CA3AF"/>
                  </a:solidFill>
                  <a:latin typeface="Calibri (MS)"/>
                  <a:ea typeface="Calibri (MS)"/>
                  <a:cs typeface="Calibri (MS)"/>
                  <a:sym typeface="Calibri (MS)"/>
                </a:rPr>
                <a:t>Universidad Andrés Bello</a:t>
              </a:r>
            </a:p>
          </p:txBody>
        </p:sp>
      </p:grpSp>
      <p:sp>
        <p:nvSpPr>
          <p:cNvPr name="Freeform 30" id="30"/>
          <p:cNvSpPr/>
          <p:nvPr/>
        </p:nvSpPr>
        <p:spPr>
          <a:xfrm flipH="false" flipV="false" rot="0">
            <a:off x="15760065" y="91428"/>
            <a:ext cx="2228285" cy="1874544"/>
          </a:xfrm>
          <a:custGeom>
            <a:avLst/>
            <a:gdLst/>
            <a:ahLst/>
            <a:cxnLst/>
            <a:rect r="r" b="b" t="t" l="l"/>
            <a:pathLst>
              <a:path h="1874544" w="2228285">
                <a:moveTo>
                  <a:pt x="0" y="0"/>
                </a:moveTo>
                <a:lnTo>
                  <a:pt x="2228285" y="0"/>
                </a:lnTo>
                <a:lnTo>
                  <a:pt x="2228285" y="1874544"/>
                </a:lnTo>
                <a:lnTo>
                  <a:pt x="0" y="1874544"/>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219456"/>
            <a:ext cx="17007840" cy="1005840"/>
            <a:chOff x="0" y="0"/>
            <a:chExt cx="22677120" cy="1341120"/>
          </a:xfrm>
        </p:grpSpPr>
        <p:sp>
          <p:nvSpPr>
            <p:cNvPr name="Freeform 7" id="7"/>
            <p:cNvSpPr/>
            <p:nvPr/>
          </p:nvSpPr>
          <p:spPr>
            <a:xfrm flipH="false" flipV="false" rot="0">
              <a:off x="0" y="0"/>
              <a:ext cx="22677120" cy="1341120"/>
            </a:xfrm>
            <a:custGeom>
              <a:avLst/>
              <a:gdLst/>
              <a:ahLst/>
              <a:cxnLst/>
              <a:rect r="r" b="b" t="t" l="l"/>
              <a:pathLst>
                <a:path h="1341120" w="22677120">
                  <a:moveTo>
                    <a:pt x="0" y="0"/>
                  </a:moveTo>
                  <a:lnTo>
                    <a:pt x="22677120" y="0"/>
                  </a:lnTo>
                  <a:lnTo>
                    <a:pt x="22677120" y="1341120"/>
                  </a:lnTo>
                  <a:lnTo>
                    <a:pt x="0" y="1341120"/>
                  </a:lnTo>
                  <a:close/>
                </a:path>
              </a:pathLst>
            </a:custGeom>
            <a:blipFill>
              <a:blip r:embed="rId3">
                <a:alphaModFix amt="0"/>
              </a:blip>
              <a:stretch>
                <a:fillRect l="0" t="-279474" r="0" b="-279474"/>
              </a:stretch>
            </a:blipFill>
          </p:spPr>
        </p:sp>
        <p:sp>
          <p:nvSpPr>
            <p:cNvPr name="TextBox 8" id="8"/>
            <p:cNvSpPr txBox="true"/>
            <p:nvPr/>
          </p:nvSpPr>
          <p:spPr>
            <a:xfrm>
              <a:off x="0" y="-76200"/>
              <a:ext cx="22677120"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Incremento 1</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pSp>
        <p:nvGrpSpPr>
          <p:cNvPr name="Group 12" id="12"/>
          <p:cNvGrpSpPr/>
          <p:nvPr/>
        </p:nvGrpSpPr>
        <p:grpSpPr>
          <a:xfrm rot="0">
            <a:off x="640080" y="1426464"/>
            <a:ext cx="17007840" cy="1097280"/>
            <a:chOff x="0" y="0"/>
            <a:chExt cx="22677120" cy="1463040"/>
          </a:xfrm>
        </p:grpSpPr>
        <p:sp>
          <p:nvSpPr>
            <p:cNvPr name="Freeform 13" id="13"/>
            <p:cNvSpPr/>
            <p:nvPr/>
          </p:nvSpPr>
          <p:spPr>
            <a:xfrm flipH="false" flipV="false" rot="0">
              <a:off x="0" y="0"/>
              <a:ext cx="22677120" cy="1463040"/>
            </a:xfrm>
            <a:custGeom>
              <a:avLst/>
              <a:gdLst/>
              <a:ahLst/>
              <a:cxnLst/>
              <a:rect r="r" b="b" t="t" l="l"/>
              <a:pathLst>
                <a:path h="1463040" w="22677120">
                  <a:moveTo>
                    <a:pt x="0" y="0"/>
                  </a:moveTo>
                  <a:lnTo>
                    <a:pt x="22677120" y="0"/>
                  </a:lnTo>
                  <a:lnTo>
                    <a:pt x="22677120" y="1463040"/>
                  </a:lnTo>
                  <a:lnTo>
                    <a:pt x="0" y="1463040"/>
                  </a:lnTo>
                  <a:close/>
                </a:path>
              </a:pathLst>
            </a:custGeom>
            <a:blipFill>
              <a:blip r:embed="rId3">
                <a:alphaModFix amt="0"/>
              </a:blip>
              <a:stretch>
                <a:fillRect l="0" t="-252018" r="0" b="-252018"/>
              </a:stretch>
            </a:blipFill>
          </p:spPr>
        </p:sp>
        <p:sp>
          <p:nvSpPr>
            <p:cNvPr name="TextBox 14" id="14"/>
            <p:cNvSpPr txBox="true"/>
            <p:nvPr/>
          </p:nvSpPr>
          <p:spPr>
            <a:xfrm>
              <a:off x="0" y="-38100"/>
              <a:ext cx="22677120" cy="1501140"/>
            </a:xfrm>
            <a:prstGeom prst="rect">
              <a:avLst/>
            </a:prstGeom>
          </p:spPr>
          <p:txBody>
            <a:bodyPr anchor="ctr" rtlCol="false" tIns="0" lIns="0" bIns="0" rIns="0"/>
            <a:lstStyle/>
            <a:p>
              <a:pPr algn="l">
                <a:lnSpc>
                  <a:spcPts val="2879"/>
                </a:lnSpc>
              </a:pPr>
              <a:r>
                <a:rPr lang="en-US" sz="2400">
                  <a:solidFill>
                    <a:srgbClr val="D1D5DB"/>
                  </a:solidFill>
                  <a:latin typeface="Calibri (MS)"/>
                  <a:ea typeface="Calibri (MS)"/>
                  <a:cs typeface="Calibri (MS)"/>
                  <a:sym typeface="Calibri (MS)"/>
                </a:rPr>
                <a:t>Los requerimientos funcionales del sistema fueron levantados a partir de entrevistas con el usuario , enfocadas en sus necesidades respecto al sistema de gestión de inventario.</a:t>
              </a:r>
            </a:p>
          </p:txBody>
        </p:sp>
      </p:grpSp>
      <p:grpSp>
        <p:nvGrpSpPr>
          <p:cNvPr name="Group 15" id="15"/>
          <p:cNvGrpSpPr/>
          <p:nvPr/>
        </p:nvGrpSpPr>
        <p:grpSpPr>
          <a:xfrm rot="0">
            <a:off x="621030" y="2632710"/>
            <a:ext cx="5250180" cy="2781300"/>
            <a:chOff x="0" y="0"/>
            <a:chExt cx="7000240" cy="3708400"/>
          </a:xfrm>
        </p:grpSpPr>
        <p:sp>
          <p:nvSpPr>
            <p:cNvPr name="Freeform 16" id="16"/>
            <p:cNvSpPr/>
            <p:nvPr/>
          </p:nvSpPr>
          <p:spPr>
            <a:xfrm flipH="false" flipV="false" rot="0">
              <a:off x="0" y="0"/>
              <a:ext cx="7000240" cy="3708400"/>
            </a:xfrm>
            <a:custGeom>
              <a:avLst/>
              <a:gdLst/>
              <a:ahLst/>
              <a:cxnLst/>
              <a:rect r="r" b="b" t="t" l="l"/>
              <a:pathLst>
                <a:path h="3708400" w="7000240">
                  <a:moveTo>
                    <a:pt x="0" y="0"/>
                  </a:moveTo>
                  <a:lnTo>
                    <a:pt x="7000240" y="0"/>
                  </a:lnTo>
                  <a:lnTo>
                    <a:pt x="7000240" y="3708400"/>
                  </a:lnTo>
                  <a:lnTo>
                    <a:pt x="0" y="3708400"/>
                  </a:lnTo>
                  <a:close/>
                </a:path>
              </a:pathLst>
            </a:custGeom>
            <a:solidFill>
              <a:srgbClr val="2E2E2E"/>
            </a:solidFill>
            <a:ln w="38100" cap="sq">
              <a:solidFill>
                <a:srgbClr val="F47920"/>
              </a:solidFill>
              <a:prstDash val="solid"/>
              <a:miter/>
            </a:ln>
          </p:spPr>
        </p:sp>
      </p:grpSp>
      <p:grpSp>
        <p:nvGrpSpPr>
          <p:cNvPr name="Group 17" id="17"/>
          <p:cNvGrpSpPr/>
          <p:nvPr/>
        </p:nvGrpSpPr>
        <p:grpSpPr>
          <a:xfrm rot="0">
            <a:off x="822960" y="2834640"/>
            <a:ext cx="4846320" cy="1508760"/>
            <a:chOff x="0" y="0"/>
            <a:chExt cx="6461760" cy="2011680"/>
          </a:xfrm>
        </p:grpSpPr>
        <p:sp>
          <p:nvSpPr>
            <p:cNvPr name="Freeform 18" id="18"/>
            <p:cNvSpPr/>
            <p:nvPr/>
          </p:nvSpPr>
          <p:spPr>
            <a:xfrm flipH="false" flipV="false" rot="0">
              <a:off x="0" y="0"/>
              <a:ext cx="6461760" cy="2011680"/>
            </a:xfrm>
            <a:custGeom>
              <a:avLst/>
              <a:gdLst/>
              <a:ahLst/>
              <a:cxnLst/>
              <a:rect r="r" b="b" t="t" l="l"/>
              <a:pathLst>
                <a:path h="2011680" w="6461760">
                  <a:moveTo>
                    <a:pt x="0" y="0"/>
                  </a:moveTo>
                  <a:lnTo>
                    <a:pt x="6461760" y="0"/>
                  </a:lnTo>
                  <a:lnTo>
                    <a:pt x="6461760" y="2011680"/>
                  </a:lnTo>
                  <a:lnTo>
                    <a:pt x="0" y="2011680"/>
                  </a:lnTo>
                  <a:close/>
                </a:path>
              </a:pathLst>
            </a:custGeom>
            <a:blipFill>
              <a:blip r:embed="rId3">
                <a:alphaModFix amt="0"/>
              </a:blip>
              <a:stretch>
                <a:fillRect l="0" t="-12588" r="0" b="-12588"/>
              </a:stretch>
            </a:blipFill>
          </p:spPr>
        </p:sp>
        <p:sp>
          <p:nvSpPr>
            <p:cNvPr name="TextBox 19" id="19"/>
            <p:cNvSpPr txBox="true"/>
            <p:nvPr/>
          </p:nvSpPr>
          <p:spPr>
            <a:xfrm>
              <a:off x="0" y="-123825"/>
              <a:ext cx="6461760" cy="2135505"/>
            </a:xfrm>
            <a:prstGeom prst="rect">
              <a:avLst/>
            </a:prstGeom>
          </p:spPr>
          <p:txBody>
            <a:bodyPr anchor="b" rtlCol="false" tIns="0" lIns="0" bIns="0" rIns="0"/>
            <a:lstStyle/>
            <a:p>
              <a:pPr algn="ctr">
                <a:lnSpc>
                  <a:spcPts val="7680"/>
                </a:lnSpc>
              </a:pPr>
              <a:r>
                <a:rPr lang="en-US" sz="6400" b="true">
                  <a:solidFill>
                    <a:srgbClr val="F47920"/>
                  </a:solidFill>
                  <a:latin typeface="Calibri (MS) Bold"/>
                  <a:ea typeface="Calibri (MS) Bold"/>
                  <a:cs typeface="Calibri (MS) Bold"/>
                  <a:sym typeface="Calibri (MS) Bold"/>
                </a:rPr>
                <a:t>83</a:t>
              </a:r>
            </a:p>
          </p:txBody>
        </p:sp>
      </p:grpSp>
      <p:sp>
        <p:nvSpPr>
          <p:cNvPr name="TextBox 20" id="20"/>
          <p:cNvSpPr txBox="true"/>
          <p:nvPr/>
        </p:nvSpPr>
        <p:spPr>
          <a:xfrm rot="0">
            <a:off x="822960" y="4250055"/>
            <a:ext cx="4846320" cy="1090041"/>
          </a:xfrm>
          <a:prstGeom prst="rect">
            <a:avLst/>
          </a:prstGeom>
        </p:spPr>
        <p:txBody>
          <a:bodyPr anchor="t" rtlCol="false" tIns="0" lIns="0" bIns="0" rIns="0">
            <a:spAutoFit/>
          </a:bodyPr>
          <a:lstStyle/>
          <a:p>
            <a:pPr algn="ctr">
              <a:lnSpc>
                <a:spcPts val="2640"/>
              </a:lnSpc>
            </a:pPr>
            <a:r>
              <a:rPr lang="en-US" sz="2200">
                <a:solidFill>
                  <a:srgbClr val="D1D5DB"/>
                </a:solidFill>
                <a:latin typeface="Calibri (MS)"/>
                <a:ea typeface="Calibri (MS)"/>
                <a:cs typeface="Calibri (MS)"/>
                <a:sym typeface="Calibri (MS)"/>
              </a:rPr>
              <a:t>Requerimientos</a:t>
            </a:r>
          </a:p>
          <a:p>
            <a:pPr algn="ctr">
              <a:lnSpc>
                <a:spcPts val="2640"/>
              </a:lnSpc>
            </a:pPr>
            <a:r>
              <a:rPr lang="en-US" sz="2200">
                <a:solidFill>
                  <a:srgbClr val="D1D5DB"/>
                </a:solidFill>
                <a:latin typeface="Calibri (MS)"/>
                <a:ea typeface="Calibri (MS)"/>
                <a:cs typeface="Calibri (MS)"/>
                <a:sym typeface="Calibri (MS)"/>
              </a:rPr>
              <a:t>Funcionales totales</a:t>
            </a:r>
          </a:p>
        </p:txBody>
      </p:sp>
      <p:grpSp>
        <p:nvGrpSpPr>
          <p:cNvPr name="Group 21" id="21"/>
          <p:cNvGrpSpPr/>
          <p:nvPr/>
        </p:nvGrpSpPr>
        <p:grpSpPr>
          <a:xfrm rot="0">
            <a:off x="6198870" y="2632710"/>
            <a:ext cx="5250180" cy="2781300"/>
            <a:chOff x="0" y="0"/>
            <a:chExt cx="7000240" cy="3708400"/>
          </a:xfrm>
        </p:grpSpPr>
        <p:sp>
          <p:nvSpPr>
            <p:cNvPr name="Freeform 22" id="22"/>
            <p:cNvSpPr/>
            <p:nvPr/>
          </p:nvSpPr>
          <p:spPr>
            <a:xfrm flipH="false" flipV="false" rot="0">
              <a:off x="0" y="0"/>
              <a:ext cx="7000240" cy="3708400"/>
            </a:xfrm>
            <a:custGeom>
              <a:avLst/>
              <a:gdLst/>
              <a:ahLst/>
              <a:cxnLst/>
              <a:rect r="r" b="b" t="t" l="l"/>
              <a:pathLst>
                <a:path h="3708400" w="7000240">
                  <a:moveTo>
                    <a:pt x="0" y="0"/>
                  </a:moveTo>
                  <a:lnTo>
                    <a:pt x="7000240" y="0"/>
                  </a:lnTo>
                  <a:lnTo>
                    <a:pt x="7000240" y="3708400"/>
                  </a:lnTo>
                  <a:lnTo>
                    <a:pt x="0" y="3708400"/>
                  </a:lnTo>
                  <a:close/>
                </a:path>
              </a:pathLst>
            </a:custGeom>
            <a:solidFill>
              <a:srgbClr val="2E2E2E"/>
            </a:solidFill>
            <a:ln w="38100" cap="sq">
              <a:solidFill>
                <a:srgbClr val="FF9A45"/>
              </a:solidFill>
              <a:prstDash val="solid"/>
              <a:miter/>
            </a:ln>
          </p:spPr>
        </p:sp>
      </p:grpSp>
      <p:grpSp>
        <p:nvGrpSpPr>
          <p:cNvPr name="Group 23" id="23"/>
          <p:cNvGrpSpPr/>
          <p:nvPr/>
        </p:nvGrpSpPr>
        <p:grpSpPr>
          <a:xfrm rot="0">
            <a:off x="6400800" y="2834640"/>
            <a:ext cx="4846320" cy="1508760"/>
            <a:chOff x="0" y="0"/>
            <a:chExt cx="6461760" cy="2011680"/>
          </a:xfrm>
        </p:grpSpPr>
        <p:sp>
          <p:nvSpPr>
            <p:cNvPr name="Freeform 24" id="24"/>
            <p:cNvSpPr/>
            <p:nvPr/>
          </p:nvSpPr>
          <p:spPr>
            <a:xfrm flipH="false" flipV="false" rot="0">
              <a:off x="0" y="0"/>
              <a:ext cx="6461760" cy="2011680"/>
            </a:xfrm>
            <a:custGeom>
              <a:avLst/>
              <a:gdLst/>
              <a:ahLst/>
              <a:cxnLst/>
              <a:rect r="r" b="b" t="t" l="l"/>
              <a:pathLst>
                <a:path h="2011680" w="6461760">
                  <a:moveTo>
                    <a:pt x="0" y="0"/>
                  </a:moveTo>
                  <a:lnTo>
                    <a:pt x="6461760" y="0"/>
                  </a:lnTo>
                  <a:lnTo>
                    <a:pt x="6461760" y="2011680"/>
                  </a:lnTo>
                  <a:lnTo>
                    <a:pt x="0" y="2011680"/>
                  </a:lnTo>
                  <a:close/>
                </a:path>
              </a:pathLst>
            </a:custGeom>
            <a:blipFill>
              <a:blip r:embed="rId3">
                <a:alphaModFix amt="0"/>
              </a:blip>
              <a:stretch>
                <a:fillRect l="0" t="-12588" r="0" b="-12588"/>
              </a:stretch>
            </a:blipFill>
          </p:spPr>
        </p:sp>
        <p:sp>
          <p:nvSpPr>
            <p:cNvPr name="TextBox 25" id="25"/>
            <p:cNvSpPr txBox="true"/>
            <p:nvPr/>
          </p:nvSpPr>
          <p:spPr>
            <a:xfrm>
              <a:off x="0" y="-123825"/>
              <a:ext cx="6461760" cy="2135505"/>
            </a:xfrm>
            <a:prstGeom prst="rect">
              <a:avLst/>
            </a:prstGeom>
          </p:spPr>
          <p:txBody>
            <a:bodyPr anchor="b" rtlCol="false" tIns="0" lIns="0" bIns="0" rIns="0"/>
            <a:lstStyle/>
            <a:p>
              <a:pPr algn="ctr">
                <a:lnSpc>
                  <a:spcPts val="7680"/>
                </a:lnSpc>
              </a:pPr>
              <a:r>
                <a:rPr lang="en-US" sz="6400" b="true">
                  <a:solidFill>
                    <a:srgbClr val="FF9A45"/>
                  </a:solidFill>
                  <a:latin typeface="Calibri (MS) Bold"/>
                  <a:ea typeface="Calibri (MS) Bold"/>
                  <a:cs typeface="Calibri (MS) Bold"/>
                  <a:sym typeface="Calibri (MS) Bold"/>
                </a:rPr>
                <a:t>28</a:t>
              </a:r>
            </a:p>
          </p:txBody>
        </p:sp>
      </p:grpSp>
      <p:sp>
        <p:nvSpPr>
          <p:cNvPr name="TextBox 26" id="26"/>
          <p:cNvSpPr txBox="true"/>
          <p:nvPr/>
        </p:nvSpPr>
        <p:spPr>
          <a:xfrm rot="0">
            <a:off x="6400800" y="4250055"/>
            <a:ext cx="4846320" cy="1090041"/>
          </a:xfrm>
          <a:prstGeom prst="rect">
            <a:avLst/>
          </a:prstGeom>
        </p:spPr>
        <p:txBody>
          <a:bodyPr anchor="t" rtlCol="false" tIns="0" lIns="0" bIns="0" rIns="0">
            <a:spAutoFit/>
          </a:bodyPr>
          <a:lstStyle/>
          <a:p>
            <a:pPr algn="ctr">
              <a:lnSpc>
                <a:spcPts val="2640"/>
              </a:lnSpc>
            </a:pPr>
            <a:r>
              <a:rPr lang="en-US" sz="2200">
                <a:solidFill>
                  <a:srgbClr val="D1D5DB"/>
                </a:solidFill>
                <a:latin typeface="Calibri (MS)"/>
                <a:ea typeface="Calibri (MS)"/>
                <a:cs typeface="Calibri (MS)"/>
                <a:sym typeface="Calibri (MS)"/>
              </a:rPr>
              <a:t>RF contemplados</a:t>
            </a:r>
          </a:p>
          <a:p>
            <a:pPr algn="ctr">
              <a:lnSpc>
                <a:spcPts val="2640"/>
              </a:lnSpc>
            </a:pPr>
            <a:r>
              <a:rPr lang="en-US" sz="2200">
                <a:solidFill>
                  <a:srgbClr val="D1D5DB"/>
                </a:solidFill>
                <a:latin typeface="Calibri (MS)"/>
                <a:ea typeface="Calibri (MS)"/>
                <a:cs typeface="Calibri (MS)"/>
                <a:sym typeface="Calibri (MS)"/>
              </a:rPr>
              <a:t>en Incremento 1</a:t>
            </a:r>
          </a:p>
        </p:txBody>
      </p:sp>
      <p:grpSp>
        <p:nvGrpSpPr>
          <p:cNvPr name="Group 27" id="27"/>
          <p:cNvGrpSpPr/>
          <p:nvPr/>
        </p:nvGrpSpPr>
        <p:grpSpPr>
          <a:xfrm rot="0">
            <a:off x="11776710" y="2632710"/>
            <a:ext cx="5890260" cy="2781300"/>
            <a:chOff x="0" y="0"/>
            <a:chExt cx="7853680" cy="3708400"/>
          </a:xfrm>
        </p:grpSpPr>
        <p:sp>
          <p:nvSpPr>
            <p:cNvPr name="Freeform 28" id="28"/>
            <p:cNvSpPr/>
            <p:nvPr/>
          </p:nvSpPr>
          <p:spPr>
            <a:xfrm flipH="false" flipV="false" rot="0">
              <a:off x="0" y="0"/>
              <a:ext cx="7853680" cy="3708400"/>
            </a:xfrm>
            <a:custGeom>
              <a:avLst/>
              <a:gdLst/>
              <a:ahLst/>
              <a:cxnLst/>
              <a:rect r="r" b="b" t="t" l="l"/>
              <a:pathLst>
                <a:path h="3708400" w="7853680">
                  <a:moveTo>
                    <a:pt x="0" y="0"/>
                  </a:moveTo>
                  <a:lnTo>
                    <a:pt x="7853680" y="0"/>
                  </a:lnTo>
                  <a:lnTo>
                    <a:pt x="7853680" y="3708400"/>
                  </a:lnTo>
                  <a:lnTo>
                    <a:pt x="0" y="3708400"/>
                  </a:lnTo>
                  <a:close/>
                </a:path>
              </a:pathLst>
            </a:custGeom>
            <a:solidFill>
              <a:srgbClr val="2E2E2E"/>
            </a:solidFill>
            <a:ln w="38100" cap="sq">
              <a:solidFill>
                <a:srgbClr val="F47920"/>
              </a:solidFill>
              <a:prstDash val="solid"/>
              <a:miter/>
            </a:ln>
          </p:spPr>
        </p:sp>
      </p:grpSp>
      <p:grpSp>
        <p:nvGrpSpPr>
          <p:cNvPr name="Group 29" id="29"/>
          <p:cNvGrpSpPr/>
          <p:nvPr/>
        </p:nvGrpSpPr>
        <p:grpSpPr>
          <a:xfrm rot="0">
            <a:off x="11978640" y="2834640"/>
            <a:ext cx="5486400" cy="1508760"/>
            <a:chOff x="0" y="0"/>
            <a:chExt cx="7315200" cy="2011680"/>
          </a:xfrm>
        </p:grpSpPr>
        <p:sp>
          <p:nvSpPr>
            <p:cNvPr name="Freeform 30" id="30"/>
            <p:cNvSpPr/>
            <p:nvPr/>
          </p:nvSpPr>
          <p:spPr>
            <a:xfrm flipH="false" flipV="false" rot="0">
              <a:off x="0" y="0"/>
              <a:ext cx="7315200" cy="2011680"/>
            </a:xfrm>
            <a:custGeom>
              <a:avLst/>
              <a:gdLst/>
              <a:ahLst/>
              <a:cxnLst/>
              <a:rect r="r" b="b" t="t" l="l"/>
              <a:pathLst>
                <a:path h="2011680" w="7315200">
                  <a:moveTo>
                    <a:pt x="0" y="0"/>
                  </a:moveTo>
                  <a:lnTo>
                    <a:pt x="7315200" y="0"/>
                  </a:lnTo>
                  <a:lnTo>
                    <a:pt x="7315200" y="2011680"/>
                  </a:lnTo>
                  <a:lnTo>
                    <a:pt x="0" y="2011680"/>
                  </a:lnTo>
                  <a:close/>
                </a:path>
              </a:pathLst>
            </a:custGeom>
            <a:blipFill>
              <a:blip r:embed="rId3">
                <a:alphaModFix amt="0"/>
              </a:blip>
              <a:stretch>
                <a:fillRect l="0" t="-20854" r="0" b="-20854"/>
              </a:stretch>
            </a:blipFill>
          </p:spPr>
        </p:sp>
        <p:sp>
          <p:nvSpPr>
            <p:cNvPr name="TextBox 31" id="31"/>
            <p:cNvSpPr txBox="true"/>
            <p:nvPr/>
          </p:nvSpPr>
          <p:spPr>
            <a:xfrm>
              <a:off x="0" y="-123825"/>
              <a:ext cx="7315200" cy="2135505"/>
            </a:xfrm>
            <a:prstGeom prst="rect">
              <a:avLst/>
            </a:prstGeom>
          </p:spPr>
          <p:txBody>
            <a:bodyPr anchor="b" rtlCol="false" tIns="0" lIns="0" bIns="0" rIns="0"/>
            <a:lstStyle/>
            <a:p>
              <a:pPr algn="ctr">
                <a:lnSpc>
                  <a:spcPts val="7680"/>
                </a:lnSpc>
              </a:pPr>
              <a:r>
                <a:rPr lang="en-US" sz="6400" b="true">
                  <a:solidFill>
                    <a:srgbClr val="F47920"/>
                  </a:solidFill>
                  <a:latin typeface="Calibri (MS) Bold"/>
                  <a:ea typeface="Calibri (MS) Bold"/>
                  <a:cs typeface="Calibri (MS) Bold"/>
                  <a:sym typeface="Calibri (MS) Bold"/>
                </a:rPr>
                <a:t>33,73%</a:t>
              </a:r>
            </a:p>
          </p:txBody>
        </p:sp>
      </p:grpSp>
      <p:sp>
        <p:nvSpPr>
          <p:cNvPr name="TextBox 32" id="32"/>
          <p:cNvSpPr txBox="true"/>
          <p:nvPr/>
        </p:nvSpPr>
        <p:spPr>
          <a:xfrm rot="0">
            <a:off x="11978640" y="4250055"/>
            <a:ext cx="5486400" cy="1090041"/>
          </a:xfrm>
          <a:prstGeom prst="rect">
            <a:avLst/>
          </a:prstGeom>
        </p:spPr>
        <p:txBody>
          <a:bodyPr anchor="t" rtlCol="false" tIns="0" lIns="0" bIns="0" rIns="0">
            <a:spAutoFit/>
          </a:bodyPr>
          <a:lstStyle/>
          <a:p>
            <a:pPr algn="ctr">
              <a:lnSpc>
                <a:spcPts val="2640"/>
              </a:lnSpc>
            </a:pPr>
            <a:r>
              <a:rPr lang="en-US" sz="2200">
                <a:solidFill>
                  <a:srgbClr val="D1D5DB"/>
                </a:solidFill>
                <a:latin typeface="Calibri (MS)"/>
                <a:ea typeface="Calibri (MS)"/>
                <a:cs typeface="Calibri (MS)"/>
                <a:sym typeface="Calibri (MS)"/>
              </a:rPr>
              <a:t>Del total de RF</a:t>
            </a:r>
          </a:p>
          <a:p>
            <a:pPr algn="ctr">
              <a:lnSpc>
                <a:spcPts val="2640"/>
              </a:lnSpc>
            </a:pPr>
            <a:r>
              <a:rPr lang="en-US" sz="2200">
                <a:solidFill>
                  <a:srgbClr val="D1D5DB"/>
                </a:solidFill>
                <a:latin typeface="Calibri (MS)"/>
                <a:ea typeface="Calibri (MS)"/>
                <a:cs typeface="Calibri (MS)"/>
                <a:sym typeface="Calibri (MS)"/>
              </a:rPr>
              <a:t>cubiertos en Inc. 1</a:t>
            </a:r>
          </a:p>
        </p:txBody>
      </p:sp>
      <p:grpSp>
        <p:nvGrpSpPr>
          <p:cNvPr name="Group 33" id="33"/>
          <p:cNvGrpSpPr/>
          <p:nvPr/>
        </p:nvGrpSpPr>
        <p:grpSpPr>
          <a:xfrm rot="0">
            <a:off x="8789413" y="5643877"/>
            <a:ext cx="50797" cy="690877"/>
            <a:chOff x="0" y="0"/>
            <a:chExt cx="67729" cy="921169"/>
          </a:xfrm>
        </p:grpSpPr>
        <p:sp>
          <p:nvSpPr>
            <p:cNvPr name="Freeform 34" id="34"/>
            <p:cNvSpPr/>
            <p:nvPr/>
          </p:nvSpPr>
          <p:spPr>
            <a:xfrm flipH="false" flipV="false" rot="0">
              <a:off x="0" y="0"/>
              <a:ext cx="67691" cy="921131"/>
            </a:xfrm>
            <a:custGeom>
              <a:avLst/>
              <a:gdLst/>
              <a:ahLst/>
              <a:cxnLst/>
              <a:rect r="r" b="b" t="t" l="l"/>
              <a:pathLst>
                <a:path h="921131" w="67691">
                  <a:moveTo>
                    <a:pt x="0" y="0"/>
                  </a:moveTo>
                  <a:lnTo>
                    <a:pt x="67691" y="921131"/>
                  </a:lnTo>
                </a:path>
              </a:pathLst>
            </a:custGeom>
            <a:blipFill>
              <a:blip r:embed="rId3">
                <a:alphaModFix amt="0"/>
              </a:blip>
              <a:stretch>
                <a:fillRect l="-1695983" t="0" r="-1696039" b="-4"/>
              </a:stretch>
            </a:blipFill>
            <a:ln w="50800" cap="sq">
              <a:solidFill>
                <a:srgbClr val="F47920"/>
              </a:solidFill>
              <a:prstDash val="solid"/>
              <a:miter/>
            </a:ln>
          </p:spPr>
        </p:sp>
      </p:grpSp>
      <p:grpSp>
        <p:nvGrpSpPr>
          <p:cNvPr name="Group 35" id="35"/>
          <p:cNvGrpSpPr/>
          <p:nvPr/>
        </p:nvGrpSpPr>
        <p:grpSpPr>
          <a:xfrm rot="0">
            <a:off x="621030" y="6381750"/>
            <a:ext cx="5250180" cy="2872740"/>
            <a:chOff x="0" y="0"/>
            <a:chExt cx="7000240" cy="3830320"/>
          </a:xfrm>
        </p:grpSpPr>
        <p:sp>
          <p:nvSpPr>
            <p:cNvPr name="Freeform 36" id="36"/>
            <p:cNvSpPr/>
            <p:nvPr/>
          </p:nvSpPr>
          <p:spPr>
            <a:xfrm flipH="false" flipV="false" rot="0">
              <a:off x="0" y="0"/>
              <a:ext cx="7000240" cy="3830320"/>
            </a:xfrm>
            <a:custGeom>
              <a:avLst/>
              <a:gdLst/>
              <a:ahLst/>
              <a:cxnLst/>
              <a:rect r="r" b="b" t="t" l="l"/>
              <a:pathLst>
                <a:path h="3830320" w="7000240">
                  <a:moveTo>
                    <a:pt x="0" y="0"/>
                  </a:moveTo>
                  <a:lnTo>
                    <a:pt x="7000240" y="0"/>
                  </a:lnTo>
                  <a:lnTo>
                    <a:pt x="7000240" y="3830320"/>
                  </a:lnTo>
                  <a:lnTo>
                    <a:pt x="0" y="3830320"/>
                  </a:lnTo>
                  <a:close/>
                </a:path>
              </a:pathLst>
            </a:custGeom>
            <a:solidFill>
              <a:srgbClr val="2E2E2E"/>
            </a:solidFill>
            <a:ln w="38100" cap="sq">
              <a:solidFill>
                <a:srgbClr val="9CA3AF"/>
              </a:solidFill>
              <a:prstDash val="solid"/>
              <a:miter/>
            </a:ln>
          </p:spPr>
        </p:sp>
      </p:grpSp>
      <p:grpSp>
        <p:nvGrpSpPr>
          <p:cNvPr name="Group 37" id="37"/>
          <p:cNvGrpSpPr/>
          <p:nvPr/>
        </p:nvGrpSpPr>
        <p:grpSpPr>
          <a:xfrm rot="0">
            <a:off x="822960" y="6583680"/>
            <a:ext cx="4846320" cy="1559052"/>
            <a:chOff x="0" y="0"/>
            <a:chExt cx="6461760" cy="2078736"/>
          </a:xfrm>
        </p:grpSpPr>
        <p:sp>
          <p:nvSpPr>
            <p:cNvPr name="Freeform 38" id="38"/>
            <p:cNvSpPr/>
            <p:nvPr/>
          </p:nvSpPr>
          <p:spPr>
            <a:xfrm flipH="false" flipV="false" rot="0">
              <a:off x="0" y="0"/>
              <a:ext cx="6461760" cy="2078736"/>
            </a:xfrm>
            <a:custGeom>
              <a:avLst/>
              <a:gdLst/>
              <a:ahLst/>
              <a:cxnLst/>
              <a:rect r="r" b="b" t="t" l="l"/>
              <a:pathLst>
                <a:path h="2078736" w="6461760">
                  <a:moveTo>
                    <a:pt x="0" y="0"/>
                  </a:moveTo>
                  <a:lnTo>
                    <a:pt x="6461760" y="0"/>
                  </a:lnTo>
                  <a:lnTo>
                    <a:pt x="6461760" y="2078736"/>
                  </a:lnTo>
                  <a:lnTo>
                    <a:pt x="0" y="2078736"/>
                  </a:lnTo>
                  <a:close/>
                </a:path>
              </a:pathLst>
            </a:custGeom>
            <a:blipFill>
              <a:blip r:embed="rId3">
                <a:alphaModFix amt="0"/>
              </a:blip>
              <a:stretch>
                <a:fillRect l="0" t="-10569" r="0" b="-10569"/>
              </a:stretch>
            </a:blipFill>
          </p:spPr>
        </p:sp>
        <p:sp>
          <p:nvSpPr>
            <p:cNvPr name="TextBox 39" id="39"/>
            <p:cNvSpPr txBox="true"/>
            <p:nvPr/>
          </p:nvSpPr>
          <p:spPr>
            <a:xfrm>
              <a:off x="0" y="-123825"/>
              <a:ext cx="6461760" cy="2202561"/>
            </a:xfrm>
            <a:prstGeom prst="rect">
              <a:avLst/>
            </a:prstGeom>
          </p:spPr>
          <p:txBody>
            <a:bodyPr anchor="b" rtlCol="false" tIns="0" lIns="0" bIns="0" rIns="0"/>
            <a:lstStyle/>
            <a:p>
              <a:pPr algn="ctr">
                <a:lnSpc>
                  <a:spcPts val="7680"/>
                </a:lnSpc>
              </a:pPr>
              <a:r>
                <a:rPr lang="en-US" sz="6400" b="true">
                  <a:solidFill>
                    <a:srgbClr val="9CA3AF"/>
                  </a:solidFill>
                  <a:latin typeface="Calibri (MS) Bold"/>
                  <a:ea typeface="Calibri (MS) Bold"/>
                  <a:cs typeface="Calibri (MS) Bold"/>
                  <a:sym typeface="Calibri (MS) Bold"/>
                </a:rPr>
                <a:t>28</a:t>
              </a:r>
            </a:p>
          </p:txBody>
        </p:sp>
      </p:grpSp>
      <p:sp>
        <p:nvSpPr>
          <p:cNvPr name="TextBox 40" id="40"/>
          <p:cNvSpPr txBox="true"/>
          <p:nvPr/>
        </p:nvSpPr>
        <p:spPr>
          <a:xfrm rot="0">
            <a:off x="822960" y="8053959"/>
            <a:ext cx="4846320" cy="1124788"/>
          </a:xfrm>
          <a:prstGeom prst="rect">
            <a:avLst/>
          </a:prstGeom>
        </p:spPr>
        <p:txBody>
          <a:bodyPr anchor="t" rtlCol="false" tIns="0" lIns="0" bIns="0" rIns="0">
            <a:spAutoFit/>
          </a:bodyPr>
          <a:lstStyle/>
          <a:p>
            <a:pPr algn="ctr">
              <a:lnSpc>
                <a:spcPts val="2640"/>
              </a:lnSpc>
            </a:pPr>
            <a:r>
              <a:rPr lang="en-US" sz="2200">
                <a:solidFill>
                  <a:srgbClr val="D1D5DB"/>
                </a:solidFill>
                <a:latin typeface="Calibri (MS)"/>
                <a:ea typeface="Calibri (MS)"/>
                <a:cs typeface="Calibri (MS)"/>
                <a:sym typeface="Calibri (MS)"/>
              </a:rPr>
              <a:t>Requerimientos</a:t>
            </a:r>
          </a:p>
          <a:p>
            <a:pPr algn="ctr">
              <a:lnSpc>
                <a:spcPts val="2640"/>
              </a:lnSpc>
            </a:pPr>
            <a:r>
              <a:rPr lang="en-US" sz="2200">
                <a:solidFill>
                  <a:srgbClr val="D1D5DB"/>
                </a:solidFill>
                <a:latin typeface="Calibri (MS)"/>
                <a:ea typeface="Calibri (MS)"/>
                <a:cs typeface="Calibri (MS)"/>
                <a:sym typeface="Calibri (MS)"/>
              </a:rPr>
              <a:t>de Usuario (UR)</a:t>
            </a:r>
          </a:p>
        </p:txBody>
      </p:sp>
      <p:grpSp>
        <p:nvGrpSpPr>
          <p:cNvPr name="Group 41" id="41"/>
          <p:cNvGrpSpPr/>
          <p:nvPr/>
        </p:nvGrpSpPr>
        <p:grpSpPr>
          <a:xfrm rot="0">
            <a:off x="6198870" y="6381750"/>
            <a:ext cx="5250180" cy="2872740"/>
            <a:chOff x="0" y="0"/>
            <a:chExt cx="7000240" cy="3830320"/>
          </a:xfrm>
        </p:grpSpPr>
        <p:sp>
          <p:nvSpPr>
            <p:cNvPr name="Freeform 42" id="42"/>
            <p:cNvSpPr/>
            <p:nvPr/>
          </p:nvSpPr>
          <p:spPr>
            <a:xfrm flipH="false" flipV="false" rot="0">
              <a:off x="0" y="0"/>
              <a:ext cx="7000240" cy="3830320"/>
            </a:xfrm>
            <a:custGeom>
              <a:avLst/>
              <a:gdLst/>
              <a:ahLst/>
              <a:cxnLst/>
              <a:rect r="r" b="b" t="t" l="l"/>
              <a:pathLst>
                <a:path h="3830320" w="7000240">
                  <a:moveTo>
                    <a:pt x="0" y="0"/>
                  </a:moveTo>
                  <a:lnTo>
                    <a:pt x="7000240" y="0"/>
                  </a:lnTo>
                  <a:lnTo>
                    <a:pt x="7000240" y="3830320"/>
                  </a:lnTo>
                  <a:lnTo>
                    <a:pt x="0" y="3830320"/>
                  </a:lnTo>
                  <a:close/>
                </a:path>
              </a:pathLst>
            </a:custGeom>
            <a:solidFill>
              <a:srgbClr val="2E2E2E"/>
            </a:solidFill>
            <a:ln w="38100" cap="sq">
              <a:solidFill>
                <a:srgbClr val="9CA3AF"/>
              </a:solidFill>
              <a:prstDash val="solid"/>
              <a:miter/>
            </a:ln>
          </p:spPr>
        </p:sp>
      </p:grpSp>
      <p:grpSp>
        <p:nvGrpSpPr>
          <p:cNvPr name="Group 43" id="43"/>
          <p:cNvGrpSpPr/>
          <p:nvPr/>
        </p:nvGrpSpPr>
        <p:grpSpPr>
          <a:xfrm rot="0">
            <a:off x="6400800" y="6583680"/>
            <a:ext cx="4846320" cy="1559052"/>
            <a:chOff x="0" y="0"/>
            <a:chExt cx="6461760" cy="2078736"/>
          </a:xfrm>
        </p:grpSpPr>
        <p:sp>
          <p:nvSpPr>
            <p:cNvPr name="Freeform 44" id="44"/>
            <p:cNvSpPr/>
            <p:nvPr/>
          </p:nvSpPr>
          <p:spPr>
            <a:xfrm flipH="false" flipV="false" rot="0">
              <a:off x="0" y="0"/>
              <a:ext cx="6461760" cy="2078736"/>
            </a:xfrm>
            <a:custGeom>
              <a:avLst/>
              <a:gdLst/>
              <a:ahLst/>
              <a:cxnLst/>
              <a:rect r="r" b="b" t="t" l="l"/>
              <a:pathLst>
                <a:path h="2078736" w="6461760">
                  <a:moveTo>
                    <a:pt x="0" y="0"/>
                  </a:moveTo>
                  <a:lnTo>
                    <a:pt x="6461760" y="0"/>
                  </a:lnTo>
                  <a:lnTo>
                    <a:pt x="6461760" y="2078736"/>
                  </a:lnTo>
                  <a:lnTo>
                    <a:pt x="0" y="2078736"/>
                  </a:lnTo>
                  <a:close/>
                </a:path>
              </a:pathLst>
            </a:custGeom>
            <a:blipFill>
              <a:blip r:embed="rId3">
                <a:alphaModFix amt="0"/>
              </a:blip>
              <a:stretch>
                <a:fillRect l="0" t="-10569" r="0" b="-10569"/>
              </a:stretch>
            </a:blipFill>
          </p:spPr>
        </p:sp>
        <p:sp>
          <p:nvSpPr>
            <p:cNvPr name="TextBox 45" id="45"/>
            <p:cNvSpPr txBox="true"/>
            <p:nvPr/>
          </p:nvSpPr>
          <p:spPr>
            <a:xfrm>
              <a:off x="0" y="-123825"/>
              <a:ext cx="6461760" cy="2202561"/>
            </a:xfrm>
            <a:prstGeom prst="rect">
              <a:avLst/>
            </a:prstGeom>
          </p:spPr>
          <p:txBody>
            <a:bodyPr anchor="b" rtlCol="false" tIns="0" lIns="0" bIns="0" rIns="0"/>
            <a:lstStyle/>
            <a:p>
              <a:pPr algn="ctr">
                <a:lnSpc>
                  <a:spcPts val="7680"/>
                </a:lnSpc>
              </a:pPr>
              <a:r>
                <a:rPr lang="en-US" sz="6400" b="true">
                  <a:solidFill>
                    <a:srgbClr val="9CA3AF"/>
                  </a:solidFill>
                  <a:latin typeface="Calibri (MS) Bold"/>
                  <a:ea typeface="Calibri (MS) Bold"/>
                  <a:cs typeface="Calibri (MS) Bold"/>
                  <a:sym typeface="Calibri (MS) Bold"/>
                </a:rPr>
                <a:t>41</a:t>
              </a:r>
            </a:p>
          </p:txBody>
        </p:sp>
      </p:grpSp>
      <p:sp>
        <p:nvSpPr>
          <p:cNvPr name="TextBox 46" id="46"/>
          <p:cNvSpPr txBox="true"/>
          <p:nvPr/>
        </p:nvSpPr>
        <p:spPr>
          <a:xfrm rot="0">
            <a:off x="6400800" y="8053959"/>
            <a:ext cx="4846320" cy="1124788"/>
          </a:xfrm>
          <a:prstGeom prst="rect">
            <a:avLst/>
          </a:prstGeom>
        </p:spPr>
        <p:txBody>
          <a:bodyPr anchor="t" rtlCol="false" tIns="0" lIns="0" bIns="0" rIns="0">
            <a:spAutoFit/>
          </a:bodyPr>
          <a:lstStyle/>
          <a:p>
            <a:pPr algn="ctr">
              <a:lnSpc>
                <a:spcPts val="2640"/>
              </a:lnSpc>
            </a:pPr>
            <a:r>
              <a:rPr lang="en-US" sz="2200">
                <a:solidFill>
                  <a:srgbClr val="D1D5DB"/>
                </a:solidFill>
                <a:latin typeface="Calibri (MS)"/>
                <a:ea typeface="Calibri (MS)"/>
                <a:cs typeface="Calibri (MS)"/>
                <a:sym typeface="Calibri (MS)"/>
              </a:rPr>
              <a:t>Casos de Uso</a:t>
            </a:r>
          </a:p>
          <a:p>
            <a:pPr algn="ctr">
              <a:lnSpc>
                <a:spcPts val="2640"/>
              </a:lnSpc>
            </a:pPr>
            <a:r>
              <a:rPr lang="en-US" sz="2200">
                <a:solidFill>
                  <a:srgbClr val="D1D5DB"/>
                </a:solidFill>
                <a:latin typeface="Calibri (MS)"/>
                <a:ea typeface="Calibri (MS)"/>
                <a:cs typeface="Calibri (MS)"/>
                <a:sym typeface="Calibri (MS)"/>
              </a:rPr>
              <a:t>(CU)</a:t>
            </a:r>
          </a:p>
        </p:txBody>
      </p:sp>
      <p:grpSp>
        <p:nvGrpSpPr>
          <p:cNvPr name="Group 47" id="47"/>
          <p:cNvGrpSpPr/>
          <p:nvPr/>
        </p:nvGrpSpPr>
        <p:grpSpPr>
          <a:xfrm rot="0">
            <a:off x="11776710" y="6381750"/>
            <a:ext cx="5890260" cy="2872740"/>
            <a:chOff x="0" y="0"/>
            <a:chExt cx="7853680" cy="3830320"/>
          </a:xfrm>
        </p:grpSpPr>
        <p:sp>
          <p:nvSpPr>
            <p:cNvPr name="Freeform 48" id="48"/>
            <p:cNvSpPr/>
            <p:nvPr/>
          </p:nvSpPr>
          <p:spPr>
            <a:xfrm flipH="false" flipV="false" rot="0">
              <a:off x="0" y="0"/>
              <a:ext cx="7853680" cy="3830320"/>
            </a:xfrm>
            <a:custGeom>
              <a:avLst/>
              <a:gdLst/>
              <a:ahLst/>
              <a:cxnLst/>
              <a:rect r="r" b="b" t="t" l="l"/>
              <a:pathLst>
                <a:path h="3830320" w="7853680">
                  <a:moveTo>
                    <a:pt x="0" y="0"/>
                  </a:moveTo>
                  <a:lnTo>
                    <a:pt x="7853680" y="0"/>
                  </a:lnTo>
                  <a:lnTo>
                    <a:pt x="7853680" y="3830320"/>
                  </a:lnTo>
                  <a:lnTo>
                    <a:pt x="0" y="3830320"/>
                  </a:lnTo>
                  <a:close/>
                </a:path>
              </a:pathLst>
            </a:custGeom>
            <a:solidFill>
              <a:srgbClr val="2E2E2E"/>
            </a:solidFill>
            <a:ln w="38100" cap="sq">
              <a:solidFill>
                <a:srgbClr val="9CA3AF"/>
              </a:solidFill>
              <a:prstDash val="solid"/>
              <a:miter/>
            </a:ln>
          </p:spPr>
        </p:sp>
      </p:grpSp>
      <p:grpSp>
        <p:nvGrpSpPr>
          <p:cNvPr name="Group 49" id="49"/>
          <p:cNvGrpSpPr/>
          <p:nvPr/>
        </p:nvGrpSpPr>
        <p:grpSpPr>
          <a:xfrm rot="0">
            <a:off x="11978640" y="6583680"/>
            <a:ext cx="5486400" cy="1559052"/>
            <a:chOff x="0" y="0"/>
            <a:chExt cx="7315200" cy="2078736"/>
          </a:xfrm>
        </p:grpSpPr>
        <p:sp>
          <p:nvSpPr>
            <p:cNvPr name="Freeform 50" id="50"/>
            <p:cNvSpPr/>
            <p:nvPr/>
          </p:nvSpPr>
          <p:spPr>
            <a:xfrm flipH="false" flipV="false" rot="0">
              <a:off x="0" y="0"/>
              <a:ext cx="7315200" cy="2078736"/>
            </a:xfrm>
            <a:custGeom>
              <a:avLst/>
              <a:gdLst/>
              <a:ahLst/>
              <a:cxnLst/>
              <a:rect r="r" b="b" t="t" l="l"/>
              <a:pathLst>
                <a:path h="2078736" w="7315200">
                  <a:moveTo>
                    <a:pt x="0" y="0"/>
                  </a:moveTo>
                  <a:lnTo>
                    <a:pt x="7315200" y="0"/>
                  </a:lnTo>
                  <a:lnTo>
                    <a:pt x="7315200" y="2078736"/>
                  </a:lnTo>
                  <a:lnTo>
                    <a:pt x="0" y="2078736"/>
                  </a:lnTo>
                  <a:close/>
                </a:path>
              </a:pathLst>
            </a:custGeom>
            <a:blipFill>
              <a:blip r:embed="rId3">
                <a:alphaModFix amt="0"/>
              </a:blip>
              <a:stretch>
                <a:fillRect l="0" t="-18569" r="0" b="-18569"/>
              </a:stretch>
            </a:blipFill>
          </p:spPr>
        </p:sp>
        <p:sp>
          <p:nvSpPr>
            <p:cNvPr name="TextBox 51" id="51"/>
            <p:cNvSpPr txBox="true"/>
            <p:nvPr/>
          </p:nvSpPr>
          <p:spPr>
            <a:xfrm>
              <a:off x="0" y="-123825"/>
              <a:ext cx="7315200" cy="2202561"/>
            </a:xfrm>
            <a:prstGeom prst="rect">
              <a:avLst/>
            </a:prstGeom>
          </p:spPr>
          <p:txBody>
            <a:bodyPr anchor="b" rtlCol="false" tIns="0" lIns="0" bIns="0" rIns="0"/>
            <a:lstStyle/>
            <a:p>
              <a:pPr algn="ctr">
                <a:lnSpc>
                  <a:spcPts val="7680"/>
                </a:lnSpc>
              </a:pPr>
              <a:r>
                <a:rPr lang="en-US" sz="6400" b="true">
                  <a:solidFill>
                    <a:srgbClr val="9CA3AF"/>
                  </a:solidFill>
                  <a:latin typeface="Calibri (MS) Bold"/>
                  <a:ea typeface="Calibri (MS) Bold"/>
                  <a:cs typeface="Calibri (MS) Bold"/>
                  <a:sym typeface="Calibri (MS) Bold"/>
                </a:rPr>
                <a:t>98</a:t>
              </a:r>
            </a:p>
          </p:txBody>
        </p:sp>
      </p:grpSp>
      <p:sp>
        <p:nvSpPr>
          <p:cNvPr name="TextBox 52" id="52"/>
          <p:cNvSpPr txBox="true"/>
          <p:nvPr/>
        </p:nvSpPr>
        <p:spPr>
          <a:xfrm rot="0">
            <a:off x="11978640" y="8053959"/>
            <a:ext cx="5486400" cy="1124788"/>
          </a:xfrm>
          <a:prstGeom prst="rect">
            <a:avLst/>
          </a:prstGeom>
        </p:spPr>
        <p:txBody>
          <a:bodyPr anchor="t" rtlCol="false" tIns="0" lIns="0" bIns="0" rIns="0">
            <a:spAutoFit/>
          </a:bodyPr>
          <a:lstStyle/>
          <a:p>
            <a:pPr algn="ctr">
              <a:lnSpc>
                <a:spcPts val="2640"/>
              </a:lnSpc>
            </a:pPr>
            <a:r>
              <a:rPr lang="en-US" sz="2200">
                <a:solidFill>
                  <a:srgbClr val="D1D5DB"/>
                </a:solidFill>
                <a:latin typeface="Calibri (MS)"/>
                <a:ea typeface="Calibri (MS)"/>
                <a:cs typeface="Calibri (MS)"/>
                <a:sym typeface="Calibri (MS)"/>
              </a:rPr>
              <a:t>Diagramas de</a:t>
            </a:r>
          </a:p>
          <a:p>
            <a:pPr algn="ctr">
              <a:lnSpc>
                <a:spcPts val="2640"/>
              </a:lnSpc>
            </a:pPr>
            <a:r>
              <a:rPr lang="en-US" sz="2200">
                <a:solidFill>
                  <a:srgbClr val="D1D5DB"/>
                </a:solidFill>
                <a:latin typeface="Calibri (MS)"/>
                <a:ea typeface="Calibri (MS)"/>
                <a:cs typeface="Calibri (MS)"/>
                <a:sym typeface="Calibri (MS)"/>
              </a:rPr>
              <a:t>Secuencia</a:t>
            </a:r>
          </a:p>
        </p:txBody>
      </p:sp>
      <p:grpSp>
        <p:nvGrpSpPr>
          <p:cNvPr name="Group 53" id="53"/>
          <p:cNvGrpSpPr/>
          <p:nvPr/>
        </p:nvGrpSpPr>
        <p:grpSpPr>
          <a:xfrm rot="0">
            <a:off x="640080" y="5888736"/>
            <a:ext cx="12070080" cy="512064"/>
            <a:chOff x="0" y="0"/>
            <a:chExt cx="16093440" cy="682752"/>
          </a:xfrm>
        </p:grpSpPr>
        <p:sp>
          <p:nvSpPr>
            <p:cNvPr name="Freeform 54" id="54"/>
            <p:cNvSpPr/>
            <p:nvPr/>
          </p:nvSpPr>
          <p:spPr>
            <a:xfrm flipH="false" flipV="false" rot="0">
              <a:off x="0" y="0"/>
              <a:ext cx="16093439" cy="682752"/>
            </a:xfrm>
            <a:custGeom>
              <a:avLst/>
              <a:gdLst/>
              <a:ahLst/>
              <a:cxnLst/>
              <a:rect r="r" b="b" t="t" l="l"/>
              <a:pathLst>
                <a:path h="682752" w="16093439">
                  <a:moveTo>
                    <a:pt x="0" y="0"/>
                  </a:moveTo>
                  <a:lnTo>
                    <a:pt x="16093439" y="0"/>
                  </a:lnTo>
                  <a:lnTo>
                    <a:pt x="16093439" y="682752"/>
                  </a:lnTo>
                  <a:lnTo>
                    <a:pt x="0" y="682752"/>
                  </a:lnTo>
                  <a:close/>
                </a:path>
              </a:pathLst>
            </a:custGeom>
            <a:blipFill>
              <a:blip r:embed="rId3">
                <a:alphaModFix amt="0"/>
              </a:blip>
              <a:stretch>
                <a:fillRect l="0" t="-409290" r="0" b="-409290"/>
              </a:stretch>
            </a:blipFill>
          </p:spPr>
        </p:sp>
        <p:sp>
          <p:nvSpPr>
            <p:cNvPr name="TextBox 55" id="55"/>
            <p:cNvSpPr txBox="true"/>
            <p:nvPr/>
          </p:nvSpPr>
          <p:spPr>
            <a:xfrm>
              <a:off x="0" y="-38100"/>
              <a:ext cx="16093440" cy="720852"/>
            </a:xfrm>
            <a:prstGeom prst="rect">
              <a:avLst/>
            </a:prstGeom>
          </p:spPr>
          <p:txBody>
            <a:bodyPr anchor="ctr" rtlCol="false" tIns="0" lIns="0" bIns="0" rIns="0"/>
            <a:lstStyle/>
            <a:p>
              <a:pPr algn="l">
                <a:lnSpc>
                  <a:spcPts val="2400"/>
                </a:lnSpc>
              </a:pPr>
              <a:r>
                <a:rPr lang="en-US" sz="2000" i="true">
                  <a:solidFill>
                    <a:srgbClr val="F47920"/>
                  </a:solidFill>
                  <a:latin typeface="Calibri (MS) Italics"/>
                  <a:ea typeface="Calibri (MS) Italics"/>
                  <a:cs typeface="Calibri (MS) Italics"/>
                  <a:sym typeface="Calibri (MS) Italics"/>
                </a:rPr>
                <a:t>De los cuales se derivan →</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219456"/>
            <a:ext cx="17007840" cy="1005840"/>
            <a:chOff x="0" y="0"/>
            <a:chExt cx="22677120" cy="1341120"/>
          </a:xfrm>
        </p:grpSpPr>
        <p:sp>
          <p:nvSpPr>
            <p:cNvPr name="Freeform 7" id="7"/>
            <p:cNvSpPr/>
            <p:nvPr/>
          </p:nvSpPr>
          <p:spPr>
            <a:xfrm flipH="false" flipV="false" rot="0">
              <a:off x="0" y="0"/>
              <a:ext cx="22677120" cy="1341120"/>
            </a:xfrm>
            <a:custGeom>
              <a:avLst/>
              <a:gdLst/>
              <a:ahLst/>
              <a:cxnLst/>
              <a:rect r="r" b="b" t="t" l="l"/>
              <a:pathLst>
                <a:path h="1341120" w="22677120">
                  <a:moveTo>
                    <a:pt x="0" y="0"/>
                  </a:moveTo>
                  <a:lnTo>
                    <a:pt x="22677120" y="0"/>
                  </a:lnTo>
                  <a:lnTo>
                    <a:pt x="22677120" y="1341120"/>
                  </a:lnTo>
                  <a:lnTo>
                    <a:pt x="0" y="1341120"/>
                  </a:lnTo>
                  <a:close/>
                </a:path>
              </a:pathLst>
            </a:custGeom>
            <a:blipFill>
              <a:blip r:embed="rId3">
                <a:alphaModFix amt="0"/>
              </a:blip>
              <a:stretch>
                <a:fillRect l="0" t="-279474" r="0" b="-279474"/>
              </a:stretch>
            </a:blipFill>
          </p:spPr>
        </p:sp>
        <p:sp>
          <p:nvSpPr>
            <p:cNvPr name="TextBox 8" id="8"/>
            <p:cNvSpPr txBox="true"/>
            <p:nvPr/>
          </p:nvSpPr>
          <p:spPr>
            <a:xfrm>
              <a:off x="0" y="-76200"/>
              <a:ext cx="22677120"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Requerimientos Funcionales</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pSp>
        <p:nvGrpSpPr>
          <p:cNvPr name="Group 12" id="12"/>
          <p:cNvGrpSpPr/>
          <p:nvPr/>
        </p:nvGrpSpPr>
        <p:grpSpPr>
          <a:xfrm rot="0">
            <a:off x="627383" y="1413767"/>
            <a:ext cx="8346443" cy="720347"/>
            <a:chOff x="0" y="0"/>
            <a:chExt cx="11128591" cy="960463"/>
          </a:xfrm>
        </p:grpSpPr>
        <p:sp>
          <p:nvSpPr>
            <p:cNvPr name="Freeform 13" id="13"/>
            <p:cNvSpPr/>
            <p:nvPr/>
          </p:nvSpPr>
          <p:spPr>
            <a:xfrm flipH="false" flipV="false" rot="0">
              <a:off x="0" y="0"/>
              <a:ext cx="11128629" cy="960501"/>
            </a:xfrm>
            <a:custGeom>
              <a:avLst/>
              <a:gdLst/>
              <a:ahLst/>
              <a:cxnLst/>
              <a:rect r="r" b="b" t="t" l="l"/>
              <a:pathLst>
                <a:path h="960501" w="11128629">
                  <a:moveTo>
                    <a:pt x="0" y="0"/>
                  </a:moveTo>
                  <a:lnTo>
                    <a:pt x="11128629" y="0"/>
                  </a:lnTo>
                  <a:lnTo>
                    <a:pt x="11128629" y="960501"/>
                  </a:lnTo>
                  <a:lnTo>
                    <a:pt x="0" y="960501"/>
                  </a:lnTo>
                  <a:close/>
                </a:path>
              </a:pathLst>
            </a:custGeom>
            <a:solidFill>
              <a:srgbClr val="F47920"/>
            </a:solidFill>
            <a:ln w="25400" cap="sq">
              <a:solidFill>
                <a:srgbClr val="F47920"/>
              </a:solidFill>
              <a:prstDash val="solid"/>
              <a:miter/>
            </a:ln>
          </p:spPr>
        </p:sp>
      </p:grpSp>
      <p:grpSp>
        <p:nvGrpSpPr>
          <p:cNvPr name="Group 14" id="14"/>
          <p:cNvGrpSpPr/>
          <p:nvPr/>
        </p:nvGrpSpPr>
        <p:grpSpPr>
          <a:xfrm rot="0">
            <a:off x="822960" y="1444752"/>
            <a:ext cx="7955280" cy="658368"/>
            <a:chOff x="0" y="0"/>
            <a:chExt cx="10607040" cy="877824"/>
          </a:xfrm>
        </p:grpSpPr>
        <p:sp>
          <p:nvSpPr>
            <p:cNvPr name="Freeform 15" id="15"/>
            <p:cNvSpPr/>
            <p:nvPr/>
          </p:nvSpPr>
          <p:spPr>
            <a:xfrm flipH="false" flipV="false" rot="0">
              <a:off x="0" y="0"/>
              <a:ext cx="10607040" cy="877824"/>
            </a:xfrm>
            <a:custGeom>
              <a:avLst/>
              <a:gdLst/>
              <a:ahLst/>
              <a:cxnLst/>
              <a:rect r="r" b="b" t="t" l="l"/>
              <a:pathLst>
                <a:path h="877824" w="10607040">
                  <a:moveTo>
                    <a:pt x="0" y="0"/>
                  </a:moveTo>
                  <a:lnTo>
                    <a:pt x="10607040" y="0"/>
                  </a:lnTo>
                  <a:lnTo>
                    <a:pt x="10607040" y="877824"/>
                  </a:lnTo>
                  <a:lnTo>
                    <a:pt x="0" y="877824"/>
                  </a:lnTo>
                  <a:close/>
                </a:path>
              </a:pathLst>
            </a:custGeom>
            <a:blipFill>
              <a:blip r:embed="rId3">
                <a:alphaModFix amt="0"/>
              </a:blip>
              <a:stretch>
                <a:fillRect l="0" t="-185444" r="0" b="-185444"/>
              </a:stretch>
            </a:blipFill>
          </p:spPr>
        </p:sp>
        <p:sp>
          <p:nvSpPr>
            <p:cNvPr name="TextBox 16" id="16"/>
            <p:cNvSpPr txBox="true"/>
            <p:nvPr/>
          </p:nvSpPr>
          <p:spPr>
            <a:xfrm>
              <a:off x="0" y="-57150"/>
              <a:ext cx="10607040" cy="934974"/>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FR-01 · Material</a:t>
              </a:r>
            </a:p>
          </p:txBody>
        </p:sp>
      </p:grpSp>
      <p:sp>
        <p:nvSpPr>
          <p:cNvPr name="TextBox 17" id="17"/>
          <p:cNvSpPr txBox="true"/>
          <p:nvPr/>
        </p:nvSpPr>
        <p:spPr>
          <a:xfrm rot="0">
            <a:off x="640080" y="2286514"/>
            <a:ext cx="7858395" cy="4752975"/>
          </a:xfrm>
          <a:prstGeom prst="rect">
            <a:avLst/>
          </a:prstGeom>
        </p:spPr>
        <p:txBody>
          <a:bodyPr anchor="t" rtlCol="false" tIns="0" lIns="0" bIns="0" rIns="0">
            <a:spAutoFit/>
          </a:bodyPr>
          <a:lstStyle/>
          <a:p>
            <a:pPr algn="just">
              <a:lnSpc>
                <a:spcPts val="2486"/>
              </a:lnSpc>
            </a:pPr>
            <a:r>
              <a:rPr lang="en-US" sz="2071" b="true">
                <a:solidFill>
                  <a:srgbClr val="FFFFFF"/>
                </a:solidFill>
                <a:latin typeface="Calibri (MS) Bold"/>
                <a:ea typeface="Calibri (MS) Bold"/>
                <a:cs typeface="Calibri (MS) Bold"/>
                <a:sym typeface="Calibri (MS) Bold"/>
              </a:rPr>
              <a:t>FR-01: </a:t>
            </a:r>
            <a:r>
              <a:rPr lang="en-US" sz="2071" b="true">
                <a:solidFill>
                  <a:srgbClr val="FFFFFF"/>
                </a:solidFill>
                <a:latin typeface="Calibri (MS) Bold"/>
                <a:ea typeface="Calibri (MS) Bold"/>
                <a:cs typeface="Calibri (MS) Bold"/>
                <a:sym typeface="Calibri (MS) Bold"/>
              </a:rPr>
              <a:t>El sistema debe permitir crear productos con identificador único.</a:t>
            </a:r>
          </a:p>
          <a:p>
            <a:pPr algn="just">
              <a:lnSpc>
                <a:spcPts val="2486"/>
              </a:lnSpc>
            </a:pPr>
          </a:p>
          <a:p>
            <a:pPr algn="just">
              <a:lnSpc>
                <a:spcPts val="2486"/>
              </a:lnSpc>
            </a:pPr>
            <a:r>
              <a:rPr lang="en-US" sz="2071">
                <a:solidFill>
                  <a:srgbClr val="FFFFFF"/>
                </a:solidFill>
                <a:latin typeface="Calibri (MS)"/>
                <a:ea typeface="Calibri (MS)"/>
                <a:cs typeface="Calibri (MS)"/>
                <a:sym typeface="Calibri (MS)"/>
              </a:rPr>
              <a:t>El sistema debe permitir la creación de productos mediante un formulario dentro del módulo de gestión de productos. Cada producto debe registrarse obligatoriamente con un identificador único denominado SKU (Stock Keeping Unit/unidad de mantenimiento de existencia), el cual permite su identificación dentro del sistema. </a:t>
            </a:r>
          </a:p>
          <a:p>
            <a:pPr algn="just">
              <a:lnSpc>
                <a:spcPts val="2486"/>
              </a:lnSpc>
            </a:pPr>
          </a:p>
          <a:p>
            <a:pPr algn="just">
              <a:lnSpc>
                <a:spcPts val="2486"/>
              </a:lnSpc>
            </a:pPr>
            <a:r>
              <a:rPr lang="en-US" sz="2071">
                <a:solidFill>
                  <a:srgbClr val="FFFFFF"/>
                </a:solidFill>
                <a:latin typeface="Calibri (MS)"/>
                <a:ea typeface="Calibri (MS)"/>
                <a:cs typeface="Calibri (MS)"/>
                <a:sym typeface="Calibri (MS)"/>
              </a:rPr>
              <a:t>El SKU debe ser de tipo alfanumérico, con una longitud comprendida entre 4 y 16 caracteres, y no debe repetirse en ninguna circunstancia. Este identificador debe seguir una estructura estandarizada que facilite su interpretación, recomendándole el uso de un formato compuesto por categoría, tipo de producto y un código correlativo </a:t>
            </a:r>
          </a:p>
          <a:p>
            <a:pPr algn="just">
              <a:lnSpc>
                <a:spcPts val="2486"/>
              </a:lnSpc>
            </a:pPr>
            <a:r>
              <a:rPr lang="en-US" sz="2071">
                <a:solidFill>
                  <a:srgbClr val="FFFFFF"/>
                </a:solidFill>
                <a:latin typeface="Calibri (MS)"/>
                <a:ea typeface="Calibri (MS)"/>
                <a:cs typeface="Calibri (MS)"/>
                <a:sym typeface="Calibri (MS)"/>
              </a:rPr>
              <a:t>Ejemplo: MAT-CEM-001</a:t>
            </a:r>
          </a:p>
          <a:p>
            <a:pPr algn="just">
              <a:lnSpc>
                <a:spcPts val="2486"/>
              </a:lnSpc>
            </a:pPr>
          </a:p>
        </p:txBody>
      </p:sp>
      <p:grpSp>
        <p:nvGrpSpPr>
          <p:cNvPr name="Group 18" id="18"/>
          <p:cNvGrpSpPr/>
          <p:nvPr/>
        </p:nvGrpSpPr>
        <p:grpSpPr>
          <a:xfrm rot="0">
            <a:off x="9314183" y="1413767"/>
            <a:ext cx="8346443" cy="720347"/>
            <a:chOff x="0" y="0"/>
            <a:chExt cx="11128591" cy="960463"/>
          </a:xfrm>
        </p:grpSpPr>
        <p:sp>
          <p:nvSpPr>
            <p:cNvPr name="Freeform 19" id="19"/>
            <p:cNvSpPr/>
            <p:nvPr/>
          </p:nvSpPr>
          <p:spPr>
            <a:xfrm flipH="false" flipV="false" rot="0">
              <a:off x="0" y="0"/>
              <a:ext cx="11128629" cy="960501"/>
            </a:xfrm>
            <a:custGeom>
              <a:avLst/>
              <a:gdLst/>
              <a:ahLst/>
              <a:cxnLst/>
              <a:rect r="r" b="b" t="t" l="l"/>
              <a:pathLst>
                <a:path h="960501" w="11128629">
                  <a:moveTo>
                    <a:pt x="0" y="0"/>
                  </a:moveTo>
                  <a:lnTo>
                    <a:pt x="11128629" y="0"/>
                  </a:lnTo>
                  <a:lnTo>
                    <a:pt x="11128629" y="960501"/>
                  </a:lnTo>
                  <a:lnTo>
                    <a:pt x="0" y="960501"/>
                  </a:lnTo>
                  <a:close/>
                </a:path>
              </a:pathLst>
            </a:custGeom>
            <a:solidFill>
              <a:srgbClr val="F47920"/>
            </a:solidFill>
            <a:ln w="25400" cap="sq">
              <a:solidFill>
                <a:srgbClr val="F47920"/>
              </a:solidFill>
              <a:prstDash val="solid"/>
              <a:miter/>
            </a:ln>
          </p:spPr>
        </p:sp>
      </p:grpSp>
      <p:grpSp>
        <p:nvGrpSpPr>
          <p:cNvPr name="Group 20" id="20"/>
          <p:cNvGrpSpPr/>
          <p:nvPr/>
        </p:nvGrpSpPr>
        <p:grpSpPr>
          <a:xfrm rot="0">
            <a:off x="9509760" y="1444752"/>
            <a:ext cx="7955280" cy="658368"/>
            <a:chOff x="0" y="0"/>
            <a:chExt cx="10607040" cy="877824"/>
          </a:xfrm>
        </p:grpSpPr>
        <p:sp>
          <p:nvSpPr>
            <p:cNvPr name="Freeform 21" id="21"/>
            <p:cNvSpPr/>
            <p:nvPr/>
          </p:nvSpPr>
          <p:spPr>
            <a:xfrm flipH="false" flipV="false" rot="0">
              <a:off x="0" y="0"/>
              <a:ext cx="10607040" cy="877824"/>
            </a:xfrm>
            <a:custGeom>
              <a:avLst/>
              <a:gdLst/>
              <a:ahLst/>
              <a:cxnLst/>
              <a:rect r="r" b="b" t="t" l="l"/>
              <a:pathLst>
                <a:path h="877824" w="10607040">
                  <a:moveTo>
                    <a:pt x="0" y="0"/>
                  </a:moveTo>
                  <a:lnTo>
                    <a:pt x="10607040" y="0"/>
                  </a:lnTo>
                  <a:lnTo>
                    <a:pt x="10607040" y="877824"/>
                  </a:lnTo>
                  <a:lnTo>
                    <a:pt x="0" y="877824"/>
                  </a:lnTo>
                  <a:close/>
                </a:path>
              </a:pathLst>
            </a:custGeom>
            <a:blipFill>
              <a:blip r:embed="rId3">
                <a:alphaModFix amt="0"/>
              </a:blip>
              <a:stretch>
                <a:fillRect l="0" t="-185444" r="0" b="-185444"/>
              </a:stretch>
            </a:blipFill>
          </p:spPr>
        </p:sp>
        <p:sp>
          <p:nvSpPr>
            <p:cNvPr name="TextBox 22" id="22"/>
            <p:cNvSpPr txBox="true"/>
            <p:nvPr/>
          </p:nvSpPr>
          <p:spPr>
            <a:xfrm>
              <a:off x="0" y="-38100"/>
              <a:ext cx="10607040" cy="915924"/>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FR-19 · Movimiento de Inventario (Salida)</a:t>
              </a:r>
            </a:p>
          </p:txBody>
        </p:sp>
      </p:grpSp>
      <p:sp>
        <p:nvSpPr>
          <p:cNvPr name="TextBox 23" id="23"/>
          <p:cNvSpPr txBox="true"/>
          <p:nvPr/>
        </p:nvSpPr>
        <p:spPr>
          <a:xfrm rot="0">
            <a:off x="9326890" y="2191264"/>
            <a:ext cx="8333737" cy="7962900"/>
          </a:xfrm>
          <a:prstGeom prst="rect">
            <a:avLst/>
          </a:prstGeom>
        </p:spPr>
        <p:txBody>
          <a:bodyPr anchor="t" rtlCol="false" tIns="0" lIns="0" bIns="0" rIns="0">
            <a:spAutoFit/>
          </a:bodyPr>
          <a:lstStyle/>
          <a:p>
            <a:pPr algn="just">
              <a:lnSpc>
                <a:spcPts val="2400"/>
              </a:lnSpc>
            </a:pPr>
            <a:r>
              <a:rPr lang="en-US" sz="2000" b="true">
                <a:solidFill>
                  <a:srgbClr val="FFFFFF"/>
                </a:solidFill>
                <a:latin typeface="Calibri (MS) Bold"/>
                <a:ea typeface="Calibri (MS) Bold"/>
                <a:cs typeface="Calibri (MS) Bold"/>
                <a:sym typeface="Calibri (MS) Bold"/>
              </a:rPr>
              <a:t>FR-19: </a:t>
            </a:r>
            <a:r>
              <a:rPr lang="en-US" sz="2000" b="true">
                <a:solidFill>
                  <a:srgbClr val="FFFFFF"/>
                </a:solidFill>
                <a:latin typeface="Calibri (MS) Bold"/>
                <a:ea typeface="Calibri (MS) Bold"/>
                <a:cs typeface="Calibri (MS) Bold"/>
                <a:sym typeface="Calibri (MS) Bold"/>
              </a:rPr>
              <a:t>El sistema debe registrar salidas de inventario. </a:t>
            </a:r>
          </a:p>
          <a:p>
            <a:pPr algn="just">
              <a:lnSpc>
                <a:spcPts val="2400"/>
              </a:lnSpc>
            </a:pPr>
            <a:r>
              <a:rPr lang="en-US" sz="2000">
                <a:solidFill>
                  <a:srgbClr val="FFFFFF"/>
                </a:solidFill>
                <a:latin typeface="Calibri (MS)"/>
                <a:ea typeface="Calibri (MS)"/>
                <a:cs typeface="Calibri (MS)"/>
                <a:sym typeface="Calibri (MS)"/>
              </a:rPr>
              <a:t>El sistema debe permitir registrar salidas de inventario cada vez que un producto sea retirado desde una bodega.</a:t>
            </a:r>
          </a:p>
          <a:p>
            <a:pPr algn="just">
              <a:lnSpc>
                <a:spcPts val="2400"/>
              </a:lnSpc>
            </a:pPr>
            <a:r>
              <a:rPr lang="en-US" sz="2000">
                <a:solidFill>
                  <a:srgbClr val="FFFFFF"/>
                </a:solidFill>
                <a:latin typeface="Calibri (MS)"/>
                <a:ea typeface="Calibri (MS)"/>
                <a:cs typeface="Calibri (MS)"/>
                <a:sym typeface="Calibri (MS)"/>
              </a:rPr>
              <a:t>Esta funcionalidad debe estar disponible en el módulo de movimientos de inventario, donde el usuario deberá ingresar la información correspondiente mediante un formulario.</a:t>
            </a:r>
          </a:p>
          <a:p>
            <a:pPr algn="just">
              <a:lnSpc>
                <a:spcPts val="2400"/>
              </a:lnSpc>
            </a:pPr>
            <a:r>
              <a:rPr lang="en-US" sz="2000">
                <a:solidFill>
                  <a:srgbClr val="FFFFFF"/>
                </a:solidFill>
                <a:latin typeface="Calibri (MS)"/>
                <a:ea typeface="Calibri (MS)"/>
                <a:cs typeface="Calibri (MS)"/>
                <a:sym typeface="Calibri (MS)"/>
              </a:rPr>
              <a:t>Para registrar una salida, el sistema debe solicitar los siguientes datos:</a:t>
            </a:r>
          </a:p>
          <a:p>
            <a:pPr algn="just">
              <a:lnSpc>
                <a:spcPts val="2400"/>
              </a:lnSpc>
            </a:pPr>
            <a:r>
              <a:rPr lang="en-US" sz="2000">
                <a:solidFill>
                  <a:srgbClr val="FFFFFF"/>
                </a:solidFill>
                <a:latin typeface="Calibri (MS)"/>
                <a:ea typeface="Calibri (MS)"/>
                <a:cs typeface="Calibri (MS)"/>
                <a:sym typeface="Calibri (MS)"/>
              </a:rPr>
              <a:t>SKU del producto.</a:t>
            </a:r>
          </a:p>
          <a:p>
            <a:pPr algn="just">
              <a:lnSpc>
                <a:spcPts val="2400"/>
              </a:lnSpc>
            </a:pPr>
            <a:r>
              <a:rPr lang="en-US" sz="2000">
                <a:solidFill>
                  <a:srgbClr val="FFFFFF"/>
                </a:solidFill>
                <a:latin typeface="Calibri (MS)"/>
                <a:ea typeface="Calibri (MS)"/>
                <a:cs typeface="Calibri (MS)"/>
                <a:sym typeface="Calibri (MS)"/>
              </a:rPr>
              <a:t>Nombre del producto.</a:t>
            </a:r>
          </a:p>
          <a:p>
            <a:pPr algn="just">
              <a:lnSpc>
                <a:spcPts val="2400"/>
              </a:lnSpc>
            </a:pPr>
            <a:r>
              <a:rPr lang="en-US" sz="2000">
                <a:solidFill>
                  <a:srgbClr val="FFFFFF"/>
                </a:solidFill>
                <a:latin typeface="Calibri (MS)"/>
                <a:ea typeface="Calibri (MS)"/>
                <a:cs typeface="Calibri (MS)"/>
                <a:sym typeface="Calibri (MS)"/>
              </a:rPr>
              <a:t>Bodega desde la cual se retira el producto.</a:t>
            </a:r>
          </a:p>
          <a:p>
            <a:pPr algn="just">
              <a:lnSpc>
                <a:spcPts val="2400"/>
              </a:lnSpc>
            </a:pPr>
            <a:r>
              <a:rPr lang="en-US" sz="2000">
                <a:solidFill>
                  <a:srgbClr val="FFFFFF"/>
                </a:solidFill>
                <a:latin typeface="Calibri (MS)"/>
                <a:ea typeface="Calibri (MS)"/>
                <a:cs typeface="Calibri (MS)"/>
                <a:sym typeface="Calibri (MS)"/>
              </a:rPr>
              <a:t>Cantidad a retirar, la cual debe ser un número mayor que 0.</a:t>
            </a:r>
          </a:p>
          <a:p>
            <a:pPr algn="just">
              <a:lnSpc>
                <a:spcPts val="2400"/>
              </a:lnSpc>
            </a:pPr>
            <a:r>
              <a:rPr lang="en-US" sz="2000">
                <a:solidFill>
                  <a:srgbClr val="FFFFFF"/>
                </a:solidFill>
                <a:latin typeface="Calibri (MS)"/>
                <a:ea typeface="Calibri (MS)"/>
                <a:cs typeface="Calibri (MS)"/>
                <a:sym typeface="Calibri (MS)"/>
              </a:rPr>
              <a:t>Fecha del movimiento.</a:t>
            </a:r>
          </a:p>
          <a:p>
            <a:pPr algn="just">
              <a:lnSpc>
                <a:spcPts val="2400"/>
              </a:lnSpc>
            </a:pPr>
            <a:r>
              <a:rPr lang="en-US" sz="2000">
                <a:solidFill>
                  <a:srgbClr val="FFFFFF"/>
                </a:solidFill>
                <a:latin typeface="Calibri (MS)"/>
                <a:ea typeface="Calibri (MS)"/>
                <a:cs typeface="Calibri (MS)"/>
                <a:sym typeface="Calibri (MS)"/>
              </a:rPr>
              <a:t>Clasificación de la salida.</a:t>
            </a:r>
          </a:p>
          <a:p>
            <a:pPr algn="just">
              <a:lnSpc>
                <a:spcPts val="2400"/>
              </a:lnSpc>
            </a:pPr>
            <a:r>
              <a:rPr lang="en-US" sz="2000">
                <a:solidFill>
                  <a:srgbClr val="FFFFFF"/>
                </a:solidFill>
                <a:latin typeface="Calibri (MS)"/>
                <a:ea typeface="Calibri (MS)"/>
                <a:cs typeface="Calibri (MS)"/>
                <a:sym typeface="Calibri (MS)"/>
              </a:rPr>
              <a:t>Motivo específico de la salida.</a:t>
            </a:r>
          </a:p>
          <a:p>
            <a:pPr algn="just">
              <a:lnSpc>
                <a:spcPts val="2400"/>
              </a:lnSpc>
            </a:pPr>
            <a:r>
              <a:rPr lang="en-US" sz="2000">
                <a:solidFill>
                  <a:srgbClr val="FFFFFF"/>
                </a:solidFill>
                <a:latin typeface="Calibri (MS)"/>
                <a:ea typeface="Calibri (MS)"/>
                <a:cs typeface="Calibri (MS)"/>
                <a:sym typeface="Calibri (MS)"/>
              </a:rPr>
              <a:t>El motivo de la salida debe seleccionarse desde una lista predefinida y debe estar asociado a la clasificación seleccionada. Esta lista debe incluir los siguientes ejemplos:</a:t>
            </a:r>
          </a:p>
          <a:p>
            <a:pPr algn="just">
              <a:lnSpc>
                <a:spcPts val="2400"/>
              </a:lnSpc>
            </a:pPr>
            <a:r>
              <a:rPr lang="en-US" sz="2000">
                <a:solidFill>
                  <a:srgbClr val="FFFFFF"/>
                </a:solidFill>
                <a:latin typeface="Calibri (MS)"/>
                <a:ea typeface="Calibri (MS)"/>
                <a:cs typeface="Calibri (MS)"/>
                <a:sym typeface="Calibri (MS)"/>
              </a:rPr>
              <a:t>Para consumo: venta, uso interno, consumo en producción.</a:t>
            </a:r>
          </a:p>
          <a:p>
            <a:pPr algn="just">
              <a:lnSpc>
                <a:spcPts val="2400"/>
              </a:lnSpc>
            </a:pPr>
            <a:r>
              <a:rPr lang="en-US" sz="2000">
                <a:solidFill>
                  <a:srgbClr val="FFFFFF"/>
                </a:solidFill>
                <a:latin typeface="Calibri (MS)"/>
                <a:ea typeface="Calibri (MS)"/>
                <a:cs typeface="Calibri (MS)"/>
                <a:sym typeface="Calibri (MS)"/>
              </a:rPr>
              <a:t>Para pérdida o merma: producto dañado, vencimiento, pérdida.</a:t>
            </a:r>
          </a:p>
          <a:p>
            <a:pPr algn="just">
              <a:lnSpc>
                <a:spcPts val="2400"/>
              </a:lnSpc>
            </a:pPr>
            <a:r>
              <a:rPr lang="en-US" sz="2000">
                <a:solidFill>
                  <a:srgbClr val="FFFFFF"/>
                </a:solidFill>
                <a:latin typeface="Calibri (MS)"/>
                <a:ea typeface="Calibri (MS)"/>
                <a:cs typeface="Calibri (MS)"/>
                <a:sym typeface="Calibri (MS)"/>
              </a:rPr>
              <a:t>Para traslado: traslado a otra bodega.</a:t>
            </a:r>
          </a:p>
          <a:p>
            <a:pPr algn="just">
              <a:lnSpc>
                <a:spcPts val="2400"/>
              </a:lnSpc>
            </a:pPr>
            <a:r>
              <a:rPr lang="en-US" sz="2000">
                <a:solidFill>
                  <a:srgbClr val="FFFFFF"/>
                </a:solidFill>
                <a:latin typeface="Calibri (MS)"/>
                <a:ea typeface="Calibri (MS)"/>
                <a:cs typeface="Calibri (MS)"/>
                <a:sym typeface="Calibri (MS)"/>
              </a:rPr>
              <a:t>Para devolución: devolución por error, devolución de cliente.</a:t>
            </a:r>
          </a:p>
          <a:p>
            <a:pPr algn="just">
              <a:lnSpc>
                <a:spcPts val="2400"/>
              </a:lnSpc>
            </a:pPr>
            <a:r>
              <a:rPr lang="en-US" sz="2000">
                <a:solidFill>
                  <a:srgbClr val="FFFFFF"/>
                </a:solidFill>
                <a:latin typeface="Calibri (MS)"/>
                <a:ea typeface="Calibri (MS)"/>
                <a:cs typeface="Calibri (MS)"/>
                <a:sym typeface="Calibri (MS)"/>
              </a:rPr>
              <a:t>El sistema debe validar que el motivo seleccionado sea coherente con la clasificación elegida.</a:t>
            </a:r>
          </a:p>
          <a:p>
            <a:pPr algn="just">
              <a:lnSpc>
                <a:spcPts val="2400"/>
              </a:lnSpc>
            </a:pPr>
            <a:r>
              <a:rPr lang="en-US" sz="2000" b="true">
                <a:solidFill>
                  <a:srgbClr val="FFFFFF"/>
                </a:solidFill>
                <a:latin typeface="Calibri (MS) Bold"/>
                <a:ea typeface="Calibri (MS) Bold"/>
                <a:cs typeface="Calibri (MS) Bold"/>
                <a:sym typeface="Calibri (MS) Bold"/>
              </a:rPr>
              <a:t>El sistema debe almacenar cada salida de inventario, permitiendo su trazabilidad y posterior consulta.</a:t>
            </a:r>
          </a:p>
          <a:p>
            <a:pPr algn="just">
              <a:lnSpc>
                <a:spcPts val="24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219456"/>
            <a:ext cx="17007840" cy="1005840"/>
            <a:chOff x="0" y="0"/>
            <a:chExt cx="22677120" cy="1341120"/>
          </a:xfrm>
        </p:grpSpPr>
        <p:sp>
          <p:nvSpPr>
            <p:cNvPr name="Freeform 7" id="7"/>
            <p:cNvSpPr/>
            <p:nvPr/>
          </p:nvSpPr>
          <p:spPr>
            <a:xfrm flipH="false" flipV="false" rot="0">
              <a:off x="0" y="0"/>
              <a:ext cx="22677120" cy="1341120"/>
            </a:xfrm>
            <a:custGeom>
              <a:avLst/>
              <a:gdLst/>
              <a:ahLst/>
              <a:cxnLst/>
              <a:rect r="r" b="b" t="t" l="l"/>
              <a:pathLst>
                <a:path h="1341120" w="22677120">
                  <a:moveTo>
                    <a:pt x="0" y="0"/>
                  </a:moveTo>
                  <a:lnTo>
                    <a:pt x="22677120" y="0"/>
                  </a:lnTo>
                  <a:lnTo>
                    <a:pt x="22677120" y="1341120"/>
                  </a:lnTo>
                  <a:lnTo>
                    <a:pt x="0" y="1341120"/>
                  </a:lnTo>
                  <a:close/>
                </a:path>
              </a:pathLst>
            </a:custGeom>
            <a:blipFill>
              <a:blip r:embed="rId3">
                <a:alphaModFix amt="0"/>
              </a:blip>
              <a:stretch>
                <a:fillRect l="0" t="-279474" r="0" b="-279474"/>
              </a:stretch>
            </a:blipFill>
          </p:spPr>
        </p:sp>
        <p:sp>
          <p:nvSpPr>
            <p:cNvPr name="TextBox 8" id="8"/>
            <p:cNvSpPr txBox="true"/>
            <p:nvPr/>
          </p:nvSpPr>
          <p:spPr>
            <a:xfrm>
              <a:off x="0" y="-76200"/>
              <a:ext cx="22677120"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Requerimientos de Usuario (UR)</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pSp>
        <p:nvGrpSpPr>
          <p:cNvPr name="Group 12" id="12"/>
          <p:cNvGrpSpPr/>
          <p:nvPr/>
        </p:nvGrpSpPr>
        <p:grpSpPr>
          <a:xfrm rot="0">
            <a:off x="621030" y="1480566"/>
            <a:ext cx="17045940" cy="3512820"/>
            <a:chOff x="0" y="0"/>
            <a:chExt cx="22727920" cy="4683760"/>
          </a:xfrm>
        </p:grpSpPr>
        <p:sp>
          <p:nvSpPr>
            <p:cNvPr name="Freeform 13" id="13"/>
            <p:cNvSpPr/>
            <p:nvPr/>
          </p:nvSpPr>
          <p:spPr>
            <a:xfrm flipH="false" flipV="false" rot="0">
              <a:off x="0" y="0"/>
              <a:ext cx="22727920" cy="4683760"/>
            </a:xfrm>
            <a:custGeom>
              <a:avLst/>
              <a:gdLst/>
              <a:ahLst/>
              <a:cxnLst/>
              <a:rect r="r" b="b" t="t" l="l"/>
              <a:pathLst>
                <a:path h="4683760" w="22727920">
                  <a:moveTo>
                    <a:pt x="0" y="0"/>
                  </a:moveTo>
                  <a:lnTo>
                    <a:pt x="22727920" y="0"/>
                  </a:lnTo>
                  <a:lnTo>
                    <a:pt x="22727920" y="4683760"/>
                  </a:lnTo>
                  <a:lnTo>
                    <a:pt x="0" y="4683760"/>
                  </a:lnTo>
                  <a:close/>
                </a:path>
              </a:pathLst>
            </a:custGeom>
            <a:solidFill>
              <a:srgbClr val="2E2E2E"/>
            </a:solidFill>
            <a:ln w="38100" cap="sq">
              <a:solidFill>
                <a:srgbClr val="F47920"/>
              </a:solidFill>
              <a:prstDash val="solid"/>
              <a:miter/>
            </a:ln>
          </p:spPr>
        </p:sp>
      </p:grpSp>
      <p:grpSp>
        <p:nvGrpSpPr>
          <p:cNvPr name="Group 14" id="14"/>
          <p:cNvGrpSpPr/>
          <p:nvPr/>
        </p:nvGrpSpPr>
        <p:grpSpPr>
          <a:xfrm rot="0">
            <a:off x="627383" y="1486919"/>
            <a:ext cx="135131" cy="3500123"/>
            <a:chOff x="0" y="0"/>
            <a:chExt cx="180175" cy="4666831"/>
          </a:xfrm>
        </p:grpSpPr>
        <p:sp>
          <p:nvSpPr>
            <p:cNvPr name="Freeform 15" id="15"/>
            <p:cNvSpPr/>
            <p:nvPr/>
          </p:nvSpPr>
          <p:spPr>
            <a:xfrm flipH="false" flipV="false" rot="0">
              <a:off x="0" y="0"/>
              <a:ext cx="180213" cy="4666869"/>
            </a:xfrm>
            <a:custGeom>
              <a:avLst/>
              <a:gdLst/>
              <a:ahLst/>
              <a:cxnLst/>
              <a:rect r="r" b="b" t="t" l="l"/>
              <a:pathLst>
                <a:path h="4666869" w="180213">
                  <a:moveTo>
                    <a:pt x="0" y="0"/>
                  </a:moveTo>
                  <a:lnTo>
                    <a:pt x="180213" y="0"/>
                  </a:lnTo>
                  <a:lnTo>
                    <a:pt x="180213" y="4666869"/>
                  </a:lnTo>
                  <a:lnTo>
                    <a:pt x="0" y="4666869"/>
                  </a:lnTo>
                  <a:close/>
                </a:path>
              </a:pathLst>
            </a:custGeom>
            <a:solidFill>
              <a:srgbClr val="F47920"/>
            </a:solidFill>
            <a:ln w="25400" cap="sq">
              <a:solidFill>
                <a:srgbClr val="F47920"/>
              </a:solidFill>
              <a:prstDash val="solid"/>
              <a:miter/>
            </a:ln>
          </p:spPr>
        </p:sp>
      </p:grpSp>
      <p:grpSp>
        <p:nvGrpSpPr>
          <p:cNvPr name="Group 16" id="16"/>
          <p:cNvGrpSpPr/>
          <p:nvPr/>
        </p:nvGrpSpPr>
        <p:grpSpPr>
          <a:xfrm rot="0">
            <a:off x="1005840" y="1609344"/>
            <a:ext cx="16459200" cy="694944"/>
            <a:chOff x="0" y="0"/>
            <a:chExt cx="21945600" cy="926592"/>
          </a:xfrm>
        </p:grpSpPr>
        <p:sp>
          <p:nvSpPr>
            <p:cNvPr name="Freeform 17" id="17"/>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18" id="18"/>
            <p:cNvSpPr txBox="true"/>
            <p:nvPr/>
          </p:nvSpPr>
          <p:spPr>
            <a:xfrm>
              <a:off x="0" y="-47625"/>
              <a:ext cx="21945600" cy="974217"/>
            </a:xfrm>
            <a:prstGeom prst="rect">
              <a:avLst/>
            </a:prstGeom>
          </p:spPr>
          <p:txBody>
            <a:bodyPr anchor="ctr" rtlCol="false" tIns="0" lIns="0" bIns="0" rIns="0"/>
            <a:lstStyle/>
            <a:p>
              <a:pPr algn="l">
                <a:lnSpc>
                  <a:spcPts val="3359"/>
                </a:lnSpc>
              </a:pPr>
              <a:r>
                <a:rPr lang="en-US" sz="2799" b="true">
                  <a:solidFill>
                    <a:srgbClr val="F47920"/>
                  </a:solidFill>
                  <a:latin typeface="Calibri (MS) Bold"/>
                  <a:ea typeface="Calibri (MS) Bold"/>
                  <a:cs typeface="Calibri (MS) Bold"/>
                  <a:sym typeface="Calibri (MS) Bold"/>
                </a:rPr>
                <a:t>UR 1.1 · Crear productos con identificadores únicos</a:t>
              </a:r>
            </a:p>
          </p:txBody>
        </p:sp>
      </p:grpSp>
      <p:grpSp>
        <p:nvGrpSpPr>
          <p:cNvPr name="Group 19" id="19"/>
          <p:cNvGrpSpPr/>
          <p:nvPr/>
        </p:nvGrpSpPr>
        <p:grpSpPr>
          <a:xfrm rot="0">
            <a:off x="1005840" y="2340864"/>
            <a:ext cx="16459200" cy="2377440"/>
            <a:chOff x="0" y="0"/>
            <a:chExt cx="21945600" cy="3169920"/>
          </a:xfrm>
        </p:grpSpPr>
        <p:sp>
          <p:nvSpPr>
            <p:cNvPr name="Freeform 20" id="20"/>
            <p:cNvSpPr/>
            <p:nvPr/>
          </p:nvSpPr>
          <p:spPr>
            <a:xfrm flipH="false" flipV="false" rot="0">
              <a:off x="0" y="0"/>
              <a:ext cx="21945600" cy="3169920"/>
            </a:xfrm>
            <a:custGeom>
              <a:avLst/>
              <a:gdLst/>
              <a:ahLst/>
              <a:cxnLst/>
              <a:rect r="r" b="b" t="t" l="l"/>
              <a:pathLst>
                <a:path h="3169920" w="21945600">
                  <a:moveTo>
                    <a:pt x="0" y="0"/>
                  </a:moveTo>
                  <a:lnTo>
                    <a:pt x="21945600" y="0"/>
                  </a:lnTo>
                  <a:lnTo>
                    <a:pt x="21945600" y="3169920"/>
                  </a:lnTo>
                  <a:lnTo>
                    <a:pt x="0" y="3169920"/>
                  </a:lnTo>
                  <a:close/>
                </a:path>
              </a:pathLst>
            </a:custGeom>
            <a:blipFill>
              <a:blip r:embed="rId3">
                <a:alphaModFix amt="0"/>
              </a:blip>
              <a:stretch>
                <a:fillRect l="0" t="-84896" r="0" b="-84896"/>
              </a:stretch>
            </a:blipFill>
          </p:spPr>
        </p:sp>
        <p:sp>
          <p:nvSpPr>
            <p:cNvPr name="TextBox 21" id="21"/>
            <p:cNvSpPr txBox="true"/>
            <p:nvPr/>
          </p:nvSpPr>
          <p:spPr>
            <a:xfrm>
              <a:off x="0" y="-47625"/>
              <a:ext cx="21945600" cy="3217545"/>
            </a:xfrm>
            <a:prstGeom prst="rect">
              <a:avLst/>
            </a:prstGeom>
          </p:spPr>
          <p:txBody>
            <a:bodyPr anchor="ctr" rtlCol="false" tIns="0" lIns="0" bIns="0" rIns="0"/>
            <a:lstStyle/>
            <a:p>
              <a:pPr algn="l">
                <a:lnSpc>
                  <a:spcPts val="2999"/>
                </a:lnSpc>
              </a:pPr>
              <a:r>
                <a:rPr lang="en-US" sz="2499">
                  <a:solidFill>
                    <a:srgbClr val="D1D5DB"/>
                  </a:solidFill>
                  <a:latin typeface="Calibri (MS)"/>
                  <a:ea typeface="Calibri (MS)"/>
                  <a:cs typeface="Calibri (MS)"/>
                  <a:sym typeface="Calibri (MS)"/>
                </a:rPr>
                <a:t>Como gerencia, quiero registrar nuevos productos en el sistema asignándoles un código SKU único a cada uno, para identificarlos de manera exacta y evitar duplicidades o errores en la gestión del stock.</a:t>
              </a:r>
            </a:p>
          </p:txBody>
        </p:sp>
      </p:grpSp>
      <p:grpSp>
        <p:nvGrpSpPr>
          <p:cNvPr name="Group 22" id="22"/>
          <p:cNvGrpSpPr/>
          <p:nvPr/>
        </p:nvGrpSpPr>
        <p:grpSpPr>
          <a:xfrm rot="0">
            <a:off x="621030" y="5375910"/>
            <a:ext cx="17045940" cy="3512820"/>
            <a:chOff x="0" y="0"/>
            <a:chExt cx="22727920" cy="4683760"/>
          </a:xfrm>
        </p:grpSpPr>
        <p:sp>
          <p:nvSpPr>
            <p:cNvPr name="Freeform 23" id="23"/>
            <p:cNvSpPr/>
            <p:nvPr/>
          </p:nvSpPr>
          <p:spPr>
            <a:xfrm flipH="false" flipV="false" rot="0">
              <a:off x="0" y="0"/>
              <a:ext cx="22727920" cy="4683760"/>
            </a:xfrm>
            <a:custGeom>
              <a:avLst/>
              <a:gdLst/>
              <a:ahLst/>
              <a:cxnLst/>
              <a:rect r="r" b="b" t="t" l="l"/>
              <a:pathLst>
                <a:path h="4683760" w="22727920">
                  <a:moveTo>
                    <a:pt x="0" y="0"/>
                  </a:moveTo>
                  <a:lnTo>
                    <a:pt x="22727920" y="0"/>
                  </a:lnTo>
                  <a:lnTo>
                    <a:pt x="22727920" y="4683760"/>
                  </a:lnTo>
                  <a:lnTo>
                    <a:pt x="0" y="4683760"/>
                  </a:lnTo>
                  <a:close/>
                </a:path>
              </a:pathLst>
            </a:custGeom>
            <a:solidFill>
              <a:srgbClr val="2E2E2E"/>
            </a:solidFill>
            <a:ln w="38100" cap="sq">
              <a:solidFill>
                <a:srgbClr val="F47920"/>
              </a:solidFill>
              <a:prstDash val="solid"/>
              <a:miter/>
            </a:ln>
          </p:spPr>
        </p:sp>
      </p:grpSp>
      <p:grpSp>
        <p:nvGrpSpPr>
          <p:cNvPr name="Group 24" id="24"/>
          <p:cNvGrpSpPr/>
          <p:nvPr/>
        </p:nvGrpSpPr>
        <p:grpSpPr>
          <a:xfrm rot="0">
            <a:off x="627383" y="5382263"/>
            <a:ext cx="135131" cy="3500123"/>
            <a:chOff x="0" y="0"/>
            <a:chExt cx="180175" cy="4666831"/>
          </a:xfrm>
        </p:grpSpPr>
        <p:sp>
          <p:nvSpPr>
            <p:cNvPr name="Freeform 25" id="25"/>
            <p:cNvSpPr/>
            <p:nvPr/>
          </p:nvSpPr>
          <p:spPr>
            <a:xfrm flipH="false" flipV="false" rot="0">
              <a:off x="0" y="0"/>
              <a:ext cx="180213" cy="4666869"/>
            </a:xfrm>
            <a:custGeom>
              <a:avLst/>
              <a:gdLst/>
              <a:ahLst/>
              <a:cxnLst/>
              <a:rect r="r" b="b" t="t" l="l"/>
              <a:pathLst>
                <a:path h="4666869" w="180213">
                  <a:moveTo>
                    <a:pt x="0" y="0"/>
                  </a:moveTo>
                  <a:lnTo>
                    <a:pt x="180213" y="0"/>
                  </a:lnTo>
                  <a:lnTo>
                    <a:pt x="180213" y="4666869"/>
                  </a:lnTo>
                  <a:lnTo>
                    <a:pt x="0" y="4666869"/>
                  </a:lnTo>
                  <a:close/>
                </a:path>
              </a:pathLst>
            </a:custGeom>
            <a:solidFill>
              <a:srgbClr val="F47920"/>
            </a:solidFill>
            <a:ln w="25400" cap="sq">
              <a:solidFill>
                <a:srgbClr val="F47920"/>
              </a:solidFill>
              <a:prstDash val="solid"/>
              <a:miter/>
            </a:ln>
          </p:spPr>
        </p:sp>
      </p:grpSp>
      <p:grpSp>
        <p:nvGrpSpPr>
          <p:cNvPr name="Group 26" id="26"/>
          <p:cNvGrpSpPr/>
          <p:nvPr/>
        </p:nvGrpSpPr>
        <p:grpSpPr>
          <a:xfrm rot="0">
            <a:off x="1005840" y="5504688"/>
            <a:ext cx="16459200" cy="694944"/>
            <a:chOff x="0" y="0"/>
            <a:chExt cx="21945600" cy="926592"/>
          </a:xfrm>
        </p:grpSpPr>
        <p:sp>
          <p:nvSpPr>
            <p:cNvPr name="Freeform 27" id="27"/>
            <p:cNvSpPr/>
            <p:nvPr/>
          </p:nvSpPr>
          <p:spPr>
            <a:xfrm flipH="false" flipV="false" rot="0">
              <a:off x="0" y="0"/>
              <a:ext cx="21945600" cy="926592"/>
            </a:xfrm>
            <a:custGeom>
              <a:avLst/>
              <a:gdLst/>
              <a:ahLst/>
              <a:cxnLst/>
              <a:rect r="r" b="b" t="t" l="l"/>
              <a:pathLst>
                <a:path h="926592" w="21945600">
                  <a:moveTo>
                    <a:pt x="0" y="0"/>
                  </a:moveTo>
                  <a:lnTo>
                    <a:pt x="21945600" y="0"/>
                  </a:lnTo>
                  <a:lnTo>
                    <a:pt x="21945600" y="926592"/>
                  </a:lnTo>
                  <a:lnTo>
                    <a:pt x="0" y="926592"/>
                  </a:lnTo>
                  <a:close/>
                </a:path>
              </a:pathLst>
            </a:custGeom>
            <a:blipFill>
              <a:blip r:embed="rId3">
                <a:alphaModFix amt="0"/>
              </a:blip>
              <a:stretch>
                <a:fillRect l="0" t="-411487" r="0" b="-411487"/>
              </a:stretch>
            </a:blipFill>
          </p:spPr>
        </p:sp>
        <p:sp>
          <p:nvSpPr>
            <p:cNvPr name="TextBox 28" id="28"/>
            <p:cNvSpPr txBox="true"/>
            <p:nvPr/>
          </p:nvSpPr>
          <p:spPr>
            <a:xfrm>
              <a:off x="0" y="-47625"/>
              <a:ext cx="21945600" cy="974217"/>
            </a:xfrm>
            <a:prstGeom prst="rect">
              <a:avLst/>
            </a:prstGeom>
          </p:spPr>
          <p:txBody>
            <a:bodyPr anchor="ctr" rtlCol="false" tIns="0" lIns="0" bIns="0" rIns="0"/>
            <a:lstStyle/>
            <a:p>
              <a:pPr algn="l">
                <a:lnSpc>
                  <a:spcPts val="3359"/>
                </a:lnSpc>
              </a:pPr>
              <a:r>
                <a:rPr lang="en-US" sz="2799" b="true">
                  <a:solidFill>
                    <a:srgbClr val="F47920"/>
                  </a:solidFill>
                  <a:latin typeface="Calibri (MS) Bold"/>
                  <a:ea typeface="Calibri (MS) Bold"/>
                  <a:cs typeface="Calibri (MS) Bold"/>
                  <a:sym typeface="Calibri (MS) Bold"/>
                </a:rPr>
                <a:t>UR 3.2 · Registrar salidas de inventario</a:t>
              </a:r>
            </a:p>
          </p:txBody>
        </p:sp>
      </p:grpSp>
      <p:grpSp>
        <p:nvGrpSpPr>
          <p:cNvPr name="Group 29" id="29"/>
          <p:cNvGrpSpPr/>
          <p:nvPr/>
        </p:nvGrpSpPr>
        <p:grpSpPr>
          <a:xfrm rot="0">
            <a:off x="1005840" y="6236208"/>
            <a:ext cx="16459200" cy="2377440"/>
            <a:chOff x="0" y="0"/>
            <a:chExt cx="21945600" cy="3169920"/>
          </a:xfrm>
        </p:grpSpPr>
        <p:sp>
          <p:nvSpPr>
            <p:cNvPr name="Freeform 30" id="30"/>
            <p:cNvSpPr/>
            <p:nvPr/>
          </p:nvSpPr>
          <p:spPr>
            <a:xfrm flipH="false" flipV="false" rot="0">
              <a:off x="0" y="0"/>
              <a:ext cx="21945600" cy="3169920"/>
            </a:xfrm>
            <a:custGeom>
              <a:avLst/>
              <a:gdLst/>
              <a:ahLst/>
              <a:cxnLst/>
              <a:rect r="r" b="b" t="t" l="l"/>
              <a:pathLst>
                <a:path h="3169920" w="21945600">
                  <a:moveTo>
                    <a:pt x="0" y="0"/>
                  </a:moveTo>
                  <a:lnTo>
                    <a:pt x="21945600" y="0"/>
                  </a:lnTo>
                  <a:lnTo>
                    <a:pt x="21945600" y="3169920"/>
                  </a:lnTo>
                  <a:lnTo>
                    <a:pt x="0" y="3169920"/>
                  </a:lnTo>
                  <a:close/>
                </a:path>
              </a:pathLst>
            </a:custGeom>
            <a:blipFill>
              <a:blip r:embed="rId3">
                <a:alphaModFix amt="0"/>
              </a:blip>
              <a:stretch>
                <a:fillRect l="0" t="-84896" r="0" b="-84896"/>
              </a:stretch>
            </a:blipFill>
          </p:spPr>
        </p:sp>
        <p:sp>
          <p:nvSpPr>
            <p:cNvPr name="TextBox 31" id="31"/>
            <p:cNvSpPr txBox="true"/>
            <p:nvPr/>
          </p:nvSpPr>
          <p:spPr>
            <a:xfrm>
              <a:off x="0" y="-47625"/>
              <a:ext cx="21945600" cy="3217545"/>
            </a:xfrm>
            <a:prstGeom prst="rect">
              <a:avLst/>
            </a:prstGeom>
          </p:spPr>
          <p:txBody>
            <a:bodyPr anchor="ctr" rtlCol="false" tIns="0" lIns="0" bIns="0" rIns="0"/>
            <a:lstStyle/>
            <a:p>
              <a:pPr algn="l">
                <a:lnSpc>
                  <a:spcPts val="2999"/>
                </a:lnSpc>
              </a:pPr>
              <a:r>
                <a:rPr lang="en-US" sz="2499">
                  <a:solidFill>
                    <a:srgbClr val="D1D5DB"/>
                  </a:solidFill>
                  <a:latin typeface="Calibri (MS)"/>
                  <a:ea typeface="Calibri (MS)"/>
                  <a:cs typeface="Calibri (MS)"/>
                  <a:sym typeface="Calibri (MS)"/>
                </a:rPr>
                <a:t>Como usuario, quiero registrar retiros especificando el SKU, la cantidad y el motivo correspondiente, para asegurar que cada salida de bodega esté debidamente justificada y sea trazable.</a:t>
              </a:r>
            </a:p>
          </p:txBody>
        </p:sp>
      </p:grpSp>
      <p:grpSp>
        <p:nvGrpSpPr>
          <p:cNvPr name="Group 32" id="32"/>
          <p:cNvGrpSpPr/>
          <p:nvPr/>
        </p:nvGrpSpPr>
        <p:grpSpPr>
          <a:xfrm rot="0">
            <a:off x="912321" y="4489704"/>
            <a:ext cx="7315200" cy="457200"/>
            <a:chOff x="0" y="0"/>
            <a:chExt cx="9753600" cy="609600"/>
          </a:xfrm>
        </p:grpSpPr>
        <p:sp>
          <p:nvSpPr>
            <p:cNvPr name="Freeform 33" id="33"/>
            <p:cNvSpPr/>
            <p:nvPr/>
          </p:nvSpPr>
          <p:spPr>
            <a:xfrm flipH="false" flipV="false" rot="0">
              <a:off x="0" y="0"/>
              <a:ext cx="9753600" cy="609600"/>
            </a:xfrm>
            <a:custGeom>
              <a:avLst/>
              <a:gdLst/>
              <a:ahLst/>
              <a:cxnLst/>
              <a:rect r="r" b="b" t="t" l="l"/>
              <a:pathLst>
                <a:path h="609600" w="9753600">
                  <a:moveTo>
                    <a:pt x="0" y="0"/>
                  </a:moveTo>
                  <a:lnTo>
                    <a:pt x="9753600" y="0"/>
                  </a:lnTo>
                  <a:lnTo>
                    <a:pt x="9753600" y="609600"/>
                  </a:lnTo>
                  <a:lnTo>
                    <a:pt x="0" y="609600"/>
                  </a:lnTo>
                  <a:close/>
                </a:path>
              </a:pathLst>
            </a:custGeom>
            <a:blipFill>
              <a:blip r:embed="rId3">
                <a:alphaModFix amt="0"/>
              </a:blip>
              <a:stretch>
                <a:fillRect l="0" t="-261760" r="0" b="-261760"/>
              </a:stretch>
            </a:blipFill>
          </p:spPr>
        </p:sp>
        <p:sp>
          <p:nvSpPr>
            <p:cNvPr name="TextBox 34" id="34"/>
            <p:cNvSpPr txBox="true"/>
            <p:nvPr/>
          </p:nvSpPr>
          <p:spPr>
            <a:xfrm>
              <a:off x="0" y="-38100"/>
              <a:ext cx="9753600" cy="647700"/>
            </a:xfrm>
            <a:prstGeom prst="rect">
              <a:avLst/>
            </a:prstGeom>
          </p:spPr>
          <p:txBody>
            <a:bodyPr anchor="ctr" rtlCol="false" tIns="0" lIns="0" bIns="0" rIns="0"/>
            <a:lstStyle/>
            <a:p>
              <a:pPr algn="l">
                <a:lnSpc>
                  <a:spcPts val="2280"/>
                </a:lnSpc>
              </a:pPr>
              <a:r>
                <a:rPr lang="en-US" sz="1900" i="true">
                  <a:solidFill>
                    <a:srgbClr val="F47920"/>
                  </a:solidFill>
                  <a:latin typeface="Calibri (MS) Italics"/>
                  <a:ea typeface="Calibri (MS) Italics"/>
                  <a:cs typeface="Calibri (MS) Italics"/>
                  <a:sym typeface="Calibri (MS) Italics"/>
                </a:rPr>
                <a:t>Relacionado con: FR-01</a:t>
              </a:r>
            </a:p>
          </p:txBody>
        </p:sp>
      </p:grpSp>
      <p:grpSp>
        <p:nvGrpSpPr>
          <p:cNvPr name="Group 35" id="35"/>
          <p:cNvGrpSpPr/>
          <p:nvPr/>
        </p:nvGrpSpPr>
        <p:grpSpPr>
          <a:xfrm rot="0">
            <a:off x="912321" y="8380857"/>
            <a:ext cx="7315200" cy="457200"/>
            <a:chOff x="0" y="0"/>
            <a:chExt cx="9753600" cy="609600"/>
          </a:xfrm>
        </p:grpSpPr>
        <p:sp>
          <p:nvSpPr>
            <p:cNvPr name="Freeform 36" id="36"/>
            <p:cNvSpPr/>
            <p:nvPr/>
          </p:nvSpPr>
          <p:spPr>
            <a:xfrm flipH="false" flipV="false" rot="0">
              <a:off x="0" y="0"/>
              <a:ext cx="9753600" cy="609600"/>
            </a:xfrm>
            <a:custGeom>
              <a:avLst/>
              <a:gdLst/>
              <a:ahLst/>
              <a:cxnLst/>
              <a:rect r="r" b="b" t="t" l="l"/>
              <a:pathLst>
                <a:path h="609600" w="9753600">
                  <a:moveTo>
                    <a:pt x="0" y="0"/>
                  </a:moveTo>
                  <a:lnTo>
                    <a:pt x="9753600" y="0"/>
                  </a:lnTo>
                  <a:lnTo>
                    <a:pt x="9753600" y="609600"/>
                  </a:lnTo>
                  <a:lnTo>
                    <a:pt x="0" y="609600"/>
                  </a:lnTo>
                  <a:close/>
                </a:path>
              </a:pathLst>
            </a:custGeom>
            <a:blipFill>
              <a:blip r:embed="rId3">
                <a:alphaModFix amt="0"/>
              </a:blip>
              <a:stretch>
                <a:fillRect l="0" t="-261760" r="0" b="-261760"/>
              </a:stretch>
            </a:blipFill>
          </p:spPr>
        </p:sp>
        <p:sp>
          <p:nvSpPr>
            <p:cNvPr name="TextBox 37" id="37"/>
            <p:cNvSpPr txBox="true"/>
            <p:nvPr/>
          </p:nvSpPr>
          <p:spPr>
            <a:xfrm>
              <a:off x="0" y="-38100"/>
              <a:ext cx="9753600" cy="647700"/>
            </a:xfrm>
            <a:prstGeom prst="rect">
              <a:avLst/>
            </a:prstGeom>
          </p:spPr>
          <p:txBody>
            <a:bodyPr anchor="ctr" rtlCol="false" tIns="0" lIns="0" bIns="0" rIns="0"/>
            <a:lstStyle/>
            <a:p>
              <a:pPr algn="l">
                <a:lnSpc>
                  <a:spcPts val="2280"/>
                </a:lnSpc>
              </a:pPr>
              <a:r>
                <a:rPr lang="en-US" sz="1900" i="true">
                  <a:solidFill>
                    <a:srgbClr val="F47920"/>
                  </a:solidFill>
                  <a:latin typeface="Calibri (MS) Italics"/>
                  <a:ea typeface="Calibri (MS) Italics"/>
                  <a:cs typeface="Calibri (MS) Italics"/>
                  <a:sym typeface="Calibri (MS) Italics"/>
                </a:rPr>
                <a:t>Relacionado con: FR-19</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170908"/>
            <a:ext cx="15798262" cy="1005840"/>
            <a:chOff x="0" y="0"/>
            <a:chExt cx="21064349" cy="1341120"/>
          </a:xfrm>
        </p:grpSpPr>
        <p:sp>
          <p:nvSpPr>
            <p:cNvPr name="Freeform 7" id="7"/>
            <p:cNvSpPr/>
            <p:nvPr/>
          </p:nvSpPr>
          <p:spPr>
            <a:xfrm flipH="false" flipV="false" rot="0">
              <a:off x="0" y="0"/>
              <a:ext cx="21064348" cy="1341120"/>
            </a:xfrm>
            <a:custGeom>
              <a:avLst/>
              <a:gdLst/>
              <a:ahLst/>
              <a:cxnLst/>
              <a:rect r="r" b="b" t="t" l="l"/>
              <a:pathLst>
                <a:path h="1341120" w="21064348">
                  <a:moveTo>
                    <a:pt x="0" y="0"/>
                  </a:moveTo>
                  <a:lnTo>
                    <a:pt x="21064348" y="0"/>
                  </a:lnTo>
                  <a:lnTo>
                    <a:pt x="21064348" y="1341120"/>
                  </a:lnTo>
                  <a:lnTo>
                    <a:pt x="0" y="1341120"/>
                  </a:lnTo>
                  <a:close/>
                </a:path>
              </a:pathLst>
            </a:custGeom>
            <a:blipFill>
              <a:blip r:embed="rId3">
                <a:alphaModFix amt="0"/>
              </a:blip>
              <a:stretch>
                <a:fillRect l="0" t="-279474" r="-7656" b="-279474"/>
              </a:stretch>
            </a:blipFill>
          </p:spPr>
        </p:sp>
        <p:sp>
          <p:nvSpPr>
            <p:cNvPr name="TextBox 8" id="8"/>
            <p:cNvSpPr txBox="true"/>
            <p:nvPr/>
          </p:nvSpPr>
          <p:spPr>
            <a:xfrm>
              <a:off x="0" y="-76200"/>
              <a:ext cx="21064349"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Caso de Uso: CU-01 y CU-02 asociados al UR 1.1</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aphicFrame>
        <p:nvGraphicFramePr>
          <p:cNvPr name="Table 12" id="12"/>
          <p:cNvGraphicFramePr>
            <a:graphicFrameLocks noGrp="true"/>
          </p:cNvGraphicFramePr>
          <p:nvPr/>
        </p:nvGraphicFramePr>
        <p:xfrm>
          <a:off x="640080" y="1176748"/>
          <a:ext cx="6597625" cy="8036738"/>
        </p:xfrm>
        <a:graphic>
          <a:graphicData uri="http://schemas.openxmlformats.org/drawingml/2006/table">
            <a:tbl>
              <a:tblPr/>
              <a:tblGrid>
                <a:gridCol w="1366311"/>
                <a:gridCol w="5231314"/>
              </a:tblGrid>
              <a:tr h="539686">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Campo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r>
              <a:tr h="5396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Nombre</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CU-01: Registrando producto con SKU único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396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Actor(es)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Gerencia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788772">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Resumen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Permite asignar un código SKU único al registrar un nuevo producto para evitar duplicidades.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396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Frecuencia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Alta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788772">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Precondiciones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sistema debe estar en la interfaz de «Crear Producto».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532195">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sistema habilita el campo de identificación, usuario ingresa SKU [Exc.1] , sistema valida longitud y formato [Exc.2], sistema verifica disponibilidad en BD [Exc.3], confirma e identifica el identificador como válido.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286945">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Excepciones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Exc.1: Campo vacío, solicita ingreso obligatorio.</a:t>
                      </a:r>
                      <a:endParaRPr lang="en-US" sz="1100"/>
                    </a:p>
                    <a:p>
                      <a:pPr algn="l">
                        <a:lnSpc>
                          <a:spcPts val="1800"/>
                        </a:lnSpc>
                      </a:pPr>
                      <a:r>
                        <a:rPr lang="en-US" sz="1500">
                          <a:solidFill>
                            <a:srgbClr val="D1D5DB"/>
                          </a:solidFill>
                          <a:latin typeface="Calibri (MS)"/>
                          <a:ea typeface="Calibri (MS)"/>
                          <a:cs typeface="Calibri (MS)"/>
                          <a:sym typeface="Calibri (MS)"/>
                        </a:rPr>
                        <a:t>Exc.2: Formato fuera de rango (4–16 car.)  informa reglas del SKU.</a:t>
                      </a:r>
                    </a:p>
                    <a:p>
                      <a:pPr algn="l">
                        <a:lnSpc>
                          <a:spcPts val="1800"/>
                        </a:lnSpc>
                      </a:pPr>
                      <a:r>
                        <a:rPr lang="en-US" sz="1500">
                          <a:solidFill>
                            <a:srgbClr val="D1D5DB"/>
                          </a:solidFill>
                          <a:latin typeface="Calibri (MS)"/>
                          <a:ea typeface="Calibri (MS)"/>
                          <a:cs typeface="Calibri (MS)"/>
                          <a:sym typeface="Calibri (MS)"/>
                        </a:rPr>
                        <a:t>Exc.3: SKU ya registrado, solicita código distinto.</a:t>
                      </a:r>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788772">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Postcondiciones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producto queda identificado de forma única en la plataforma.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692535">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Dependencias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560"/>
                        </a:lnSpc>
                        <a:defRPr/>
                      </a:pPr>
                      <a:r>
                        <a:rPr lang="en-US" sz="1300">
                          <a:solidFill>
                            <a:srgbClr val="D1D5DB"/>
                          </a:solidFill>
                          <a:latin typeface="Calibri (MS)"/>
                          <a:ea typeface="Calibri (MS)"/>
                          <a:cs typeface="Calibri (MS)"/>
                          <a:sym typeface="Calibri (MS)"/>
                        </a:rPr>
                        <a:t>UR 1.1</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bl>
          </a:graphicData>
        </a:graphic>
      </p:graphicFrame>
      <p:graphicFrame>
        <p:nvGraphicFramePr>
          <p:cNvPr name="Table 13" id="13"/>
          <p:cNvGraphicFramePr>
            <a:graphicFrameLocks noGrp="true"/>
          </p:cNvGraphicFramePr>
          <p:nvPr/>
        </p:nvGraphicFramePr>
        <p:xfrm>
          <a:off x="8874379" y="1176748"/>
          <a:ext cx="6574830" cy="8180536"/>
        </p:xfrm>
        <a:graphic>
          <a:graphicData uri="http://schemas.openxmlformats.org/drawingml/2006/table">
            <a:tbl>
              <a:tblPr/>
              <a:tblGrid>
                <a:gridCol w="2497590"/>
                <a:gridCol w="4077240"/>
              </a:tblGrid>
              <a:tr h="500741">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Campo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r>
              <a:tr h="500741">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Nombre</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CU-02: Buscando producto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00741">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Actor(es)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Gerencia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729519">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Resumen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Permite localizar rápidamente un producto específico mediante su SKU o nombre.</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00741">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Frecuencia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Alta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049279">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Precondiciones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sistema debe tener productos registrados.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639573">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sistema habilita la barra de búsqueda, el usuario ingresa el SKU o parte del nombre [Excepción 1], el sistema filtra la base de datos en tiempo real [Excepción 2], el sistema despliega las coincidencias encontradas, el usuario identifica el producto deseado.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187074">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Excepciones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Excepción 1: Campo de búsqueda vacío. El sistema solicita ingresar 3 caracteres.Excepción 2: Sin resultados. El sistema informa que no existen coincidencias y sugiere revisar el SKU.</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729519">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Postcondiciones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usuario localiza el registro para posteriores acciones (editar, ver o mover).</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842610">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Dependencias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560"/>
                        </a:lnSpc>
                        <a:defRPr/>
                      </a:pPr>
                      <a:r>
                        <a:rPr lang="en-US" sz="1300">
                          <a:solidFill>
                            <a:srgbClr val="D1D5DB"/>
                          </a:solidFill>
                          <a:latin typeface="Calibri (MS)"/>
                          <a:ea typeface="Calibri (MS)"/>
                          <a:cs typeface="Calibri (MS)"/>
                          <a:sym typeface="Calibri (MS)"/>
                        </a:rPr>
                        <a:t>UR 1.1</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390697" y="1359549"/>
          <a:ext cx="7245047" cy="8235841"/>
        </p:xfrm>
        <a:graphic>
          <a:graphicData uri="http://schemas.openxmlformats.org/drawingml/2006/table">
            <a:tbl>
              <a:tblPr/>
              <a:tblGrid>
                <a:gridCol w="2752186"/>
                <a:gridCol w="4492861"/>
              </a:tblGrid>
              <a:tr h="553321">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Campo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r>
              <a:tr h="553321">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Nombre</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CU-03: Consultando ficha de producto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53321">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Actor(es)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Gerencia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808700">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Resumen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Permite visualizar toda la información técnica, categorías y parámetros de stock de un producto.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53321">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Frecuencia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Alta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804767">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Precondiciones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producto debe haber sido seleccionado previamente.</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57483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usuario solicita ver el detalle del producto, el sistema recupera la ficha completa (Nombre, SKU, Categorías, Unidades, Criticidad, Stocks), el sistema despliega la información en modo lectura [Excepción 1], el usuario finaliza la revisión.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315525">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Excepciones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Excepción 1: Error de carga de datos. El sistema solicita refrescar la vista.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808700">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Postcondiciones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usuario obtiene la visión completa de los atributos del material.</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710031">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Dependencias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560"/>
                        </a:lnSpc>
                        <a:defRPr/>
                      </a:pPr>
                      <a:r>
                        <a:rPr lang="en-US" sz="1300">
                          <a:solidFill>
                            <a:srgbClr val="D1D5DB"/>
                          </a:solidFill>
                          <a:latin typeface="Calibri (MS)"/>
                          <a:ea typeface="Calibri (MS)"/>
                          <a:cs typeface="Calibri (MS)"/>
                          <a:sym typeface="Calibri (MS)"/>
                        </a:rPr>
                        <a:t>UR 1.1</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bl>
          </a:graphicData>
        </a:graphic>
      </p:graphicFrame>
      <p:grpSp>
        <p:nvGrpSpPr>
          <p:cNvPr name="Group 3" id="3"/>
          <p:cNvGrpSpPr/>
          <p:nvPr/>
        </p:nvGrpSpPr>
        <p:grpSpPr>
          <a:xfrm rot="0">
            <a:off x="390697" y="203399"/>
            <a:ext cx="16521745" cy="1005840"/>
            <a:chOff x="0" y="0"/>
            <a:chExt cx="22028993" cy="1341120"/>
          </a:xfrm>
        </p:grpSpPr>
        <p:sp>
          <p:nvSpPr>
            <p:cNvPr name="Freeform 4" id="4"/>
            <p:cNvSpPr/>
            <p:nvPr/>
          </p:nvSpPr>
          <p:spPr>
            <a:xfrm flipH="false" flipV="false" rot="0">
              <a:off x="0" y="0"/>
              <a:ext cx="22028993" cy="1341120"/>
            </a:xfrm>
            <a:custGeom>
              <a:avLst/>
              <a:gdLst/>
              <a:ahLst/>
              <a:cxnLst/>
              <a:rect r="r" b="b" t="t" l="l"/>
              <a:pathLst>
                <a:path h="1341120" w="22028993">
                  <a:moveTo>
                    <a:pt x="0" y="0"/>
                  </a:moveTo>
                  <a:lnTo>
                    <a:pt x="22028993" y="0"/>
                  </a:lnTo>
                  <a:lnTo>
                    <a:pt x="22028993" y="1341120"/>
                  </a:lnTo>
                  <a:lnTo>
                    <a:pt x="0" y="1341120"/>
                  </a:lnTo>
                  <a:close/>
                </a:path>
              </a:pathLst>
            </a:custGeom>
            <a:blipFill>
              <a:blip r:embed="rId2">
                <a:alphaModFix amt="0"/>
              </a:blip>
              <a:stretch>
                <a:fillRect l="0" t="-279474" r="-2942" b="-279474"/>
              </a:stretch>
            </a:blipFill>
          </p:spPr>
        </p:sp>
        <p:sp>
          <p:nvSpPr>
            <p:cNvPr name="TextBox 5" id="5"/>
            <p:cNvSpPr txBox="true"/>
            <p:nvPr/>
          </p:nvSpPr>
          <p:spPr>
            <a:xfrm>
              <a:off x="0" y="-76200"/>
              <a:ext cx="22028993"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Caso de Uso: CU-03 y CU-04 asociados al UR 1.1</a:t>
              </a:r>
            </a:p>
          </p:txBody>
        </p:sp>
      </p:grpSp>
      <p:grpSp>
        <p:nvGrpSpPr>
          <p:cNvPr name="Group 6" id="6"/>
          <p:cNvGrpSpPr/>
          <p:nvPr/>
        </p:nvGrpSpPr>
        <p:grpSpPr>
          <a:xfrm rot="0">
            <a:off x="-12697" y="-12697"/>
            <a:ext cx="244859" cy="10312403"/>
            <a:chOff x="0" y="0"/>
            <a:chExt cx="326479" cy="13749871"/>
          </a:xfrm>
        </p:grpSpPr>
        <p:sp>
          <p:nvSpPr>
            <p:cNvPr name="Freeform 7" id="7"/>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8" id="8"/>
          <p:cNvGrpSpPr/>
          <p:nvPr/>
        </p:nvGrpSpPr>
        <p:grpSpPr>
          <a:xfrm rot="0">
            <a:off x="206759" y="-12697"/>
            <a:ext cx="18093947" cy="135131"/>
            <a:chOff x="0" y="0"/>
            <a:chExt cx="24125263" cy="180175"/>
          </a:xfrm>
        </p:grpSpPr>
        <p:sp>
          <p:nvSpPr>
            <p:cNvPr name="Freeform 9" id="9"/>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10" id="10"/>
          <p:cNvGrpSpPr/>
          <p:nvPr/>
        </p:nvGrpSpPr>
        <p:grpSpPr>
          <a:xfrm rot="0">
            <a:off x="640080" y="9784080"/>
            <a:ext cx="17007840" cy="402336"/>
            <a:chOff x="0" y="0"/>
            <a:chExt cx="22677120" cy="536448"/>
          </a:xfrm>
        </p:grpSpPr>
        <p:sp>
          <p:nvSpPr>
            <p:cNvPr name="Freeform 11" id="11"/>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2">
                <a:alphaModFix amt="0"/>
              </a:blip>
              <a:stretch>
                <a:fillRect l="0" t="-773685" r="0" b="-773685"/>
              </a:stretch>
            </a:blipFill>
          </p:spPr>
        </p:sp>
        <p:sp>
          <p:nvSpPr>
            <p:cNvPr name="TextBox 12" id="12"/>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aphicFrame>
        <p:nvGraphicFramePr>
          <p:cNvPr name="Table 13" id="13"/>
          <p:cNvGraphicFramePr>
            <a:graphicFrameLocks noGrp="true"/>
          </p:cNvGraphicFramePr>
          <p:nvPr/>
        </p:nvGraphicFramePr>
        <p:xfrm>
          <a:off x="9651809" y="1359549"/>
          <a:ext cx="7260633" cy="8289641"/>
        </p:xfrm>
        <a:graphic>
          <a:graphicData uri="http://schemas.openxmlformats.org/drawingml/2006/table">
            <a:tbl>
              <a:tblPr/>
              <a:tblGrid>
                <a:gridCol w="2758107"/>
                <a:gridCol w="4502527"/>
              </a:tblGrid>
              <a:tr h="567186">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Campo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r>
              <a:tr h="5671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Nombre</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CU-04: Eliminando producto del sistema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671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Actor(es)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Gerencia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828964">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Resumen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Permite remover definitivamente un producto del catálogo maestro.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671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Frecuencia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Baja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828964">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Precondiciones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producto debe existir y el usuario debe tener rol de Gerencia.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614299">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usuario solicita la eliminación, el sistema verifica si el producto tiene historial de movimientos o stock [Excepción 1], el sistema solicita una confirmación final [Excepción 2], el sistema borra el registro de la base de datos y confirma la acción.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614299">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Excepciones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Excepción 1: Producto con movimientos asociados. El sistema impide el borrado por integridad referencial e indica que solo puede "Desactivarse".Excepción 2: Usuario cancela la confirmación. El sistema aborta la eliminación.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671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Postcondiciones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registro desaparece de la base de datos.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567186">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Dependencias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560"/>
                        </a:lnSpc>
                        <a:defRPr/>
                      </a:pPr>
                      <a:r>
                        <a:rPr lang="en-US" sz="1300">
                          <a:solidFill>
                            <a:srgbClr val="D1D5DB"/>
                          </a:solidFill>
                          <a:latin typeface="Calibri (MS)"/>
                          <a:ea typeface="Calibri (MS)"/>
                          <a:cs typeface="Calibri (MS)"/>
                          <a:sym typeface="Calibri (MS)"/>
                        </a:rPr>
                        <a:t>UR 1.1</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bl>
          </a:graphicData>
        </a:graphic>
      </p:graphicFrame>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640080" y="525780"/>
            <a:ext cx="9041611" cy="1005840"/>
            <a:chOff x="0" y="0"/>
            <a:chExt cx="12055481" cy="1341120"/>
          </a:xfrm>
        </p:grpSpPr>
        <p:sp>
          <p:nvSpPr>
            <p:cNvPr name="Freeform 3" id="3"/>
            <p:cNvSpPr/>
            <p:nvPr/>
          </p:nvSpPr>
          <p:spPr>
            <a:xfrm flipH="false" flipV="false" rot="0">
              <a:off x="0" y="0"/>
              <a:ext cx="12055481" cy="1341120"/>
            </a:xfrm>
            <a:custGeom>
              <a:avLst/>
              <a:gdLst/>
              <a:ahLst/>
              <a:cxnLst/>
              <a:rect r="r" b="b" t="t" l="l"/>
              <a:pathLst>
                <a:path h="1341120" w="12055481">
                  <a:moveTo>
                    <a:pt x="0" y="0"/>
                  </a:moveTo>
                  <a:lnTo>
                    <a:pt x="12055481" y="0"/>
                  </a:lnTo>
                  <a:lnTo>
                    <a:pt x="12055481" y="1341120"/>
                  </a:lnTo>
                  <a:lnTo>
                    <a:pt x="0" y="1341120"/>
                  </a:lnTo>
                  <a:close/>
                </a:path>
              </a:pathLst>
            </a:custGeom>
            <a:blipFill>
              <a:blip r:embed="rId2">
                <a:alphaModFix amt="0"/>
              </a:blip>
              <a:stretch>
                <a:fillRect l="0" t="-279474" r="-88106" b="-279474"/>
              </a:stretch>
            </a:blipFill>
          </p:spPr>
        </p:sp>
        <p:sp>
          <p:nvSpPr>
            <p:cNvPr name="TextBox 4" id="4"/>
            <p:cNvSpPr txBox="true"/>
            <p:nvPr/>
          </p:nvSpPr>
          <p:spPr>
            <a:xfrm>
              <a:off x="0" y="-76200"/>
              <a:ext cx="12055481"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Diagrama CU-01, CU-02, CU-03 y CU-04</a:t>
              </a:r>
            </a:p>
          </p:txBody>
        </p:sp>
      </p:grpSp>
      <p:grpSp>
        <p:nvGrpSpPr>
          <p:cNvPr name="Group 5" id="5"/>
          <p:cNvGrpSpPr/>
          <p:nvPr/>
        </p:nvGrpSpPr>
        <p:grpSpPr>
          <a:xfrm rot="0">
            <a:off x="-12697" y="-12697"/>
            <a:ext cx="244859" cy="10312403"/>
            <a:chOff x="0" y="0"/>
            <a:chExt cx="326479" cy="13749871"/>
          </a:xfrm>
        </p:grpSpPr>
        <p:sp>
          <p:nvSpPr>
            <p:cNvPr name="Freeform 6" id="6"/>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7" id="7"/>
          <p:cNvGrpSpPr/>
          <p:nvPr/>
        </p:nvGrpSpPr>
        <p:grpSpPr>
          <a:xfrm rot="0">
            <a:off x="206759" y="-12697"/>
            <a:ext cx="18093947" cy="135131"/>
            <a:chOff x="0" y="0"/>
            <a:chExt cx="24125263" cy="180175"/>
          </a:xfrm>
        </p:grpSpPr>
        <p:sp>
          <p:nvSpPr>
            <p:cNvPr name="Freeform 8" id="8"/>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2">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sp>
        <p:nvSpPr>
          <p:cNvPr name="Freeform 12" id="12"/>
          <p:cNvSpPr/>
          <p:nvPr/>
        </p:nvSpPr>
        <p:spPr>
          <a:xfrm flipH="false" flipV="false" rot="0">
            <a:off x="2796646" y="1931670"/>
            <a:ext cx="12914173" cy="7139239"/>
          </a:xfrm>
          <a:custGeom>
            <a:avLst/>
            <a:gdLst/>
            <a:ahLst/>
            <a:cxnLst/>
            <a:rect r="r" b="b" t="t" l="l"/>
            <a:pathLst>
              <a:path h="7139239" w="12914173">
                <a:moveTo>
                  <a:pt x="0" y="0"/>
                </a:moveTo>
                <a:lnTo>
                  <a:pt x="12914173" y="0"/>
                </a:lnTo>
                <a:lnTo>
                  <a:pt x="12914173" y="7139239"/>
                </a:lnTo>
                <a:lnTo>
                  <a:pt x="0" y="7139239"/>
                </a:lnTo>
                <a:lnTo>
                  <a:pt x="0" y="0"/>
                </a:lnTo>
                <a:close/>
              </a:path>
            </a:pathLst>
          </a:custGeom>
          <a:blipFill>
            <a:blip r:embed="rId3"/>
            <a:stretch>
              <a:fillRect l="0" t="0" r="0" b="0"/>
            </a:stretch>
          </a:blipFill>
        </p:spPr>
      </p:sp>
      <p:grpSp>
        <p:nvGrpSpPr>
          <p:cNvPr name="Group 13" id="13"/>
          <p:cNvGrpSpPr/>
          <p:nvPr/>
        </p:nvGrpSpPr>
        <p:grpSpPr>
          <a:xfrm rot="0">
            <a:off x="2659582" y="1931670"/>
            <a:ext cx="137064" cy="7139239"/>
            <a:chOff x="0" y="0"/>
            <a:chExt cx="195439" cy="10179767"/>
          </a:xfrm>
        </p:grpSpPr>
        <p:sp>
          <p:nvSpPr>
            <p:cNvPr name="Freeform 14" id="14"/>
            <p:cNvSpPr/>
            <p:nvPr/>
          </p:nvSpPr>
          <p:spPr>
            <a:xfrm flipH="false" flipV="false" rot="0">
              <a:off x="0" y="0"/>
              <a:ext cx="195477" cy="10179806"/>
            </a:xfrm>
            <a:custGeom>
              <a:avLst/>
              <a:gdLst/>
              <a:ahLst/>
              <a:cxnLst/>
              <a:rect r="r" b="b" t="t" l="l"/>
              <a:pathLst>
                <a:path h="10179806" w="195477">
                  <a:moveTo>
                    <a:pt x="0" y="0"/>
                  </a:moveTo>
                  <a:lnTo>
                    <a:pt x="195477" y="0"/>
                  </a:lnTo>
                  <a:lnTo>
                    <a:pt x="195477" y="10179806"/>
                  </a:lnTo>
                  <a:lnTo>
                    <a:pt x="0" y="10179806"/>
                  </a:lnTo>
                  <a:close/>
                </a:path>
              </a:pathLst>
            </a:custGeom>
            <a:solidFill>
              <a:srgbClr val="F47920"/>
            </a:solidFill>
            <a:ln w="25400" cap="sq">
              <a:solidFill>
                <a:srgbClr val="F47920"/>
              </a:solidFill>
              <a:prstDash val="solid"/>
              <a:miter/>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122434"/>
            <a:ext cx="17493301" cy="1005840"/>
            <a:chOff x="0" y="0"/>
            <a:chExt cx="23324401" cy="1341120"/>
          </a:xfrm>
        </p:grpSpPr>
        <p:sp>
          <p:nvSpPr>
            <p:cNvPr name="Freeform 7" id="7"/>
            <p:cNvSpPr/>
            <p:nvPr/>
          </p:nvSpPr>
          <p:spPr>
            <a:xfrm flipH="false" flipV="false" rot="0">
              <a:off x="0" y="0"/>
              <a:ext cx="23324401" cy="1341120"/>
            </a:xfrm>
            <a:custGeom>
              <a:avLst/>
              <a:gdLst/>
              <a:ahLst/>
              <a:cxnLst/>
              <a:rect r="r" b="b" t="t" l="l"/>
              <a:pathLst>
                <a:path h="1341120" w="23324401">
                  <a:moveTo>
                    <a:pt x="0" y="0"/>
                  </a:moveTo>
                  <a:lnTo>
                    <a:pt x="23324401" y="0"/>
                  </a:lnTo>
                  <a:lnTo>
                    <a:pt x="23324401" y="1341120"/>
                  </a:lnTo>
                  <a:lnTo>
                    <a:pt x="0" y="1341120"/>
                  </a:lnTo>
                  <a:close/>
                </a:path>
              </a:pathLst>
            </a:custGeom>
            <a:blipFill>
              <a:blip r:embed="rId3">
                <a:alphaModFix amt="0"/>
              </a:blip>
              <a:stretch>
                <a:fillRect l="0" t="-279474" r="2775" b="-279474"/>
              </a:stretch>
            </a:blipFill>
          </p:spPr>
        </p:sp>
        <p:sp>
          <p:nvSpPr>
            <p:cNvPr name="TextBox 8" id="8"/>
            <p:cNvSpPr txBox="true"/>
            <p:nvPr/>
          </p:nvSpPr>
          <p:spPr>
            <a:xfrm>
              <a:off x="0" y="-76200"/>
              <a:ext cx="23324401"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Caso de Uso: CU-25 · Registrando salidas de inventario, asociado al UR 3.2</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aphicFrame>
        <p:nvGraphicFramePr>
          <p:cNvPr name="Table 12" id="12"/>
          <p:cNvGraphicFramePr>
            <a:graphicFrameLocks noGrp="true"/>
          </p:cNvGraphicFramePr>
          <p:nvPr/>
        </p:nvGraphicFramePr>
        <p:xfrm>
          <a:off x="4986903" y="1319095"/>
          <a:ext cx="8314193" cy="7648811"/>
        </p:xfrm>
        <a:graphic>
          <a:graphicData uri="http://schemas.openxmlformats.org/drawingml/2006/table">
            <a:tbl>
              <a:tblPr/>
              <a:tblGrid>
                <a:gridCol w="2505665"/>
                <a:gridCol w="5808529"/>
              </a:tblGrid>
              <a:tr h="607588">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Campo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F47920"/>
                    </a:solidFill>
                  </a:tcPr>
                </a:tc>
              </a:tr>
              <a:tr h="607588">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Nombre</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CU-25: Registrando salidas de inventario</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607588">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Actor(es)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Gerencia / JOP</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922174">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Resumen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Permite registrar retiros de bodega especificando el motivo para justificar la salida.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607588">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Frecuencia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Alta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607588">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Precondiciones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Debe existir stock suficiente en la bodega de origen.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236760">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Descripción</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sistema solicita los datos del retiro, usuario ingresa SKU, cantidad y motivo [Exc.1], sistema valida disponibilidad física [Exc.2], descuenta material aplicando lógica FIFO y confirma la salida.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1236760">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Excepciones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Exc.1: Falta de motivo, sistema informa que es campo obligatorio.</a:t>
                      </a:r>
                      <a:endParaRPr lang="en-US" sz="1100"/>
                    </a:p>
                    <a:p>
                      <a:pPr algn="l">
                        <a:lnSpc>
                          <a:spcPts val="1800"/>
                        </a:lnSpc>
                      </a:pPr>
                      <a:r>
                        <a:rPr lang="en-US" sz="1500">
                          <a:solidFill>
                            <a:srgbClr val="D1D5DB"/>
                          </a:solidFill>
                          <a:latin typeface="Calibri (MS)"/>
                          <a:ea typeface="Calibri (MS)"/>
                          <a:cs typeface="Calibri (MS)"/>
                          <a:sym typeface="Calibri (MS)"/>
                        </a:rPr>
                        <a:t>Exc.2: Stock insuficiente, sistema bloquea el retiro e indica la cantidad máxima disponible.</a:t>
                      </a:r>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607588">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Postcondiciones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El stock disminuye y el movimiento queda registrado para auditoría.</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r h="607588">
                <a:tc>
                  <a:txBody>
                    <a:bodyPr anchor="t" rtlCol="false"/>
                    <a:lstStyle/>
                    <a:p>
                      <a:pPr algn="l">
                        <a:lnSpc>
                          <a:spcPts val="1800"/>
                        </a:lnSpc>
                        <a:defRPr/>
                      </a:pPr>
                      <a:r>
                        <a:rPr lang="en-US" sz="1500" b="true">
                          <a:solidFill>
                            <a:srgbClr val="F47920"/>
                          </a:solidFill>
                          <a:latin typeface="Calibri (MS) Bold"/>
                          <a:ea typeface="Calibri (MS) Bold"/>
                          <a:cs typeface="Calibri (MS) Bold"/>
                          <a:sym typeface="Calibri (MS) Bold"/>
                        </a:rPr>
                        <a:t>Dependencias</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E2E2E"/>
                    </a:solidFill>
                  </a:tcPr>
                </a:tc>
                <a:tc>
                  <a:txBody>
                    <a:bodyPr anchor="t" rtlCol="false"/>
                    <a:lstStyle/>
                    <a:p>
                      <a:pPr algn="l">
                        <a:lnSpc>
                          <a:spcPts val="1800"/>
                        </a:lnSpc>
                        <a:defRPr/>
                      </a:pPr>
                      <a:r>
                        <a:rPr lang="en-US" sz="1500">
                          <a:solidFill>
                            <a:srgbClr val="D1D5DB"/>
                          </a:solidFill>
                          <a:latin typeface="Calibri (MS)"/>
                          <a:ea typeface="Calibri (MS)"/>
                          <a:cs typeface="Calibri (MS)"/>
                          <a:sym typeface="Calibri (MS)"/>
                        </a:rPr>
                        <a:t>UR 3.2</a:t>
                      </a:r>
                      <a:endParaRPr lang="en-US" sz="1100"/>
                    </a:p>
                  </a:txBody>
                  <a:tcPr marL="91440" marR="91440" marT="91440" marB="91440" anchor="t">
                    <a:lnL cmpd="sng" algn="ctr" cap="flat" w="6350">
                      <a:solidFill>
                        <a:srgbClr val="444444"/>
                      </a:solidFill>
                      <a:prstDash val="solid"/>
                      <a:round/>
                      <a:headEnd type="none" w="med" len="med"/>
                      <a:tailEnd type="none" w="med" len="med"/>
                    </a:lnL>
                    <a:lnR cmpd="sng" algn="ctr" cap="flat" w="6350">
                      <a:solidFill>
                        <a:srgbClr val="444444"/>
                      </a:solidFill>
                      <a:prstDash val="solid"/>
                      <a:round/>
                      <a:headEnd type="none" w="med" len="med"/>
                      <a:tailEnd type="none" w="med" len="med"/>
                    </a:lnR>
                    <a:lnT cmpd="sng" algn="ctr" cap="flat" w="6350">
                      <a:solidFill>
                        <a:srgbClr val="444444"/>
                      </a:solidFill>
                      <a:prstDash val="solid"/>
                      <a:round/>
                      <a:headEnd type="none" w="med" len="med"/>
                      <a:tailEnd type="none" w="med" len="med"/>
                    </a:lnT>
                    <a:lnB cmpd="sng" algn="ctr" cap="flat" w="6350">
                      <a:solidFill>
                        <a:srgbClr val="444444"/>
                      </a:solidFill>
                      <a:prstDash val="solid"/>
                      <a:round/>
                      <a:headEnd type="none" w="med" len="med"/>
                      <a:tailEnd type="none" w="med" len="med"/>
                    </a:lnB>
                    <a:solidFill>
                      <a:srgbClr val="2A2A2A"/>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219456"/>
            <a:ext cx="17007840" cy="1005840"/>
            <a:chOff x="0" y="0"/>
            <a:chExt cx="22677120" cy="1341120"/>
          </a:xfrm>
        </p:grpSpPr>
        <p:sp>
          <p:nvSpPr>
            <p:cNvPr name="Freeform 7" id="7"/>
            <p:cNvSpPr/>
            <p:nvPr/>
          </p:nvSpPr>
          <p:spPr>
            <a:xfrm flipH="false" flipV="false" rot="0">
              <a:off x="0" y="0"/>
              <a:ext cx="22677120" cy="1341120"/>
            </a:xfrm>
            <a:custGeom>
              <a:avLst/>
              <a:gdLst/>
              <a:ahLst/>
              <a:cxnLst/>
              <a:rect r="r" b="b" t="t" l="l"/>
              <a:pathLst>
                <a:path h="1341120" w="22677120">
                  <a:moveTo>
                    <a:pt x="0" y="0"/>
                  </a:moveTo>
                  <a:lnTo>
                    <a:pt x="22677120" y="0"/>
                  </a:lnTo>
                  <a:lnTo>
                    <a:pt x="22677120" y="1341120"/>
                  </a:lnTo>
                  <a:lnTo>
                    <a:pt x="0" y="1341120"/>
                  </a:lnTo>
                  <a:close/>
                </a:path>
              </a:pathLst>
            </a:custGeom>
            <a:blipFill>
              <a:blip r:embed="rId3">
                <a:alphaModFix amt="0"/>
              </a:blip>
              <a:stretch>
                <a:fillRect l="0" t="-279474" r="0" b="-279474"/>
              </a:stretch>
            </a:blipFill>
          </p:spPr>
        </p:sp>
        <p:sp>
          <p:nvSpPr>
            <p:cNvPr name="TextBox 8" id="8"/>
            <p:cNvSpPr txBox="true"/>
            <p:nvPr/>
          </p:nvSpPr>
          <p:spPr>
            <a:xfrm>
              <a:off x="0" y="-76200"/>
              <a:ext cx="22677120"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Diagrama CU-25</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sp>
        <p:nvSpPr>
          <p:cNvPr name="Freeform 12" id="12"/>
          <p:cNvSpPr/>
          <p:nvPr/>
        </p:nvSpPr>
        <p:spPr>
          <a:xfrm flipH="false" flipV="false" rot="0">
            <a:off x="2597709" y="2567802"/>
            <a:ext cx="13312048" cy="5151405"/>
          </a:xfrm>
          <a:custGeom>
            <a:avLst/>
            <a:gdLst/>
            <a:ahLst/>
            <a:cxnLst/>
            <a:rect r="r" b="b" t="t" l="l"/>
            <a:pathLst>
              <a:path h="5151405" w="13312048">
                <a:moveTo>
                  <a:pt x="0" y="0"/>
                </a:moveTo>
                <a:lnTo>
                  <a:pt x="13312048" y="0"/>
                </a:lnTo>
                <a:lnTo>
                  <a:pt x="13312048" y="5151405"/>
                </a:lnTo>
                <a:lnTo>
                  <a:pt x="0" y="5151405"/>
                </a:lnTo>
                <a:lnTo>
                  <a:pt x="0" y="0"/>
                </a:lnTo>
                <a:close/>
              </a:path>
            </a:pathLst>
          </a:custGeom>
          <a:blipFill>
            <a:blip r:embed="rId4"/>
            <a:stretch>
              <a:fillRect l="0" t="0" r="0" b="0"/>
            </a:stretch>
          </a:blipFill>
        </p:spPr>
      </p:sp>
      <p:grpSp>
        <p:nvGrpSpPr>
          <p:cNvPr name="Group 13" id="13"/>
          <p:cNvGrpSpPr/>
          <p:nvPr/>
        </p:nvGrpSpPr>
        <p:grpSpPr>
          <a:xfrm rot="0">
            <a:off x="2445319" y="2567802"/>
            <a:ext cx="152390" cy="5151405"/>
            <a:chOff x="0" y="0"/>
            <a:chExt cx="203187" cy="6868540"/>
          </a:xfrm>
        </p:grpSpPr>
        <p:sp>
          <p:nvSpPr>
            <p:cNvPr name="Freeform 14" id="14"/>
            <p:cNvSpPr/>
            <p:nvPr/>
          </p:nvSpPr>
          <p:spPr>
            <a:xfrm flipH="false" flipV="false" rot="0">
              <a:off x="0" y="0"/>
              <a:ext cx="203225" cy="6868579"/>
            </a:xfrm>
            <a:custGeom>
              <a:avLst/>
              <a:gdLst/>
              <a:ahLst/>
              <a:cxnLst/>
              <a:rect r="r" b="b" t="t" l="l"/>
              <a:pathLst>
                <a:path h="6868579" w="203225">
                  <a:moveTo>
                    <a:pt x="0" y="0"/>
                  </a:moveTo>
                  <a:lnTo>
                    <a:pt x="203225" y="0"/>
                  </a:lnTo>
                  <a:lnTo>
                    <a:pt x="203225" y="6868579"/>
                  </a:lnTo>
                  <a:lnTo>
                    <a:pt x="0" y="6868579"/>
                  </a:lnTo>
                  <a:close/>
                </a:path>
              </a:pathLst>
            </a:custGeom>
            <a:solidFill>
              <a:srgbClr val="F47920"/>
            </a:solidFill>
            <a:ln w="25400" cap="sq">
              <a:solidFill>
                <a:srgbClr val="F47920"/>
              </a:solidFill>
              <a:prstDash val="solid"/>
              <a:miter/>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219456"/>
            <a:ext cx="4385861" cy="1005840"/>
            <a:chOff x="0" y="0"/>
            <a:chExt cx="5847815" cy="1341120"/>
          </a:xfrm>
        </p:grpSpPr>
        <p:sp>
          <p:nvSpPr>
            <p:cNvPr name="Freeform 7" id="7"/>
            <p:cNvSpPr/>
            <p:nvPr/>
          </p:nvSpPr>
          <p:spPr>
            <a:xfrm flipH="false" flipV="false" rot="0">
              <a:off x="0" y="0"/>
              <a:ext cx="5847815" cy="1341120"/>
            </a:xfrm>
            <a:custGeom>
              <a:avLst/>
              <a:gdLst/>
              <a:ahLst/>
              <a:cxnLst/>
              <a:rect r="r" b="b" t="t" l="l"/>
              <a:pathLst>
                <a:path h="1341120" w="5847815">
                  <a:moveTo>
                    <a:pt x="0" y="0"/>
                  </a:moveTo>
                  <a:lnTo>
                    <a:pt x="5847815" y="0"/>
                  </a:lnTo>
                  <a:lnTo>
                    <a:pt x="5847815" y="1341120"/>
                  </a:lnTo>
                  <a:lnTo>
                    <a:pt x="0" y="1341120"/>
                  </a:lnTo>
                  <a:close/>
                </a:path>
              </a:pathLst>
            </a:custGeom>
            <a:blipFill>
              <a:blip r:embed="rId3">
                <a:alphaModFix amt="0"/>
              </a:blip>
              <a:stretch>
                <a:fillRect l="0" t="-279474" r="-287787" b="-279474"/>
              </a:stretch>
            </a:blipFill>
          </p:spPr>
        </p:sp>
        <p:sp>
          <p:nvSpPr>
            <p:cNvPr name="TextBox 8" id="8"/>
            <p:cNvSpPr txBox="true"/>
            <p:nvPr/>
          </p:nvSpPr>
          <p:spPr>
            <a:xfrm>
              <a:off x="0" y="-76200"/>
              <a:ext cx="5847815"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Modelo Físico</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pSp>
        <p:nvGrpSpPr>
          <p:cNvPr name="Group 12" id="12"/>
          <p:cNvGrpSpPr/>
          <p:nvPr/>
        </p:nvGrpSpPr>
        <p:grpSpPr>
          <a:xfrm rot="0">
            <a:off x="640080" y="1225296"/>
            <a:ext cx="3115405" cy="714477"/>
            <a:chOff x="0" y="0"/>
            <a:chExt cx="5847815" cy="1341120"/>
          </a:xfrm>
        </p:grpSpPr>
        <p:sp>
          <p:nvSpPr>
            <p:cNvPr name="Freeform 13" id="13"/>
            <p:cNvSpPr/>
            <p:nvPr/>
          </p:nvSpPr>
          <p:spPr>
            <a:xfrm flipH="false" flipV="false" rot="0">
              <a:off x="0" y="0"/>
              <a:ext cx="5847815" cy="1341120"/>
            </a:xfrm>
            <a:custGeom>
              <a:avLst/>
              <a:gdLst/>
              <a:ahLst/>
              <a:cxnLst/>
              <a:rect r="r" b="b" t="t" l="l"/>
              <a:pathLst>
                <a:path h="1341120" w="5847815">
                  <a:moveTo>
                    <a:pt x="0" y="0"/>
                  </a:moveTo>
                  <a:lnTo>
                    <a:pt x="5847815" y="0"/>
                  </a:lnTo>
                  <a:lnTo>
                    <a:pt x="5847815" y="1341120"/>
                  </a:lnTo>
                  <a:lnTo>
                    <a:pt x="0" y="1341120"/>
                  </a:lnTo>
                  <a:close/>
                </a:path>
              </a:pathLst>
            </a:custGeom>
            <a:blipFill>
              <a:blip r:embed="rId3">
                <a:alphaModFix amt="0"/>
              </a:blip>
              <a:stretch>
                <a:fillRect l="0" t="-279474" r="-287787" b="-279474"/>
              </a:stretch>
            </a:blipFill>
          </p:spPr>
        </p:sp>
        <p:sp>
          <p:nvSpPr>
            <p:cNvPr name="TextBox 14" id="14"/>
            <p:cNvSpPr txBox="true"/>
            <p:nvPr/>
          </p:nvSpPr>
          <p:spPr>
            <a:xfrm>
              <a:off x="0" y="-76200"/>
              <a:ext cx="5847815" cy="1417320"/>
            </a:xfrm>
            <a:prstGeom prst="rect">
              <a:avLst/>
            </a:prstGeom>
          </p:spPr>
          <p:txBody>
            <a:bodyPr anchor="ctr" rtlCol="false" tIns="0" lIns="0" bIns="0" rIns="0"/>
            <a:lstStyle/>
            <a:p>
              <a:pPr algn="l">
                <a:lnSpc>
                  <a:spcPts val="4200"/>
                </a:lnSpc>
              </a:pPr>
              <a:r>
                <a:rPr lang="en-US" sz="3500">
                  <a:solidFill>
                    <a:srgbClr val="FFFFFF"/>
                  </a:solidFill>
                  <a:latin typeface="Calibri (MS)"/>
                  <a:ea typeface="Calibri (MS)"/>
                  <a:cs typeface="Calibri (MS)"/>
                  <a:sym typeface="Calibri (MS)"/>
                </a:rPr>
                <a:t>Tabla MATERIAL</a:t>
              </a:r>
            </a:p>
          </p:txBody>
        </p:sp>
      </p:grpSp>
      <p:sp>
        <p:nvSpPr>
          <p:cNvPr name="Freeform 15" id="15"/>
          <p:cNvSpPr/>
          <p:nvPr/>
        </p:nvSpPr>
        <p:spPr>
          <a:xfrm flipH="false" flipV="false" rot="0">
            <a:off x="4368857" y="1582535"/>
            <a:ext cx="9550285" cy="7542048"/>
          </a:xfrm>
          <a:custGeom>
            <a:avLst/>
            <a:gdLst/>
            <a:ahLst/>
            <a:cxnLst/>
            <a:rect r="r" b="b" t="t" l="l"/>
            <a:pathLst>
              <a:path h="7542048" w="9550285">
                <a:moveTo>
                  <a:pt x="0" y="0"/>
                </a:moveTo>
                <a:lnTo>
                  <a:pt x="9550286" y="0"/>
                </a:lnTo>
                <a:lnTo>
                  <a:pt x="9550286" y="7542047"/>
                </a:lnTo>
                <a:lnTo>
                  <a:pt x="0" y="7542047"/>
                </a:lnTo>
                <a:lnTo>
                  <a:pt x="0" y="0"/>
                </a:lnTo>
                <a:close/>
              </a:path>
            </a:pathLst>
          </a:custGeom>
          <a:blipFill>
            <a:blip r:embed="rId4"/>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206759" y="-12697"/>
            <a:ext cx="18093947" cy="135131"/>
            <a:chOff x="0" y="0"/>
            <a:chExt cx="24125263" cy="180175"/>
          </a:xfrm>
        </p:grpSpPr>
        <p:sp>
          <p:nvSpPr>
            <p:cNvPr name="Freeform 5" id="5"/>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6" id="6"/>
          <p:cNvGrpSpPr/>
          <p:nvPr/>
        </p:nvGrpSpPr>
        <p:grpSpPr>
          <a:xfrm rot="0">
            <a:off x="640080" y="219456"/>
            <a:ext cx="4385861" cy="1005840"/>
            <a:chOff x="0" y="0"/>
            <a:chExt cx="5847815" cy="1341120"/>
          </a:xfrm>
        </p:grpSpPr>
        <p:sp>
          <p:nvSpPr>
            <p:cNvPr name="Freeform 7" id="7"/>
            <p:cNvSpPr/>
            <p:nvPr/>
          </p:nvSpPr>
          <p:spPr>
            <a:xfrm flipH="false" flipV="false" rot="0">
              <a:off x="0" y="0"/>
              <a:ext cx="5847815" cy="1341120"/>
            </a:xfrm>
            <a:custGeom>
              <a:avLst/>
              <a:gdLst/>
              <a:ahLst/>
              <a:cxnLst/>
              <a:rect r="r" b="b" t="t" l="l"/>
              <a:pathLst>
                <a:path h="1341120" w="5847815">
                  <a:moveTo>
                    <a:pt x="0" y="0"/>
                  </a:moveTo>
                  <a:lnTo>
                    <a:pt x="5847815" y="0"/>
                  </a:lnTo>
                  <a:lnTo>
                    <a:pt x="5847815" y="1341120"/>
                  </a:lnTo>
                  <a:lnTo>
                    <a:pt x="0" y="1341120"/>
                  </a:lnTo>
                  <a:close/>
                </a:path>
              </a:pathLst>
            </a:custGeom>
            <a:blipFill>
              <a:blip r:embed="rId3">
                <a:alphaModFix amt="0"/>
              </a:blip>
              <a:stretch>
                <a:fillRect l="0" t="-279474" r="-287787" b="-279474"/>
              </a:stretch>
            </a:blipFill>
          </p:spPr>
        </p:sp>
        <p:sp>
          <p:nvSpPr>
            <p:cNvPr name="TextBox 8" id="8"/>
            <p:cNvSpPr txBox="true"/>
            <p:nvPr/>
          </p:nvSpPr>
          <p:spPr>
            <a:xfrm>
              <a:off x="0" y="-76200"/>
              <a:ext cx="5847815"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Modelo Físico</a:t>
              </a:r>
            </a:p>
          </p:txBody>
        </p:sp>
      </p:grpSp>
      <p:grpSp>
        <p:nvGrpSpPr>
          <p:cNvPr name="Group 9" id="9"/>
          <p:cNvGrpSpPr/>
          <p:nvPr/>
        </p:nvGrpSpPr>
        <p:grpSpPr>
          <a:xfrm rot="0">
            <a:off x="640080" y="9784080"/>
            <a:ext cx="17007840" cy="402336"/>
            <a:chOff x="0" y="0"/>
            <a:chExt cx="22677120" cy="536448"/>
          </a:xfrm>
        </p:grpSpPr>
        <p:sp>
          <p:nvSpPr>
            <p:cNvPr name="Freeform 10" id="10"/>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11" id="11"/>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grpSp>
        <p:nvGrpSpPr>
          <p:cNvPr name="Group 12" id="12"/>
          <p:cNvGrpSpPr/>
          <p:nvPr/>
        </p:nvGrpSpPr>
        <p:grpSpPr>
          <a:xfrm rot="0">
            <a:off x="640080" y="1225296"/>
            <a:ext cx="9469703" cy="714477"/>
            <a:chOff x="0" y="0"/>
            <a:chExt cx="17775240" cy="1341120"/>
          </a:xfrm>
        </p:grpSpPr>
        <p:sp>
          <p:nvSpPr>
            <p:cNvPr name="Freeform 13" id="13"/>
            <p:cNvSpPr/>
            <p:nvPr/>
          </p:nvSpPr>
          <p:spPr>
            <a:xfrm flipH="false" flipV="false" rot="0">
              <a:off x="0" y="0"/>
              <a:ext cx="17775241" cy="1341120"/>
            </a:xfrm>
            <a:custGeom>
              <a:avLst/>
              <a:gdLst/>
              <a:ahLst/>
              <a:cxnLst/>
              <a:rect r="r" b="b" t="t" l="l"/>
              <a:pathLst>
                <a:path h="1341120" w="17775241">
                  <a:moveTo>
                    <a:pt x="0" y="0"/>
                  </a:moveTo>
                  <a:lnTo>
                    <a:pt x="17775241" y="0"/>
                  </a:lnTo>
                  <a:lnTo>
                    <a:pt x="17775241" y="1341120"/>
                  </a:lnTo>
                  <a:lnTo>
                    <a:pt x="0" y="1341120"/>
                  </a:lnTo>
                  <a:close/>
                </a:path>
              </a:pathLst>
            </a:custGeom>
            <a:blipFill>
              <a:blip r:embed="rId3">
                <a:alphaModFix amt="0"/>
              </a:blip>
              <a:stretch>
                <a:fillRect l="0" t="-279474" r="-27577" b="-279474"/>
              </a:stretch>
            </a:blipFill>
          </p:spPr>
        </p:sp>
        <p:sp>
          <p:nvSpPr>
            <p:cNvPr name="TextBox 14" id="14"/>
            <p:cNvSpPr txBox="true"/>
            <p:nvPr/>
          </p:nvSpPr>
          <p:spPr>
            <a:xfrm>
              <a:off x="0" y="-76200"/>
              <a:ext cx="17775240" cy="1417320"/>
            </a:xfrm>
            <a:prstGeom prst="rect">
              <a:avLst/>
            </a:prstGeom>
          </p:spPr>
          <p:txBody>
            <a:bodyPr anchor="ctr" rtlCol="false" tIns="0" lIns="0" bIns="0" rIns="0"/>
            <a:lstStyle/>
            <a:p>
              <a:pPr algn="l">
                <a:lnSpc>
                  <a:spcPts val="4200"/>
                </a:lnSpc>
              </a:pPr>
              <a:r>
                <a:rPr lang="en-US" sz="3500">
                  <a:solidFill>
                    <a:srgbClr val="FFFFFF"/>
                  </a:solidFill>
                  <a:latin typeface="Calibri (MS)"/>
                  <a:ea typeface="Calibri (MS)"/>
                  <a:cs typeface="Calibri (MS)"/>
                  <a:sym typeface="Calibri (MS)"/>
                </a:rPr>
                <a:t>Tabla Movimiento_Inventario_Clasificación_Salida</a:t>
              </a:r>
            </a:p>
          </p:txBody>
        </p:sp>
      </p:grpSp>
      <p:sp>
        <p:nvSpPr>
          <p:cNvPr name="Freeform 15" id="15"/>
          <p:cNvSpPr/>
          <p:nvPr/>
        </p:nvSpPr>
        <p:spPr>
          <a:xfrm flipH="false" flipV="false" rot="0">
            <a:off x="1371050" y="2296086"/>
            <a:ext cx="15545899" cy="7131681"/>
          </a:xfrm>
          <a:custGeom>
            <a:avLst/>
            <a:gdLst/>
            <a:ahLst/>
            <a:cxnLst/>
            <a:rect r="r" b="b" t="t" l="l"/>
            <a:pathLst>
              <a:path h="7131681" w="15545899">
                <a:moveTo>
                  <a:pt x="0" y="0"/>
                </a:moveTo>
                <a:lnTo>
                  <a:pt x="15545900" y="0"/>
                </a:lnTo>
                <a:lnTo>
                  <a:pt x="15545900" y="7131681"/>
                </a:lnTo>
                <a:lnTo>
                  <a:pt x="0" y="7131681"/>
                </a:lnTo>
                <a:lnTo>
                  <a:pt x="0" y="0"/>
                </a:lnTo>
                <a:close/>
              </a:path>
            </a:pathLst>
          </a:custGeom>
          <a:blipFill>
            <a:blip r:embed="rId4"/>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511419" y="525780"/>
            <a:ext cx="9275019" cy="1005840"/>
            <a:chOff x="0" y="0"/>
            <a:chExt cx="12366692" cy="1341120"/>
          </a:xfrm>
        </p:grpSpPr>
        <p:sp>
          <p:nvSpPr>
            <p:cNvPr name="Freeform 3" id="3"/>
            <p:cNvSpPr/>
            <p:nvPr/>
          </p:nvSpPr>
          <p:spPr>
            <a:xfrm flipH="false" flipV="false" rot="0">
              <a:off x="0" y="0"/>
              <a:ext cx="12366692" cy="1341120"/>
            </a:xfrm>
            <a:custGeom>
              <a:avLst/>
              <a:gdLst/>
              <a:ahLst/>
              <a:cxnLst/>
              <a:rect r="r" b="b" t="t" l="l"/>
              <a:pathLst>
                <a:path h="1341120" w="12366692">
                  <a:moveTo>
                    <a:pt x="0" y="0"/>
                  </a:moveTo>
                  <a:lnTo>
                    <a:pt x="12366692" y="0"/>
                  </a:lnTo>
                  <a:lnTo>
                    <a:pt x="12366692" y="1341120"/>
                  </a:lnTo>
                  <a:lnTo>
                    <a:pt x="0" y="1341120"/>
                  </a:lnTo>
                  <a:close/>
                </a:path>
              </a:pathLst>
            </a:custGeom>
            <a:blipFill>
              <a:blip r:embed="rId2">
                <a:alphaModFix amt="0"/>
              </a:blip>
              <a:stretch>
                <a:fillRect l="0" t="-279474" r="-83372" b="-279474"/>
              </a:stretch>
            </a:blipFill>
          </p:spPr>
        </p:sp>
        <p:sp>
          <p:nvSpPr>
            <p:cNvPr name="TextBox 4" id="4"/>
            <p:cNvSpPr txBox="true"/>
            <p:nvPr/>
          </p:nvSpPr>
          <p:spPr>
            <a:xfrm>
              <a:off x="0" y="-76200"/>
              <a:ext cx="12366692" cy="1417320"/>
            </a:xfrm>
            <a:prstGeom prst="rect">
              <a:avLst/>
            </a:prstGeom>
          </p:spPr>
          <p:txBody>
            <a:bodyPr anchor="ctr" rtlCol="false" tIns="0" lIns="0" bIns="0" rIns="0"/>
            <a:lstStyle/>
            <a:p>
              <a:pPr algn="l">
                <a:lnSpc>
                  <a:spcPts val="5280"/>
                </a:lnSpc>
              </a:pPr>
              <a:r>
                <a:rPr lang="en-US" sz="4400" b="true">
                  <a:solidFill>
                    <a:srgbClr val="FFFFFF"/>
                  </a:solidFill>
                  <a:latin typeface="Calibri (MS) Bold"/>
                  <a:ea typeface="Calibri (MS) Bold"/>
                  <a:cs typeface="Calibri (MS) Bold"/>
                  <a:sym typeface="Calibri (MS) Bold"/>
                </a:rPr>
                <a:t>Matriz requerimientos vs casos de uso</a:t>
              </a:r>
            </a:p>
          </p:txBody>
        </p:sp>
      </p:grpSp>
      <p:sp>
        <p:nvSpPr>
          <p:cNvPr name="Freeform 5" id="5"/>
          <p:cNvSpPr/>
          <p:nvPr/>
        </p:nvSpPr>
        <p:spPr>
          <a:xfrm flipH="false" flipV="false" rot="0">
            <a:off x="1439509" y="3138048"/>
            <a:ext cx="15408983" cy="2005452"/>
          </a:xfrm>
          <a:custGeom>
            <a:avLst/>
            <a:gdLst/>
            <a:ahLst/>
            <a:cxnLst/>
            <a:rect r="r" b="b" t="t" l="l"/>
            <a:pathLst>
              <a:path h="2005452" w="15408983">
                <a:moveTo>
                  <a:pt x="0" y="0"/>
                </a:moveTo>
                <a:lnTo>
                  <a:pt x="15408982" y="0"/>
                </a:lnTo>
                <a:lnTo>
                  <a:pt x="15408982" y="2005452"/>
                </a:lnTo>
                <a:lnTo>
                  <a:pt x="0" y="2005452"/>
                </a:lnTo>
                <a:lnTo>
                  <a:pt x="0" y="0"/>
                </a:lnTo>
                <a:close/>
              </a:path>
            </a:pathLst>
          </a:custGeom>
          <a:blipFill>
            <a:blip r:embed="rId3"/>
            <a:stretch>
              <a:fillRect l="0" t="0" r="0" b="0"/>
            </a:stretch>
          </a:blipFill>
        </p:spPr>
      </p:sp>
      <p:grpSp>
        <p:nvGrpSpPr>
          <p:cNvPr name="Group 6" id="6"/>
          <p:cNvGrpSpPr/>
          <p:nvPr/>
        </p:nvGrpSpPr>
        <p:grpSpPr>
          <a:xfrm rot="0">
            <a:off x="-12697" y="-12697"/>
            <a:ext cx="244859" cy="10312403"/>
            <a:chOff x="0" y="0"/>
            <a:chExt cx="326479" cy="13749871"/>
          </a:xfrm>
        </p:grpSpPr>
        <p:sp>
          <p:nvSpPr>
            <p:cNvPr name="Freeform 7" id="7"/>
            <p:cNvSpPr/>
            <p:nvPr/>
          </p:nvSpPr>
          <p:spPr>
            <a:xfrm flipH="false" flipV="false" rot="0">
              <a:off x="0" y="0"/>
              <a:ext cx="326517" cy="13749910"/>
            </a:xfrm>
            <a:custGeom>
              <a:avLst/>
              <a:gdLst/>
              <a:ahLst/>
              <a:cxnLst/>
              <a:rect r="r" b="b" t="t" l="l"/>
              <a:pathLst>
                <a:path h="13749910" w="326517">
                  <a:moveTo>
                    <a:pt x="0" y="0"/>
                  </a:moveTo>
                  <a:lnTo>
                    <a:pt x="326517" y="0"/>
                  </a:lnTo>
                  <a:lnTo>
                    <a:pt x="326517" y="13749910"/>
                  </a:lnTo>
                  <a:lnTo>
                    <a:pt x="0" y="13749910"/>
                  </a:lnTo>
                  <a:close/>
                </a:path>
              </a:pathLst>
            </a:custGeom>
            <a:solidFill>
              <a:srgbClr val="F47920"/>
            </a:solidFill>
            <a:ln w="25400" cap="sq">
              <a:solidFill>
                <a:srgbClr val="F47920"/>
              </a:solidFill>
              <a:prstDash val="solid"/>
              <a:miter/>
            </a:ln>
          </p:spPr>
        </p:sp>
      </p:grpSp>
      <p:grpSp>
        <p:nvGrpSpPr>
          <p:cNvPr name="Group 8" id="8"/>
          <p:cNvGrpSpPr/>
          <p:nvPr/>
        </p:nvGrpSpPr>
        <p:grpSpPr>
          <a:xfrm rot="0">
            <a:off x="206759" y="-12697"/>
            <a:ext cx="18093947" cy="135131"/>
            <a:chOff x="0" y="0"/>
            <a:chExt cx="24125263" cy="180175"/>
          </a:xfrm>
        </p:grpSpPr>
        <p:sp>
          <p:nvSpPr>
            <p:cNvPr name="Freeform 9" id="9"/>
            <p:cNvSpPr/>
            <p:nvPr/>
          </p:nvSpPr>
          <p:spPr>
            <a:xfrm flipH="false" flipV="false" rot="0">
              <a:off x="0" y="0"/>
              <a:ext cx="24125301" cy="180213"/>
            </a:xfrm>
            <a:custGeom>
              <a:avLst/>
              <a:gdLst/>
              <a:ahLst/>
              <a:cxnLst/>
              <a:rect r="r" b="b" t="t" l="l"/>
              <a:pathLst>
                <a:path h="180213" w="24125301">
                  <a:moveTo>
                    <a:pt x="0" y="0"/>
                  </a:moveTo>
                  <a:lnTo>
                    <a:pt x="24125301" y="0"/>
                  </a:lnTo>
                  <a:lnTo>
                    <a:pt x="24125301" y="180213"/>
                  </a:lnTo>
                  <a:lnTo>
                    <a:pt x="0" y="180213"/>
                  </a:lnTo>
                  <a:close/>
                </a:path>
              </a:pathLst>
            </a:custGeom>
            <a:solidFill>
              <a:srgbClr val="F47920"/>
            </a:solidFill>
            <a:ln w="25400" cap="sq">
              <a:solidFill>
                <a:srgbClr val="F47920"/>
              </a:solidFill>
              <a:prstDash val="solid"/>
              <a:miter/>
            </a:ln>
          </p:spPr>
        </p:sp>
      </p:grpSp>
      <p:grpSp>
        <p:nvGrpSpPr>
          <p:cNvPr name="Group 10" id="10"/>
          <p:cNvGrpSpPr/>
          <p:nvPr/>
        </p:nvGrpSpPr>
        <p:grpSpPr>
          <a:xfrm rot="0">
            <a:off x="1439509" y="5143505"/>
            <a:ext cx="15408983" cy="135131"/>
            <a:chOff x="0" y="0"/>
            <a:chExt cx="20545310" cy="180175"/>
          </a:xfrm>
        </p:grpSpPr>
        <p:sp>
          <p:nvSpPr>
            <p:cNvPr name="Freeform 11" id="11"/>
            <p:cNvSpPr/>
            <p:nvPr/>
          </p:nvSpPr>
          <p:spPr>
            <a:xfrm flipH="false" flipV="false" rot="0">
              <a:off x="0" y="0"/>
              <a:ext cx="20545349" cy="180213"/>
            </a:xfrm>
            <a:custGeom>
              <a:avLst/>
              <a:gdLst/>
              <a:ahLst/>
              <a:cxnLst/>
              <a:rect r="r" b="b" t="t" l="l"/>
              <a:pathLst>
                <a:path h="180213" w="20545349">
                  <a:moveTo>
                    <a:pt x="0" y="0"/>
                  </a:moveTo>
                  <a:lnTo>
                    <a:pt x="20545349" y="0"/>
                  </a:lnTo>
                  <a:lnTo>
                    <a:pt x="20545349" y="180213"/>
                  </a:lnTo>
                  <a:lnTo>
                    <a:pt x="0" y="180213"/>
                  </a:lnTo>
                  <a:close/>
                </a:path>
              </a:pathLst>
            </a:custGeom>
            <a:solidFill>
              <a:srgbClr val="F47920"/>
            </a:solidFill>
            <a:ln w="25400" cap="sq">
              <a:solidFill>
                <a:srgbClr val="F47920"/>
              </a:solidFill>
              <a:prstDash val="solid"/>
              <a:miter/>
            </a:ln>
          </p:spPr>
        </p:sp>
      </p:grpSp>
      <p:grpSp>
        <p:nvGrpSpPr>
          <p:cNvPr name="Group 12" id="12"/>
          <p:cNvGrpSpPr/>
          <p:nvPr/>
        </p:nvGrpSpPr>
        <p:grpSpPr>
          <a:xfrm rot="0">
            <a:off x="640080" y="9784080"/>
            <a:ext cx="17007840" cy="402336"/>
            <a:chOff x="0" y="0"/>
            <a:chExt cx="22677120" cy="536448"/>
          </a:xfrm>
        </p:grpSpPr>
        <p:sp>
          <p:nvSpPr>
            <p:cNvPr name="Freeform 13" id="13"/>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2">
                <a:alphaModFix amt="0"/>
              </a:blip>
              <a:stretch>
                <a:fillRect l="0" t="-773685" r="0" b="-773685"/>
              </a:stretch>
            </a:blipFill>
          </p:spPr>
        </p:sp>
        <p:sp>
          <p:nvSpPr>
            <p:cNvPr name="TextBox 14" id="14"/>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354587" cy="10312403"/>
            <a:chOff x="0" y="0"/>
            <a:chExt cx="472783" cy="13749871"/>
          </a:xfrm>
        </p:grpSpPr>
        <p:sp>
          <p:nvSpPr>
            <p:cNvPr name="Freeform 3" id="3"/>
            <p:cNvSpPr/>
            <p:nvPr/>
          </p:nvSpPr>
          <p:spPr>
            <a:xfrm flipH="false" flipV="false" rot="0">
              <a:off x="0" y="0"/>
              <a:ext cx="472821" cy="13749910"/>
            </a:xfrm>
            <a:custGeom>
              <a:avLst/>
              <a:gdLst/>
              <a:ahLst/>
              <a:cxnLst/>
              <a:rect r="r" b="b" t="t" l="l"/>
              <a:pathLst>
                <a:path h="13749910" w="472821">
                  <a:moveTo>
                    <a:pt x="0" y="0"/>
                  </a:moveTo>
                  <a:lnTo>
                    <a:pt x="472821" y="0"/>
                  </a:lnTo>
                  <a:lnTo>
                    <a:pt x="472821"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914400" y="2194560"/>
            <a:ext cx="16824960" cy="1005840"/>
            <a:chOff x="0" y="0"/>
            <a:chExt cx="22433280" cy="1341120"/>
          </a:xfrm>
        </p:grpSpPr>
        <p:sp>
          <p:nvSpPr>
            <p:cNvPr name="Freeform 5" id="5"/>
            <p:cNvSpPr/>
            <p:nvPr/>
          </p:nvSpPr>
          <p:spPr>
            <a:xfrm flipH="false" flipV="false" rot="0">
              <a:off x="0" y="0"/>
              <a:ext cx="22433280" cy="1341120"/>
            </a:xfrm>
            <a:custGeom>
              <a:avLst/>
              <a:gdLst/>
              <a:ahLst/>
              <a:cxnLst/>
              <a:rect r="r" b="b" t="t" l="l"/>
              <a:pathLst>
                <a:path h="1341120" w="22433280">
                  <a:moveTo>
                    <a:pt x="0" y="0"/>
                  </a:moveTo>
                  <a:lnTo>
                    <a:pt x="22433280" y="0"/>
                  </a:lnTo>
                  <a:lnTo>
                    <a:pt x="22433280" y="1341120"/>
                  </a:lnTo>
                  <a:lnTo>
                    <a:pt x="0" y="1341120"/>
                  </a:lnTo>
                  <a:close/>
                </a:path>
              </a:pathLst>
            </a:custGeom>
            <a:blipFill>
              <a:blip r:embed="rId3">
                <a:alphaModFix amt="0"/>
              </a:blip>
              <a:stretch>
                <a:fillRect l="0" t="-275931" r="0" b="-275931"/>
              </a:stretch>
            </a:blipFill>
          </p:spPr>
        </p:sp>
        <p:sp>
          <p:nvSpPr>
            <p:cNvPr name="TextBox 6" id="6"/>
            <p:cNvSpPr txBox="true"/>
            <p:nvPr/>
          </p:nvSpPr>
          <p:spPr>
            <a:xfrm>
              <a:off x="0" y="-114300"/>
              <a:ext cx="22433280" cy="1455420"/>
            </a:xfrm>
            <a:prstGeom prst="rect">
              <a:avLst/>
            </a:prstGeom>
          </p:spPr>
          <p:txBody>
            <a:bodyPr anchor="ctr" rtlCol="false" tIns="0" lIns="0" bIns="0" rIns="0"/>
            <a:lstStyle/>
            <a:p>
              <a:pPr algn="l">
                <a:lnSpc>
                  <a:spcPts val="6719"/>
                </a:lnSpc>
              </a:pPr>
              <a:r>
                <a:rPr lang="en-US" sz="5599">
                  <a:solidFill>
                    <a:srgbClr val="9CA3AF"/>
                  </a:solidFill>
                  <a:latin typeface="Calibri (MS)"/>
                  <a:ea typeface="Calibri (MS)"/>
                  <a:cs typeface="Calibri (MS)"/>
                  <a:sym typeface="Calibri (MS)"/>
                </a:rPr>
                <a:t>A continuación,</a:t>
              </a:r>
            </a:p>
          </p:txBody>
        </p:sp>
      </p:grpSp>
      <p:grpSp>
        <p:nvGrpSpPr>
          <p:cNvPr name="Group 7" id="7"/>
          <p:cNvGrpSpPr/>
          <p:nvPr/>
        </p:nvGrpSpPr>
        <p:grpSpPr>
          <a:xfrm rot="0">
            <a:off x="914400" y="3200400"/>
            <a:ext cx="16824960" cy="2743200"/>
            <a:chOff x="0" y="0"/>
            <a:chExt cx="22433280" cy="3657600"/>
          </a:xfrm>
        </p:grpSpPr>
        <p:sp>
          <p:nvSpPr>
            <p:cNvPr name="Freeform 8" id="8"/>
            <p:cNvSpPr/>
            <p:nvPr/>
          </p:nvSpPr>
          <p:spPr>
            <a:xfrm flipH="false" flipV="false" rot="0">
              <a:off x="0" y="0"/>
              <a:ext cx="22433280" cy="3657600"/>
            </a:xfrm>
            <a:custGeom>
              <a:avLst/>
              <a:gdLst/>
              <a:ahLst/>
              <a:cxnLst/>
              <a:rect r="r" b="b" t="t" l="l"/>
              <a:pathLst>
                <a:path h="3657600" w="22433280">
                  <a:moveTo>
                    <a:pt x="0" y="0"/>
                  </a:moveTo>
                  <a:lnTo>
                    <a:pt x="22433280" y="0"/>
                  </a:lnTo>
                  <a:lnTo>
                    <a:pt x="22433280" y="3657600"/>
                  </a:lnTo>
                  <a:lnTo>
                    <a:pt x="0" y="3657600"/>
                  </a:lnTo>
                  <a:close/>
                </a:path>
              </a:pathLst>
            </a:custGeom>
            <a:blipFill>
              <a:blip r:embed="rId3">
                <a:alphaModFix amt="0"/>
              </a:blip>
              <a:stretch>
                <a:fillRect l="0" t="-69508" r="0" b="-69508"/>
              </a:stretch>
            </a:blipFill>
          </p:spPr>
        </p:sp>
        <p:sp>
          <p:nvSpPr>
            <p:cNvPr name="TextBox 9" id="9"/>
            <p:cNvSpPr txBox="true"/>
            <p:nvPr/>
          </p:nvSpPr>
          <p:spPr>
            <a:xfrm>
              <a:off x="0" y="-190500"/>
              <a:ext cx="22433280" cy="3848100"/>
            </a:xfrm>
            <a:prstGeom prst="rect">
              <a:avLst/>
            </a:prstGeom>
          </p:spPr>
          <p:txBody>
            <a:bodyPr anchor="ctr" rtlCol="false" tIns="0" lIns="0" bIns="0" rIns="0"/>
            <a:lstStyle/>
            <a:p>
              <a:pPr algn="l">
                <a:lnSpc>
                  <a:spcPts val="11519"/>
                </a:lnSpc>
              </a:pPr>
              <a:r>
                <a:rPr lang="en-US" sz="9600" b="true">
                  <a:solidFill>
                    <a:srgbClr val="FFFFFF"/>
                  </a:solidFill>
                  <a:latin typeface="Calibri (MS) Bold"/>
                  <a:ea typeface="Calibri (MS) Bold"/>
                  <a:cs typeface="Calibri (MS) Bold"/>
                  <a:sym typeface="Calibri (MS) Bold"/>
                </a:rPr>
                <a:t>demostración del</a:t>
              </a:r>
            </a:p>
            <a:p>
              <a:pPr algn="l">
                <a:lnSpc>
                  <a:spcPts val="11519"/>
                </a:lnSpc>
              </a:pPr>
              <a:r>
                <a:rPr lang="en-US" sz="9600" b="true">
                  <a:solidFill>
                    <a:srgbClr val="FFFFFF"/>
                  </a:solidFill>
                  <a:latin typeface="Calibri (MS) Bold"/>
                  <a:ea typeface="Calibri (MS) Bold"/>
                  <a:cs typeface="Calibri (MS) Bold"/>
                  <a:sym typeface="Calibri (MS) Bold"/>
                </a:rPr>
                <a:t>sistema web</a:t>
              </a:r>
            </a:p>
          </p:txBody>
        </p:sp>
      </p:grpSp>
      <p:grpSp>
        <p:nvGrpSpPr>
          <p:cNvPr name="Group 10" id="10"/>
          <p:cNvGrpSpPr/>
          <p:nvPr/>
        </p:nvGrpSpPr>
        <p:grpSpPr>
          <a:xfrm rot="0">
            <a:off x="901703" y="6022343"/>
            <a:ext cx="6426203" cy="116843"/>
            <a:chOff x="0" y="0"/>
            <a:chExt cx="8568271" cy="155791"/>
          </a:xfrm>
        </p:grpSpPr>
        <p:sp>
          <p:nvSpPr>
            <p:cNvPr name="Freeform 11" id="11"/>
            <p:cNvSpPr/>
            <p:nvPr/>
          </p:nvSpPr>
          <p:spPr>
            <a:xfrm flipH="false" flipV="false" rot="0">
              <a:off x="0" y="0"/>
              <a:ext cx="8568309" cy="155829"/>
            </a:xfrm>
            <a:custGeom>
              <a:avLst/>
              <a:gdLst/>
              <a:ahLst/>
              <a:cxnLst/>
              <a:rect r="r" b="b" t="t" l="l"/>
              <a:pathLst>
                <a:path h="155829" w="8568309">
                  <a:moveTo>
                    <a:pt x="0" y="0"/>
                  </a:moveTo>
                  <a:lnTo>
                    <a:pt x="8568309" y="0"/>
                  </a:lnTo>
                  <a:lnTo>
                    <a:pt x="8568309" y="155829"/>
                  </a:lnTo>
                  <a:lnTo>
                    <a:pt x="0" y="155829"/>
                  </a:lnTo>
                  <a:close/>
                </a:path>
              </a:pathLst>
            </a:custGeom>
            <a:solidFill>
              <a:srgbClr val="F47920"/>
            </a:solidFill>
            <a:ln w="25400" cap="sq">
              <a:solidFill>
                <a:srgbClr val="F47920"/>
              </a:solidFill>
              <a:prstDash val="solid"/>
              <a:miter/>
            </a:ln>
          </p:spPr>
        </p:sp>
      </p:grpSp>
      <p:grpSp>
        <p:nvGrpSpPr>
          <p:cNvPr name="Group 12" id="12"/>
          <p:cNvGrpSpPr/>
          <p:nvPr/>
        </p:nvGrpSpPr>
        <p:grpSpPr>
          <a:xfrm rot="0">
            <a:off x="914400" y="6309360"/>
            <a:ext cx="16824960" cy="640080"/>
            <a:chOff x="0" y="0"/>
            <a:chExt cx="22433280" cy="853440"/>
          </a:xfrm>
        </p:grpSpPr>
        <p:sp>
          <p:nvSpPr>
            <p:cNvPr name="Freeform 13" id="13"/>
            <p:cNvSpPr/>
            <p:nvPr/>
          </p:nvSpPr>
          <p:spPr>
            <a:xfrm flipH="false" flipV="false" rot="0">
              <a:off x="0" y="0"/>
              <a:ext cx="22433280" cy="853440"/>
            </a:xfrm>
            <a:custGeom>
              <a:avLst/>
              <a:gdLst/>
              <a:ahLst/>
              <a:cxnLst/>
              <a:rect r="r" b="b" t="t" l="l"/>
              <a:pathLst>
                <a:path h="853440" w="22433280">
                  <a:moveTo>
                    <a:pt x="0" y="0"/>
                  </a:moveTo>
                  <a:lnTo>
                    <a:pt x="22433280" y="0"/>
                  </a:lnTo>
                  <a:lnTo>
                    <a:pt x="22433280" y="853440"/>
                  </a:lnTo>
                  <a:lnTo>
                    <a:pt x="0" y="853440"/>
                  </a:lnTo>
                  <a:close/>
                </a:path>
              </a:pathLst>
            </a:custGeom>
            <a:blipFill>
              <a:blip r:embed="rId3">
                <a:alphaModFix amt="0"/>
              </a:blip>
              <a:stretch>
                <a:fillRect l="0" t="-462178" r="0" b="-462178"/>
              </a:stretch>
            </a:blipFill>
          </p:spPr>
        </p:sp>
        <p:sp>
          <p:nvSpPr>
            <p:cNvPr name="TextBox 14" id="14"/>
            <p:cNvSpPr txBox="true"/>
            <p:nvPr/>
          </p:nvSpPr>
          <p:spPr>
            <a:xfrm>
              <a:off x="0" y="-57150"/>
              <a:ext cx="22433280" cy="910590"/>
            </a:xfrm>
            <a:prstGeom prst="rect">
              <a:avLst/>
            </a:prstGeom>
          </p:spPr>
          <p:txBody>
            <a:bodyPr anchor="ctr" rtlCol="false" tIns="0" lIns="0" bIns="0" rIns="0"/>
            <a:lstStyle/>
            <a:p>
              <a:pPr algn="l">
                <a:lnSpc>
                  <a:spcPts val="3120"/>
                </a:lnSpc>
              </a:pPr>
              <a:r>
                <a:rPr lang="en-US" sz="2600">
                  <a:solidFill>
                    <a:srgbClr val="F47920"/>
                  </a:solidFill>
                  <a:latin typeface="Calibri (MS)"/>
                  <a:ea typeface="Calibri (MS)"/>
                  <a:cs typeface="Calibri (MS)"/>
                  <a:sym typeface="Calibri (MS)"/>
                </a:rPr>
                <a:t>Puertas Blindadas · Sistema de Inventario</a:t>
              </a:r>
            </a:p>
          </p:txBody>
        </p:sp>
      </p:grpSp>
      <p:grpSp>
        <p:nvGrpSpPr>
          <p:cNvPr name="Group 15" id="15"/>
          <p:cNvGrpSpPr/>
          <p:nvPr/>
        </p:nvGrpSpPr>
        <p:grpSpPr>
          <a:xfrm rot="0">
            <a:off x="14251943" y="2730503"/>
            <a:ext cx="2768603" cy="2768603"/>
            <a:chOff x="0" y="0"/>
            <a:chExt cx="3691471" cy="3691471"/>
          </a:xfrm>
        </p:grpSpPr>
        <p:sp>
          <p:nvSpPr>
            <p:cNvPr name="Freeform 16" id="16"/>
            <p:cNvSpPr/>
            <p:nvPr/>
          </p:nvSpPr>
          <p:spPr>
            <a:xfrm flipH="false" flipV="false" rot="0">
              <a:off x="0" y="0"/>
              <a:ext cx="3691509" cy="3691509"/>
            </a:xfrm>
            <a:custGeom>
              <a:avLst/>
              <a:gdLst/>
              <a:ahLst/>
              <a:cxnLst/>
              <a:rect r="r" b="b" t="t" l="l"/>
              <a:pathLst>
                <a:path h="3691509" w="3691509">
                  <a:moveTo>
                    <a:pt x="0" y="1845691"/>
                  </a:moveTo>
                  <a:cubicBezTo>
                    <a:pt x="0" y="826389"/>
                    <a:pt x="826389" y="0"/>
                    <a:pt x="1845691" y="0"/>
                  </a:cubicBezTo>
                  <a:cubicBezTo>
                    <a:pt x="2864993" y="0"/>
                    <a:pt x="3691509" y="826389"/>
                    <a:pt x="3691509" y="1845691"/>
                  </a:cubicBezTo>
                  <a:cubicBezTo>
                    <a:pt x="3691509" y="2864993"/>
                    <a:pt x="2865120" y="3691509"/>
                    <a:pt x="1845691" y="3691509"/>
                  </a:cubicBezTo>
                  <a:cubicBezTo>
                    <a:pt x="826262" y="3691509"/>
                    <a:pt x="0" y="2865120"/>
                    <a:pt x="0" y="1845691"/>
                  </a:cubicBezTo>
                  <a:close/>
                </a:path>
              </a:pathLst>
            </a:custGeom>
            <a:solidFill>
              <a:srgbClr val="F47920"/>
            </a:solidFill>
            <a:ln w="25400" cap="sq">
              <a:solidFill>
                <a:srgbClr val="F47920"/>
              </a:solidFill>
              <a:prstDash val="solid"/>
              <a:miter/>
            </a:ln>
          </p:spPr>
        </p:sp>
      </p:grpSp>
      <p:grpSp>
        <p:nvGrpSpPr>
          <p:cNvPr name="Group 17" id="17"/>
          <p:cNvGrpSpPr/>
          <p:nvPr/>
        </p:nvGrpSpPr>
        <p:grpSpPr>
          <a:xfrm rot="0">
            <a:off x="14264640" y="2743200"/>
            <a:ext cx="2743200" cy="2743200"/>
            <a:chOff x="0" y="0"/>
            <a:chExt cx="3657600" cy="3657600"/>
          </a:xfrm>
        </p:grpSpPr>
        <p:sp>
          <p:nvSpPr>
            <p:cNvPr name="Freeform 18" id="18"/>
            <p:cNvSpPr/>
            <p:nvPr/>
          </p:nvSpPr>
          <p:spPr>
            <a:xfrm flipH="false" flipV="false" rot="0">
              <a:off x="0" y="0"/>
              <a:ext cx="3657600" cy="3657600"/>
            </a:xfrm>
            <a:custGeom>
              <a:avLst/>
              <a:gdLst/>
              <a:ahLst/>
              <a:cxnLst/>
              <a:rect r="r" b="b" t="t" l="l"/>
              <a:pathLst>
                <a:path h="3657600" w="3657600">
                  <a:moveTo>
                    <a:pt x="0" y="0"/>
                  </a:moveTo>
                  <a:lnTo>
                    <a:pt x="3657600" y="0"/>
                  </a:lnTo>
                  <a:lnTo>
                    <a:pt x="3657600" y="3657600"/>
                  </a:lnTo>
                  <a:lnTo>
                    <a:pt x="0" y="3657600"/>
                  </a:lnTo>
                  <a:close/>
                </a:path>
              </a:pathLst>
            </a:custGeom>
            <a:blipFill>
              <a:blip r:embed="rId3">
                <a:alphaModFix amt="0"/>
              </a:blip>
              <a:stretch>
                <a:fillRect l="-78303" t="0" r="-78303" b="0"/>
              </a:stretch>
            </a:blipFill>
          </p:spPr>
        </p:sp>
        <p:sp>
          <p:nvSpPr>
            <p:cNvPr name="TextBox 19" id="19"/>
            <p:cNvSpPr txBox="true"/>
            <p:nvPr/>
          </p:nvSpPr>
          <p:spPr>
            <a:xfrm>
              <a:off x="0" y="-142875"/>
              <a:ext cx="3657600" cy="3800475"/>
            </a:xfrm>
            <a:prstGeom prst="rect">
              <a:avLst/>
            </a:prstGeom>
          </p:spPr>
          <p:txBody>
            <a:bodyPr anchor="ctr" rtlCol="false" tIns="0" lIns="0" bIns="0" rIns="0"/>
            <a:lstStyle/>
            <a:p>
              <a:pPr algn="ctr">
                <a:lnSpc>
                  <a:spcPts val="8640"/>
                </a:lnSpc>
              </a:pPr>
              <a:r>
                <a:rPr lang="en-US" sz="7200">
                  <a:solidFill>
                    <a:srgbClr val="FFFFFF"/>
                  </a:solidFill>
                  <a:latin typeface="Calibri (MS)"/>
                  <a:ea typeface="Calibri (MS)"/>
                  <a:cs typeface="Calibri (MS)"/>
                  <a:sym typeface="Calibri (MS)"/>
                </a:rPr>
                <a:t>▶</a:t>
              </a:r>
            </a:p>
          </p:txBody>
        </p:sp>
      </p:grpSp>
      <p:grpSp>
        <p:nvGrpSpPr>
          <p:cNvPr name="Group 20" id="20"/>
          <p:cNvGrpSpPr/>
          <p:nvPr/>
        </p:nvGrpSpPr>
        <p:grpSpPr>
          <a:xfrm rot="0">
            <a:off x="640080" y="9784080"/>
            <a:ext cx="17007840" cy="402336"/>
            <a:chOff x="0" y="0"/>
            <a:chExt cx="22677120" cy="536448"/>
          </a:xfrm>
        </p:grpSpPr>
        <p:sp>
          <p:nvSpPr>
            <p:cNvPr name="Freeform 21" id="21"/>
            <p:cNvSpPr/>
            <p:nvPr/>
          </p:nvSpPr>
          <p:spPr>
            <a:xfrm flipH="false" flipV="false" rot="0">
              <a:off x="0" y="0"/>
              <a:ext cx="22677120" cy="536448"/>
            </a:xfrm>
            <a:custGeom>
              <a:avLst/>
              <a:gdLst/>
              <a:ahLst/>
              <a:cxnLst/>
              <a:rect r="r" b="b" t="t" l="l"/>
              <a:pathLst>
                <a:path h="536448" w="22677120">
                  <a:moveTo>
                    <a:pt x="0" y="0"/>
                  </a:moveTo>
                  <a:lnTo>
                    <a:pt x="22677120" y="0"/>
                  </a:lnTo>
                  <a:lnTo>
                    <a:pt x="22677120" y="536448"/>
                  </a:lnTo>
                  <a:lnTo>
                    <a:pt x="0" y="536448"/>
                  </a:lnTo>
                  <a:close/>
                </a:path>
              </a:pathLst>
            </a:custGeom>
            <a:blipFill>
              <a:blip r:embed="rId3">
                <a:alphaModFix amt="0"/>
              </a:blip>
              <a:stretch>
                <a:fillRect l="0" t="-773685" r="0" b="-773685"/>
              </a:stretch>
            </a:blipFill>
          </p:spPr>
        </p:sp>
        <p:sp>
          <p:nvSpPr>
            <p:cNvPr name="TextBox 22" id="22"/>
            <p:cNvSpPr txBox="true"/>
            <p:nvPr/>
          </p:nvSpPr>
          <p:spPr>
            <a:xfrm>
              <a:off x="0" y="-38100"/>
              <a:ext cx="22677120" cy="574548"/>
            </a:xfrm>
            <a:prstGeom prst="rect">
              <a:avLst/>
            </a:prstGeom>
          </p:spPr>
          <p:txBody>
            <a:bodyPr anchor="ctr" rtlCol="false" tIns="0" lIns="0" bIns="0" rIns="0"/>
            <a:lstStyle/>
            <a:p>
              <a:pPr algn="l">
                <a:lnSpc>
                  <a:spcPts val="2160"/>
                </a:lnSpc>
              </a:pPr>
              <a:r>
                <a:rPr lang="en-US" sz="1800">
                  <a:solidFill>
                    <a:srgbClr val="9CA3AF"/>
                  </a:solidFill>
                  <a:latin typeface="Calibri (MS)"/>
                  <a:ea typeface="Calibri (MS)"/>
                  <a:cs typeface="Calibri (MS)"/>
                  <a:sym typeface="Calibri (MS)"/>
                </a:rPr>
                <a:t>Puertas Blindadas · Ingeniería de Software I · 2026</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A1A1A"/>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354587" cy="10312403"/>
            <a:chOff x="0" y="0"/>
            <a:chExt cx="472783" cy="13749871"/>
          </a:xfrm>
        </p:grpSpPr>
        <p:sp>
          <p:nvSpPr>
            <p:cNvPr name="Freeform 3" id="3"/>
            <p:cNvSpPr/>
            <p:nvPr/>
          </p:nvSpPr>
          <p:spPr>
            <a:xfrm flipH="false" flipV="false" rot="0">
              <a:off x="0" y="0"/>
              <a:ext cx="472821" cy="13749910"/>
            </a:xfrm>
            <a:custGeom>
              <a:avLst/>
              <a:gdLst/>
              <a:ahLst/>
              <a:cxnLst/>
              <a:rect r="r" b="b" t="t" l="l"/>
              <a:pathLst>
                <a:path h="13749910" w="472821">
                  <a:moveTo>
                    <a:pt x="0" y="0"/>
                  </a:moveTo>
                  <a:lnTo>
                    <a:pt x="472821" y="0"/>
                  </a:lnTo>
                  <a:lnTo>
                    <a:pt x="472821" y="13749910"/>
                  </a:lnTo>
                  <a:lnTo>
                    <a:pt x="0" y="13749910"/>
                  </a:lnTo>
                  <a:close/>
                </a:path>
              </a:pathLst>
            </a:custGeom>
            <a:solidFill>
              <a:srgbClr val="F47920"/>
            </a:solidFill>
            <a:ln w="25400" cap="sq">
              <a:solidFill>
                <a:srgbClr val="F47920"/>
              </a:solidFill>
              <a:prstDash val="solid"/>
              <a:miter/>
            </a:ln>
          </p:spPr>
        </p:sp>
      </p:grpSp>
      <p:grpSp>
        <p:nvGrpSpPr>
          <p:cNvPr name="Group 4" id="4"/>
          <p:cNvGrpSpPr/>
          <p:nvPr/>
        </p:nvGrpSpPr>
        <p:grpSpPr>
          <a:xfrm rot="0">
            <a:off x="914400" y="1005840"/>
            <a:ext cx="14264640" cy="640080"/>
            <a:chOff x="0" y="0"/>
            <a:chExt cx="19019520" cy="853440"/>
          </a:xfrm>
        </p:grpSpPr>
        <p:sp>
          <p:nvSpPr>
            <p:cNvPr name="Freeform 5" id="5"/>
            <p:cNvSpPr/>
            <p:nvPr/>
          </p:nvSpPr>
          <p:spPr>
            <a:xfrm flipH="false" flipV="false" rot="0">
              <a:off x="0" y="0"/>
              <a:ext cx="19019520" cy="853440"/>
            </a:xfrm>
            <a:custGeom>
              <a:avLst/>
              <a:gdLst/>
              <a:ahLst/>
              <a:cxnLst/>
              <a:rect r="r" b="b" t="t" l="l"/>
              <a:pathLst>
                <a:path h="853440" w="19019520">
                  <a:moveTo>
                    <a:pt x="0" y="0"/>
                  </a:moveTo>
                  <a:lnTo>
                    <a:pt x="19019520" y="0"/>
                  </a:lnTo>
                  <a:lnTo>
                    <a:pt x="19019520" y="853440"/>
                  </a:lnTo>
                  <a:lnTo>
                    <a:pt x="0" y="853440"/>
                  </a:lnTo>
                  <a:close/>
                </a:path>
              </a:pathLst>
            </a:custGeom>
            <a:blipFill>
              <a:blip r:embed="rId3">
                <a:alphaModFix amt="0"/>
              </a:blip>
              <a:stretch>
                <a:fillRect l="0" t="-384237" r="0" b="-384237"/>
              </a:stretch>
            </a:blipFill>
          </p:spPr>
        </p:sp>
        <p:sp>
          <p:nvSpPr>
            <p:cNvPr name="TextBox 6" id="6"/>
            <p:cNvSpPr txBox="true"/>
            <p:nvPr/>
          </p:nvSpPr>
          <p:spPr>
            <a:xfrm>
              <a:off x="0" y="-47625"/>
              <a:ext cx="19019520" cy="901065"/>
            </a:xfrm>
            <a:prstGeom prst="rect">
              <a:avLst/>
            </a:prstGeom>
          </p:spPr>
          <p:txBody>
            <a:bodyPr anchor="ctr" rtlCol="false" tIns="0" lIns="0" bIns="0" rIns="0"/>
            <a:lstStyle/>
            <a:p>
              <a:pPr algn="l">
                <a:lnSpc>
                  <a:spcPts val="2640"/>
                </a:lnSpc>
              </a:pPr>
              <a:r>
                <a:rPr lang="en-US" b="true" sz="2200" spc="799">
                  <a:solidFill>
                    <a:srgbClr val="F47920"/>
                  </a:solidFill>
                  <a:latin typeface="Calibri (MS) Bold"/>
                  <a:ea typeface="Calibri (MS) Bold"/>
                  <a:cs typeface="Calibri (MS) Bold"/>
                  <a:sym typeface="Calibri (MS) Bold"/>
                </a:rPr>
                <a:t>SISTEMA DE INVENTARIO</a:t>
              </a:r>
            </a:p>
          </p:txBody>
        </p:sp>
      </p:grpSp>
      <p:grpSp>
        <p:nvGrpSpPr>
          <p:cNvPr name="Group 7" id="7"/>
          <p:cNvGrpSpPr/>
          <p:nvPr/>
        </p:nvGrpSpPr>
        <p:grpSpPr>
          <a:xfrm rot="0">
            <a:off x="914400" y="1828800"/>
            <a:ext cx="14264640" cy="4389120"/>
            <a:chOff x="0" y="0"/>
            <a:chExt cx="19019520" cy="5852160"/>
          </a:xfrm>
        </p:grpSpPr>
        <p:sp>
          <p:nvSpPr>
            <p:cNvPr name="Freeform 8" id="8"/>
            <p:cNvSpPr/>
            <p:nvPr/>
          </p:nvSpPr>
          <p:spPr>
            <a:xfrm flipH="false" flipV="false" rot="0">
              <a:off x="0" y="0"/>
              <a:ext cx="19019520" cy="5852160"/>
            </a:xfrm>
            <a:custGeom>
              <a:avLst/>
              <a:gdLst/>
              <a:ahLst/>
              <a:cxnLst/>
              <a:rect r="r" b="b" t="t" l="l"/>
              <a:pathLst>
                <a:path h="5852160" w="19019520">
                  <a:moveTo>
                    <a:pt x="0" y="0"/>
                  </a:moveTo>
                  <a:lnTo>
                    <a:pt x="19019520" y="0"/>
                  </a:lnTo>
                  <a:lnTo>
                    <a:pt x="19019520" y="5852160"/>
                  </a:lnTo>
                  <a:lnTo>
                    <a:pt x="0" y="5852160"/>
                  </a:lnTo>
                  <a:close/>
                </a:path>
              </a:pathLst>
            </a:custGeom>
            <a:blipFill>
              <a:blip r:embed="rId3">
                <a:alphaModFix amt="0"/>
              </a:blip>
              <a:stretch>
                <a:fillRect l="0" t="-13326" r="0" b="-13326"/>
              </a:stretch>
            </a:blipFill>
          </p:spPr>
        </p:sp>
        <p:sp>
          <p:nvSpPr>
            <p:cNvPr name="TextBox 9" id="9"/>
            <p:cNvSpPr txBox="true"/>
            <p:nvPr/>
          </p:nvSpPr>
          <p:spPr>
            <a:xfrm>
              <a:off x="0" y="-161925"/>
              <a:ext cx="19019520" cy="6014085"/>
            </a:xfrm>
            <a:prstGeom prst="rect">
              <a:avLst/>
            </a:prstGeom>
          </p:spPr>
          <p:txBody>
            <a:bodyPr anchor="ctr" rtlCol="false" tIns="0" lIns="0" bIns="0" rIns="0"/>
            <a:lstStyle/>
            <a:p>
              <a:pPr algn="l">
                <a:lnSpc>
                  <a:spcPts val="9600"/>
                </a:lnSpc>
              </a:pPr>
              <a:r>
                <a:rPr lang="en-US" sz="8000" b="true">
                  <a:solidFill>
                    <a:srgbClr val="FFFFFF"/>
                  </a:solidFill>
                  <a:latin typeface="Calibri (MS) Bold"/>
                  <a:ea typeface="Calibri (MS) Bold"/>
                  <a:cs typeface="Calibri (MS) Bold"/>
                  <a:sym typeface="Calibri (MS) Bold"/>
                </a:rPr>
                <a:t>PROYECTO INGENIERÍA</a:t>
              </a:r>
            </a:p>
            <a:p>
              <a:pPr algn="l">
                <a:lnSpc>
                  <a:spcPts val="9600"/>
                </a:lnSpc>
              </a:pPr>
              <a:r>
                <a:rPr lang="en-US" sz="8000" b="true">
                  <a:solidFill>
                    <a:srgbClr val="FFFFFF"/>
                  </a:solidFill>
                  <a:latin typeface="Calibri (MS) Bold"/>
                  <a:ea typeface="Calibri (MS) Bold"/>
                  <a:cs typeface="Calibri (MS) Bold"/>
                  <a:sym typeface="Calibri (MS) Bold"/>
                </a:rPr>
                <a:t>DE SOFTWARE I</a:t>
              </a:r>
            </a:p>
            <a:p>
              <a:pPr algn="l">
                <a:lnSpc>
                  <a:spcPts val="9600"/>
                </a:lnSpc>
              </a:pPr>
              <a:r>
                <a:rPr lang="en-US" sz="8000" b="true">
                  <a:solidFill>
                    <a:srgbClr val="FFFFFF"/>
                  </a:solidFill>
                  <a:latin typeface="Calibri (MS) Bold"/>
                  <a:ea typeface="Calibri (MS) Bold"/>
                  <a:cs typeface="Calibri (MS) Bold"/>
                  <a:sym typeface="Calibri (MS) Bold"/>
                </a:rPr>
                <a:t>INCREMENTO 1 GRUPO 14</a:t>
              </a:r>
            </a:p>
          </p:txBody>
        </p:sp>
      </p:grpSp>
      <p:grpSp>
        <p:nvGrpSpPr>
          <p:cNvPr name="Group 10" id="10"/>
          <p:cNvGrpSpPr/>
          <p:nvPr/>
        </p:nvGrpSpPr>
        <p:grpSpPr>
          <a:xfrm rot="0">
            <a:off x="927106" y="5925760"/>
            <a:ext cx="8255003" cy="98555"/>
            <a:chOff x="0" y="0"/>
            <a:chExt cx="11006671" cy="131407"/>
          </a:xfrm>
        </p:grpSpPr>
        <p:sp>
          <p:nvSpPr>
            <p:cNvPr name="Freeform 11" id="11"/>
            <p:cNvSpPr/>
            <p:nvPr/>
          </p:nvSpPr>
          <p:spPr>
            <a:xfrm flipH="false" flipV="false" rot="0">
              <a:off x="0" y="0"/>
              <a:ext cx="11006709" cy="131445"/>
            </a:xfrm>
            <a:custGeom>
              <a:avLst/>
              <a:gdLst/>
              <a:ahLst/>
              <a:cxnLst/>
              <a:rect r="r" b="b" t="t" l="l"/>
              <a:pathLst>
                <a:path h="131445" w="11006709">
                  <a:moveTo>
                    <a:pt x="0" y="0"/>
                  </a:moveTo>
                  <a:lnTo>
                    <a:pt x="11006709" y="0"/>
                  </a:lnTo>
                  <a:lnTo>
                    <a:pt x="11006709" y="131445"/>
                  </a:lnTo>
                  <a:lnTo>
                    <a:pt x="0" y="131445"/>
                  </a:lnTo>
                  <a:close/>
                </a:path>
              </a:pathLst>
            </a:custGeom>
            <a:solidFill>
              <a:srgbClr val="F47920"/>
            </a:solidFill>
            <a:ln w="25400" cap="sq">
              <a:solidFill>
                <a:srgbClr val="F47920"/>
              </a:solidFill>
              <a:prstDash val="solid"/>
              <a:miter/>
            </a:ln>
          </p:spPr>
        </p:sp>
      </p:grpSp>
      <p:grpSp>
        <p:nvGrpSpPr>
          <p:cNvPr name="Group 12" id="12"/>
          <p:cNvGrpSpPr/>
          <p:nvPr/>
        </p:nvGrpSpPr>
        <p:grpSpPr>
          <a:xfrm rot="0">
            <a:off x="914400" y="6583680"/>
            <a:ext cx="8229600" cy="548640"/>
            <a:chOff x="0" y="0"/>
            <a:chExt cx="10972800" cy="731520"/>
          </a:xfrm>
        </p:grpSpPr>
        <p:sp>
          <p:nvSpPr>
            <p:cNvPr name="Freeform 13" id="1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14" id="14"/>
            <p:cNvSpPr txBox="true"/>
            <p:nvPr/>
          </p:nvSpPr>
          <p:spPr>
            <a:xfrm>
              <a:off x="0" y="-47625"/>
              <a:ext cx="10972800" cy="779145"/>
            </a:xfrm>
            <a:prstGeom prst="rect">
              <a:avLst/>
            </a:prstGeom>
          </p:spPr>
          <p:txBody>
            <a:bodyPr anchor="ctr" rtlCol="false" tIns="0" lIns="0" bIns="0" rIns="0"/>
            <a:lstStyle/>
            <a:p>
              <a:pPr algn="l">
                <a:lnSpc>
                  <a:spcPts val="2640"/>
                </a:lnSpc>
              </a:pPr>
              <a:r>
                <a:rPr lang="en-US" sz="2200" b="true">
                  <a:solidFill>
                    <a:srgbClr val="F47920"/>
                  </a:solidFill>
                  <a:latin typeface="Calibri (MS) Bold"/>
                  <a:ea typeface="Calibri (MS) Bold"/>
                  <a:cs typeface="Calibri (MS) Bold"/>
                  <a:sym typeface="Calibri (MS) Bold"/>
                </a:rPr>
                <a:t>Autores:</a:t>
              </a:r>
            </a:p>
          </p:txBody>
        </p:sp>
      </p:grpSp>
      <p:grpSp>
        <p:nvGrpSpPr>
          <p:cNvPr name="Group 15" id="15"/>
          <p:cNvGrpSpPr/>
          <p:nvPr/>
        </p:nvGrpSpPr>
        <p:grpSpPr>
          <a:xfrm rot="0">
            <a:off x="914400" y="7132320"/>
            <a:ext cx="8229600" cy="2377440"/>
            <a:chOff x="0" y="0"/>
            <a:chExt cx="10972800" cy="3169920"/>
          </a:xfrm>
        </p:grpSpPr>
        <p:sp>
          <p:nvSpPr>
            <p:cNvPr name="Freeform 16" id="16"/>
            <p:cNvSpPr/>
            <p:nvPr/>
          </p:nvSpPr>
          <p:spPr>
            <a:xfrm flipH="false" flipV="false" rot="0">
              <a:off x="0" y="0"/>
              <a:ext cx="10972800" cy="3169920"/>
            </a:xfrm>
            <a:custGeom>
              <a:avLst/>
              <a:gdLst/>
              <a:ahLst/>
              <a:cxnLst/>
              <a:rect r="r" b="b" t="t" l="l"/>
              <a:pathLst>
                <a:path h="3169920" w="10972800">
                  <a:moveTo>
                    <a:pt x="0" y="0"/>
                  </a:moveTo>
                  <a:lnTo>
                    <a:pt x="10972800" y="0"/>
                  </a:lnTo>
                  <a:lnTo>
                    <a:pt x="10972800" y="3169920"/>
                  </a:lnTo>
                  <a:lnTo>
                    <a:pt x="0" y="3169920"/>
                  </a:lnTo>
                  <a:close/>
                </a:path>
              </a:pathLst>
            </a:custGeom>
            <a:blipFill>
              <a:blip r:embed="rId3">
                <a:alphaModFix amt="0"/>
              </a:blip>
              <a:stretch>
                <a:fillRect l="0" t="-17448" r="0" b="-17448"/>
              </a:stretch>
            </a:blipFill>
          </p:spPr>
        </p:sp>
        <p:sp>
          <p:nvSpPr>
            <p:cNvPr name="TextBox 17" id="17"/>
            <p:cNvSpPr txBox="true"/>
            <p:nvPr/>
          </p:nvSpPr>
          <p:spPr>
            <a:xfrm>
              <a:off x="0" y="-47625"/>
              <a:ext cx="10972800" cy="3217545"/>
            </a:xfrm>
            <a:prstGeom prst="rect">
              <a:avLst/>
            </a:prstGeom>
          </p:spPr>
          <p:txBody>
            <a:bodyPr anchor="ctr" rtlCol="false" tIns="0" lIns="0" bIns="0" rIns="0"/>
            <a:lstStyle/>
            <a:p>
              <a:pPr algn="l">
                <a:lnSpc>
                  <a:spcPts val="2520"/>
                </a:lnSpc>
              </a:pPr>
              <a:r>
                <a:rPr lang="en-US" sz="2100">
                  <a:solidFill>
                    <a:srgbClr val="D1D5DB"/>
                  </a:solidFill>
                  <a:latin typeface="Calibri (MS)"/>
                  <a:ea typeface="Calibri (MS)"/>
                  <a:cs typeface="Calibri (MS)"/>
                  <a:sym typeface="Calibri (MS)"/>
                </a:rPr>
                <a:t>Sofia Isidora Cariñe Valenzuela</a:t>
              </a:r>
            </a:p>
            <a:p>
              <a:pPr algn="l">
                <a:lnSpc>
                  <a:spcPts val="2520"/>
                </a:lnSpc>
              </a:pPr>
              <a:r>
                <a:rPr lang="en-US" sz="2100">
                  <a:solidFill>
                    <a:srgbClr val="D1D5DB"/>
                  </a:solidFill>
                  <a:latin typeface="Calibri (MS)"/>
                  <a:ea typeface="Calibri (MS)"/>
                  <a:cs typeface="Calibri (MS)"/>
                  <a:sym typeface="Calibri (MS)"/>
                </a:rPr>
                <a:t>Jhoe Eduardo Castillo Barrios</a:t>
              </a:r>
            </a:p>
            <a:p>
              <a:pPr algn="l">
                <a:lnSpc>
                  <a:spcPts val="2520"/>
                </a:lnSpc>
              </a:pPr>
              <a:r>
                <a:rPr lang="en-US" sz="2100">
                  <a:solidFill>
                    <a:srgbClr val="D1D5DB"/>
                  </a:solidFill>
                  <a:latin typeface="Calibri (MS)"/>
                  <a:ea typeface="Calibri (MS)"/>
                  <a:cs typeface="Calibri (MS)"/>
                  <a:sym typeface="Calibri (MS)"/>
                </a:rPr>
                <a:t>Karla Aylin Curín Navarro</a:t>
              </a:r>
            </a:p>
            <a:p>
              <a:pPr algn="l">
                <a:lnSpc>
                  <a:spcPts val="2520"/>
                </a:lnSpc>
              </a:pPr>
              <a:r>
                <a:rPr lang="en-US" sz="2100">
                  <a:solidFill>
                    <a:srgbClr val="D1D5DB"/>
                  </a:solidFill>
                  <a:latin typeface="Calibri (MS)"/>
                  <a:ea typeface="Calibri (MS)"/>
                  <a:cs typeface="Calibri (MS)"/>
                  <a:sym typeface="Calibri (MS)"/>
                </a:rPr>
                <a:t>Valentín Ignacio García Farías</a:t>
              </a:r>
            </a:p>
            <a:p>
              <a:pPr algn="l">
                <a:lnSpc>
                  <a:spcPts val="2520"/>
                </a:lnSpc>
              </a:pPr>
              <a:r>
                <a:rPr lang="en-US" sz="2100">
                  <a:solidFill>
                    <a:srgbClr val="D1D5DB"/>
                  </a:solidFill>
                  <a:latin typeface="Calibri (MS)"/>
                  <a:ea typeface="Calibri (MS)"/>
                  <a:cs typeface="Calibri (MS)"/>
                  <a:sym typeface="Calibri (MS)"/>
                </a:rPr>
                <a:t>Omar Adolfo Olmos Hernández</a:t>
              </a:r>
            </a:p>
            <a:p>
              <a:pPr algn="l">
                <a:lnSpc>
                  <a:spcPts val="2520"/>
                </a:lnSpc>
              </a:pPr>
              <a:r>
                <a:rPr lang="en-US" sz="2100">
                  <a:solidFill>
                    <a:srgbClr val="D1D5DB"/>
                  </a:solidFill>
                  <a:latin typeface="Calibri (MS)"/>
                  <a:ea typeface="Calibri (MS)"/>
                  <a:cs typeface="Calibri (MS)"/>
                  <a:sym typeface="Calibri (MS)"/>
                </a:rPr>
                <a:t>Silvio Alberto Villagra Labbé</a:t>
              </a:r>
            </a:p>
          </p:txBody>
        </p:sp>
      </p:grpSp>
      <p:grpSp>
        <p:nvGrpSpPr>
          <p:cNvPr name="Group 18" id="18"/>
          <p:cNvGrpSpPr/>
          <p:nvPr/>
        </p:nvGrpSpPr>
        <p:grpSpPr>
          <a:xfrm rot="0">
            <a:off x="10058400" y="6583680"/>
            <a:ext cx="7680960" cy="1280160"/>
            <a:chOff x="0" y="0"/>
            <a:chExt cx="10241280" cy="1706880"/>
          </a:xfrm>
        </p:grpSpPr>
        <p:sp>
          <p:nvSpPr>
            <p:cNvPr name="Freeform 19" id="19"/>
            <p:cNvSpPr/>
            <p:nvPr/>
          </p:nvSpPr>
          <p:spPr>
            <a:xfrm flipH="false" flipV="false" rot="0">
              <a:off x="0" y="0"/>
              <a:ext cx="10241280" cy="1706880"/>
            </a:xfrm>
            <a:custGeom>
              <a:avLst/>
              <a:gdLst/>
              <a:ahLst/>
              <a:cxnLst/>
              <a:rect r="r" b="b" t="t" l="l"/>
              <a:pathLst>
                <a:path h="1706880" w="10241280">
                  <a:moveTo>
                    <a:pt x="0" y="0"/>
                  </a:moveTo>
                  <a:lnTo>
                    <a:pt x="10241280" y="0"/>
                  </a:lnTo>
                  <a:lnTo>
                    <a:pt x="10241280" y="1706880"/>
                  </a:lnTo>
                  <a:lnTo>
                    <a:pt x="0" y="1706880"/>
                  </a:lnTo>
                  <a:close/>
                </a:path>
              </a:pathLst>
            </a:custGeom>
            <a:blipFill>
              <a:blip r:embed="rId3">
                <a:alphaModFix amt="0"/>
              </a:blip>
              <a:stretch>
                <a:fillRect l="0" t="-66910" r="0" b="-66910"/>
              </a:stretch>
            </a:blipFill>
          </p:spPr>
        </p:sp>
        <p:sp>
          <p:nvSpPr>
            <p:cNvPr name="TextBox 20" id="20"/>
            <p:cNvSpPr txBox="true"/>
            <p:nvPr/>
          </p:nvSpPr>
          <p:spPr>
            <a:xfrm>
              <a:off x="0" y="-47625"/>
              <a:ext cx="10241280" cy="1754505"/>
            </a:xfrm>
            <a:prstGeom prst="rect">
              <a:avLst/>
            </a:prstGeom>
          </p:spPr>
          <p:txBody>
            <a:bodyPr anchor="ctr" rtlCol="false" tIns="0" lIns="0" bIns="0" rIns="0"/>
            <a:lstStyle/>
            <a:p>
              <a:pPr algn="l">
                <a:lnSpc>
                  <a:spcPts val="2640"/>
                </a:lnSpc>
              </a:pPr>
              <a:r>
                <a:rPr lang="en-US" sz="2200">
                  <a:solidFill>
                    <a:srgbClr val="9CA3AF"/>
                  </a:solidFill>
                  <a:latin typeface="Calibri (MS)"/>
                  <a:ea typeface="Calibri (MS)"/>
                  <a:cs typeface="Calibri (MS)"/>
                  <a:sym typeface="Calibri (MS)"/>
                </a:rPr>
                <a:t>Facultad de Ingeniería</a:t>
              </a:r>
            </a:p>
            <a:p>
              <a:pPr algn="l">
                <a:lnSpc>
                  <a:spcPts val="2640"/>
                </a:lnSpc>
              </a:pPr>
              <a:r>
                <a:rPr lang="en-US" sz="2200">
                  <a:solidFill>
                    <a:srgbClr val="9CA3AF"/>
                  </a:solidFill>
                  <a:latin typeface="Calibri (MS)"/>
                  <a:ea typeface="Calibri (MS)"/>
                  <a:cs typeface="Calibri (MS)"/>
                  <a:sym typeface="Calibri (MS)"/>
                </a:rPr>
                <a:t>Ingeniería de Software I</a:t>
              </a:r>
            </a:p>
          </p:txBody>
        </p:sp>
      </p:grpSp>
      <p:grpSp>
        <p:nvGrpSpPr>
          <p:cNvPr name="Group 21" id="21"/>
          <p:cNvGrpSpPr/>
          <p:nvPr/>
        </p:nvGrpSpPr>
        <p:grpSpPr>
          <a:xfrm rot="0">
            <a:off x="10058400" y="7955280"/>
            <a:ext cx="7680960" cy="640080"/>
            <a:chOff x="0" y="0"/>
            <a:chExt cx="10241280" cy="853440"/>
          </a:xfrm>
        </p:grpSpPr>
        <p:sp>
          <p:nvSpPr>
            <p:cNvPr name="Freeform 22" id="22"/>
            <p:cNvSpPr/>
            <p:nvPr/>
          </p:nvSpPr>
          <p:spPr>
            <a:xfrm flipH="false" flipV="false" rot="0">
              <a:off x="0" y="0"/>
              <a:ext cx="10241280" cy="853440"/>
            </a:xfrm>
            <a:custGeom>
              <a:avLst/>
              <a:gdLst/>
              <a:ahLst/>
              <a:cxnLst/>
              <a:rect r="r" b="b" t="t" l="l"/>
              <a:pathLst>
                <a:path h="853440" w="10241280">
                  <a:moveTo>
                    <a:pt x="0" y="0"/>
                  </a:moveTo>
                  <a:lnTo>
                    <a:pt x="10241280" y="0"/>
                  </a:lnTo>
                  <a:lnTo>
                    <a:pt x="10241280" y="853440"/>
                  </a:lnTo>
                  <a:lnTo>
                    <a:pt x="0" y="853440"/>
                  </a:lnTo>
                  <a:close/>
                </a:path>
              </a:pathLst>
            </a:custGeom>
            <a:blipFill>
              <a:blip r:embed="rId3">
                <a:alphaModFix amt="0"/>
              </a:blip>
              <a:stretch>
                <a:fillRect l="0" t="-183820" r="0" b="-183820"/>
              </a:stretch>
            </a:blipFill>
          </p:spPr>
        </p:sp>
        <p:sp>
          <p:nvSpPr>
            <p:cNvPr name="TextBox 23" id="23"/>
            <p:cNvSpPr txBox="true"/>
            <p:nvPr/>
          </p:nvSpPr>
          <p:spPr>
            <a:xfrm>
              <a:off x="0" y="-47625"/>
              <a:ext cx="10241280" cy="901065"/>
            </a:xfrm>
            <a:prstGeom prst="rect">
              <a:avLst/>
            </a:prstGeom>
          </p:spPr>
          <p:txBody>
            <a:bodyPr anchor="ctr" rtlCol="false" tIns="0" lIns="0" bIns="0" rIns="0"/>
            <a:lstStyle/>
            <a:p>
              <a:pPr algn="l">
                <a:lnSpc>
                  <a:spcPts val="2640"/>
                </a:lnSpc>
              </a:pPr>
              <a:r>
                <a:rPr lang="en-US" sz="2200" b="true">
                  <a:solidFill>
                    <a:srgbClr val="F47920"/>
                  </a:solidFill>
                  <a:latin typeface="Calibri (MS) Bold"/>
                  <a:ea typeface="Calibri (MS) Bold"/>
                  <a:cs typeface="Calibri (MS) Bold"/>
                  <a:sym typeface="Calibri (MS) Bold"/>
                </a:rPr>
                <a:t>Profesor: </a:t>
              </a:r>
              <a:r>
                <a:rPr lang="en-US" sz="2200">
                  <a:solidFill>
                    <a:srgbClr val="D1D5DB"/>
                  </a:solidFill>
                  <a:latin typeface="Calibri (MS)"/>
                  <a:ea typeface="Calibri (MS)"/>
                  <a:cs typeface="Calibri (MS)"/>
                  <a:sym typeface="Calibri (MS)"/>
                </a:rPr>
                <a:t>Paulo Quinsacara Jofré</a:t>
              </a:r>
            </a:p>
          </p:txBody>
        </p:sp>
      </p:grpSp>
      <p:grpSp>
        <p:nvGrpSpPr>
          <p:cNvPr name="Group 24" id="24"/>
          <p:cNvGrpSpPr/>
          <p:nvPr/>
        </p:nvGrpSpPr>
        <p:grpSpPr>
          <a:xfrm rot="0">
            <a:off x="10058400" y="8686800"/>
            <a:ext cx="7680960" cy="548640"/>
            <a:chOff x="0" y="0"/>
            <a:chExt cx="10241280" cy="731520"/>
          </a:xfrm>
        </p:grpSpPr>
        <p:sp>
          <p:nvSpPr>
            <p:cNvPr name="Freeform 25" id="25"/>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26" id="26"/>
            <p:cNvSpPr txBox="true"/>
            <p:nvPr/>
          </p:nvSpPr>
          <p:spPr>
            <a:xfrm>
              <a:off x="0" y="-38100"/>
              <a:ext cx="10241280" cy="769620"/>
            </a:xfrm>
            <a:prstGeom prst="rect">
              <a:avLst/>
            </a:prstGeom>
          </p:spPr>
          <p:txBody>
            <a:bodyPr anchor="ctr" rtlCol="false" tIns="0" lIns="0" bIns="0" rIns="0"/>
            <a:lstStyle/>
            <a:p>
              <a:pPr algn="l">
                <a:lnSpc>
                  <a:spcPts val="2400"/>
                </a:lnSpc>
              </a:pPr>
              <a:r>
                <a:rPr lang="en-US" sz="2000">
                  <a:solidFill>
                    <a:srgbClr val="9CA3AF"/>
                  </a:solidFill>
                  <a:latin typeface="Calibri (MS)"/>
                  <a:ea typeface="Calibri (MS)"/>
                  <a:cs typeface="Calibri (MS)"/>
                  <a:sym typeface="Calibri (MS)"/>
                </a:rPr>
                <a:t>Santiago, Chile · 2026</a:t>
              </a:r>
            </a:p>
          </p:txBody>
        </p:sp>
      </p:grpSp>
      <p:grpSp>
        <p:nvGrpSpPr>
          <p:cNvPr name="Group 27" id="27"/>
          <p:cNvGrpSpPr/>
          <p:nvPr/>
        </p:nvGrpSpPr>
        <p:grpSpPr>
          <a:xfrm rot="0">
            <a:off x="927106" y="1572768"/>
            <a:ext cx="4102098" cy="619551"/>
            <a:chOff x="0" y="0"/>
            <a:chExt cx="5469465" cy="826068"/>
          </a:xfrm>
        </p:grpSpPr>
        <p:sp>
          <p:nvSpPr>
            <p:cNvPr name="Freeform 28" id="28"/>
            <p:cNvSpPr/>
            <p:nvPr/>
          </p:nvSpPr>
          <p:spPr>
            <a:xfrm flipH="false" flipV="false" rot="0">
              <a:off x="0" y="0"/>
              <a:ext cx="5469465" cy="826068"/>
            </a:xfrm>
            <a:custGeom>
              <a:avLst/>
              <a:gdLst/>
              <a:ahLst/>
              <a:cxnLst/>
              <a:rect r="r" b="b" t="t" l="l"/>
              <a:pathLst>
                <a:path h="826068" w="5469465">
                  <a:moveTo>
                    <a:pt x="0" y="0"/>
                  </a:moveTo>
                  <a:lnTo>
                    <a:pt x="5469465" y="0"/>
                  </a:lnTo>
                  <a:lnTo>
                    <a:pt x="5469465" y="826068"/>
                  </a:lnTo>
                  <a:lnTo>
                    <a:pt x="0" y="826068"/>
                  </a:lnTo>
                  <a:close/>
                </a:path>
              </a:pathLst>
            </a:custGeom>
            <a:blipFill>
              <a:blip r:embed="rId3">
                <a:alphaModFix amt="0"/>
              </a:blip>
              <a:stretch>
                <a:fillRect l="0" t="-487823" r="-310154" b="-470474"/>
              </a:stretch>
            </a:blipFill>
          </p:spPr>
        </p:sp>
        <p:sp>
          <p:nvSpPr>
            <p:cNvPr name="TextBox 29" id="29"/>
            <p:cNvSpPr txBox="true"/>
            <p:nvPr/>
          </p:nvSpPr>
          <p:spPr>
            <a:xfrm>
              <a:off x="0" y="-66675"/>
              <a:ext cx="5469465" cy="892743"/>
            </a:xfrm>
            <a:prstGeom prst="rect">
              <a:avLst/>
            </a:prstGeom>
          </p:spPr>
          <p:txBody>
            <a:bodyPr anchor="ctr" rtlCol="false" tIns="0" lIns="0" bIns="0" rIns="0"/>
            <a:lstStyle/>
            <a:p>
              <a:pPr algn="l">
                <a:lnSpc>
                  <a:spcPts val="3719"/>
                </a:lnSpc>
              </a:pPr>
              <a:r>
                <a:rPr lang="en-US" sz="3099">
                  <a:solidFill>
                    <a:srgbClr val="9CA3AF"/>
                  </a:solidFill>
                  <a:latin typeface="Calibri (MS)"/>
                  <a:ea typeface="Calibri (MS)"/>
                  <a:cs typeface="Calibri (MS)"/>
                  <a:sym typeface="Calibri (MS)"/>
                </a:rPr>
                <a:t>Universidad Andrés Bello</a:t>
              </a:r>
            </a:p>
          </p:txBody>
        </p:sp>
      </p:grpSp>
      <p:sp>
        <p:nvSpPr>
          <p:cNvPr name="Freeform 30" id="30"/>
          <p:cNvSpPr/>
          <p:nvPr/>
        </p:nvSpPr>
        <p:spPr>
          <a:xfrm flipH="false" flipV="false" rot="0">
            <a:off x="15760065" y="91428"/>
            <a:ext cx="2228285" cy="1874544"/>
          </a:xfrm>
          <a:custGeom>
            <a:avLst/>
            <a:gdLst/>
            <a:ahLst/>
            <a:cxnLst/>
            <a:rect r="r" b="b" t="t" l="l"/>
            <a:pathLst>
              <a:path h="1874544" w="2228285">
                <a:moveTo>
                  <a:pt x="0" y="0"/>
                </a:moveTo>
                <a:lnTo>
                  <a:pt x="2228285" y="0"/>
                </a:lnTo>
                <a:lnTo>
                  <a:pt x="2228285" y="1874544"/>
                </a:lnTo>
                <a:lnTo>
                  <a:pt x="0" y="1874544"/>
                </a:lnTo>
                <a:lnTo>
                  <a:pt x="0" y="0"/>
                </a:lnTo>
                <a:close/>
              </a:path>
            </a:pathLst>
          </a:custGeom>
          <a:blipFill>
            <a:blip r:embed="rId4"/>
            <a:stretch>
              <a:fillRect l="0" t="0" r="0" b="0"/>
            </a:stretch>
          </a:blipFill>
        </p:spPr>
      </p:sp>
      <p:grpSp>
        <p:nvGrpSpPr>
          <p:cNvPr name="Group 31" id="31"/>
          <p:cNvGrpSpPr/>
          <p:nvPr/>
        </p:nvGrpSpPr>
        <p:grpSpPr>
          <a:xfrm rot="0">
            <a:off x="10998822" y="3190399"/>
            <a:ext cx="6740538" cy="2574131"/>
            <a:chOff x="0" y="0"/>
            <a:chExt cx="8987384" cy="3432175"/>
          </a:xfrm>
        </p:grpSpPr>
        <p:sp>
          <p:nvSpPr>
            <p:cNvPr name="Freeform 32" id="32"/>
            <p:cNvSpPr/>
            <p:nvPr/>
          </p:nvSpPr>
          <p:spPr>
            <a:xfrm flipH="false" flipV="false" rot="0">
              <a:off x="0" y="0"/>
              <a:ext cx="8987384" cy="3432175"/>
            </a:xfrm>
            <a:custGeom>
              <a:avLst/>
              <a:gdLst/>
              <a:ahLst/>
              <a:cxnLst/>
              <a:rect r="r" b="b" t="t" l="l"/>
              <a:pathLst>
                <a:path h="3432175" w="8987384">
                  <a:moveTo>
                    <a:pt x="0" y="0"/>
                  </a:moveTo>
                  <a:lnTo>
                    <a:pt x="8987384" y="0"/>
                  </a:lnTo>
                  <a:lnTo>
                    <a:pt x="8987384" y="3432175"/>
                  </a:lnTo>
                  <a:lnTo>
                    <a:pt x="0" y="3432175"/>
                  </a:lnTo>
                  <a:close/>
                </a:path>
              </a:pathLst>
            </a:custGeom>
            <a:blipFill>
              <a:blip r:embed="rId3">
                <a:alphaModFix amt="0"/>
              </a:blip>
              <a:stretch>
                <a:fillRect l="0" t="-84730" r="-149608" b="-69984"/>
              </a:stretch>
            </a:blipFill>
          </p:spPr>
        </p:sp>
        <p:sp>
          <p:nvSpPr>
            <p:cNvPr name="TextBox 33" id="33"/>
            <p:cNvSpPr txBox="true"/>
            <p:nvPr/>
          </p:nvSpPr>
          <p:spPr>
            <a:xfrm>
              <a:off x="0" y="-257175"/>
              <a:ext cx="8987384" cy="3689350"/>
            </a:xfrm>
            <a:prstGeom prst="rect">
              <a:avLst/>
            </a:prstGeom>
          </p:spPr>
          <p:txBody>
            <a:bodyPr anchor="ctr" rtlCol="false" tIns="0" lIns="0" bIns="0" rIns="0"/>
            <a:lstStyle/>
            <a:p>
              <a:pPr algn="l">
                <a:lnSpc>
                  <a:spcPts val="153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DAHL8ZhLKR8</dc:identifier>
  <dcterms:modified xsi:type="dcterms:W3CDTF">2011-08-01T06:04:30Z</dcterms:modified>
  <cp:revision>1</cp:revision>
  <dc:title>PuertasBlindadas_Trazabilidad.pptx</dc:title>
</cp:coreProperties>
</file>