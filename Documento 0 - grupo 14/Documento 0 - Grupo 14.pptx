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SyIm7OJ+LHrRN6Mkrx3o9z6Bi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144661"/>
            <a:ext cx="13987497" cy="1905914"/>
            <a:chOff x="0" y="-38100"/>
            <a:chExt cx="3683950" cy="501969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683950" cy="463869"/>
            </a:xfrm>
            <a:custGeom>
              <a:rect b="b" l="l" r="r" t="t"/>
              <a:pathLst>
                <a:path extrusionOk="0" h="463869" w="3683950">
                  <a:moveTo>
                    <a:pt x="0" y="0"/>
                  </a:moveTo>
                  <a:lnTo>
                    <a:pt x="3683950" y="0"/>
                  </a:lnTo>
                  <a:lnTo>
                    <a:pt x="3683950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3683950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4330528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218210" y="4723475"/>
            <a:ext cx="4831762" cy="1796936"/>
          </a:xfrm>
          <a:custGeom>
            <a:rect b="b" l="l" r="r" t="t"/>
            <a:pathLst>
              <a:path extrusionOk="0" h="1796936" w="4831762">
                <a:moveTo>
                  <a:pt x="0" y="0"/>
                </a:moveTo>
                <a:lnTo>
                  <a:pt x="4831762" y="0"/>
                </a:lnTo>
                <a:lnTo>
                  <a:pt x="4831762" y="1796936"/>
                </a:lnTo>
                <a:lnTo>
                  <a:pt x="0" y="1796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755824" y="3540088"/>
            <a:ext cx="8226667" cy="5420097"/>
          </a:xfrm>
          <a:custGeom>
            <a:rect b="b" l="l" r="r" t="t"/>
            <a:pathLst>
              <a:path extrusionOk="0" h="5420097" w="8226667">
                <a:moveTo>
                  <a:pt x="0" y="0"/>
                </a:moveTo>
                <a:lnTo>
                  <a:pt x="8226667" y="0"/>
                </a:lnTo>
                <a:lnTo>
                  <a:pt x="8226667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18210" y="1984846"/>
            <a:ext cx="13769287" cy="14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trazabilidad de documento 0 – Grupo 14  Sistema de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18210" y="6690094"/>
            <a:ext cx="4284900" cy="24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Sofia Isidora Cariñe Valenzuela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Jhoe Eduardo Castillo Barrios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Karla Aylin Curín Navarro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Valentín Ignacio García Farías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Omar Adolfo Olmos Hernández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9"/>
              <a:buFont typeface="Arial"/>
              <a:buNone/>
            </a:pPr>
            <a:r>
              <a:rPr b="0" i="0" lang="en-US" sz="1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Silvio Alberto Villagra Labbé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18210" y="4037596"/>
            <a:ext cx="7300917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1" i="1" lang="en-US" sz="412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 Puertas Blindadas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18210" y="9681959"/>
            <a:ext cx="3912080" cy="29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b="1" i="1" lang="en-US" sz="1808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Fecha: 22 de Abril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18210" y="9318277"/>
            <a:ext cx="3912080" cy="29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8"/>
              <a:buFont typeface="Arial"/>
              <a:buNone/>
            </a:pPr>
            <a:r>
              <a:rPr b="1" i="1" lang="en-US" sz="1808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Profesor Paulo Quinsacara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07871" y="504350"/>
            <a:ext cx="3700451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23550" y="2598330"/>
            <a:ext cx="17764450" cy="4679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1.- Contexto.......................................................................................................................................3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2.- Problemática................................................................................................................................4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3.- Procesos actuales de la empresa.............................................................................................5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4.- Análisis interno externo.............................................................................................................6-9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5.- Análisis cuantitativo.....................................................................................................................10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6.- Análisis cualitativo........................................................................................................................11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7.- Objetivos........................................................................................................................................12-13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8.- Requerimientos...........................................................................................................................14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9.- Traza de requerimientos a casos de uso................................................................................15-16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10.- Diagramas de caso de uso........................................................................................................17-18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b="0" i="0" lang="en-US" sz="2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11.- Conclusión................................................................................................................................19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3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7939" y="1930577"/>
            <a:ext cx="13688631" cy="7699855"/>
          </a:xfrm>
          <a:custGeom>
            <a:rect b="b" l="l" r="r" t="t"/>
            <a:pathLst>
              <a:path extrusionOk="0" h="7699855" w="13688631">
                <a:moveTo>
                  <a:pt x="0" y="0"/>
                </a:moveTo>
                <a:lnTo>
                  <a:pt x="13688631" y="0"/>
                </a:lnTo>
                <a:lnTo>
                  <a:pt x="13688631" y="7699855"/>
                </a:lnTo>
                <a:lnTo>
                  <a:pt x="0" y="7699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118505" y="4826244"/>
            <a:ext cx="2554649" cy="2072915"/>
          </a:xfrm>
          <a:custGeom>
            <a:rect b="b" l="l" r="r" t="t"/>
            <a:pathLst>
              <a:path extrusionOk="0" h="2072915" w="2554649">
                <a:moveTo>
                  <a:pt x="0" y="0"/>
                </a:moveTo>
                <a:lnTo>
                  <a:pt x="2554649" y="0"/>
                </a:lnTo>
                <a:lnTo>
                  <a:pt x="2554649" y="2072915"/>
                </a:lnTo>
                <a:lnTo>
                  <a:pt x="0" y="2072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07871" y="504350"/>
            <a:ext cx="2328845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28279" y="2342357"/>
            <a:ext cx="9618776" cy="248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0" i="0" lang="en-US" sz="15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 con 20 años de trayectoria dedicada a la fabricación, venta e instalación de puertas blindadas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0" i="0" lang="en-US" sz="15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Atiende a clientes residenciales (B2C) y empresariales (B2B).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0" i="0" sz="158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0" i="0" lang="en-US" sz="15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 experimentado un crecimiento sostenido, aumentando la complejidad operativa.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0" i="0" sz="158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b="0" i="0" lang="en-US" sz="158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Empresa con necesidad de implementar una solución tecnológica que permita integrar las distintas áreas de la empresa, optimizar la gestión de la información y mejorar la eficiencia operativa.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0" i="0" sz="158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t/>
            </a:r>
            <a:endParaRPr b="0" i="0" sz="158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96843" y="7649184"/>
            <a:ext cx="6386019" cy="1657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6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1" lang="en-US" sz="18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Proteger lo que más importa, entregando puertas de seguridad de alta calidad, diseñadas para brindar tranquilidad, confianza y durabilidad en cada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1" lang="en-US" sz="18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96843" y="5105400"/>
            <a:ext cx="6403571" cy="1657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1" lang="en-US" sz="18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Convertirnos en la marca de referencia en seguridad para hogares y proyectos en Latinoamérica, reconocida por nuestra innovación, diseño y compromiso con nuestros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28279" y="4926330"/>
            <a:ext cx="160084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96843" y="7649184"/>
            <a:ext cx="110789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228279" y="1694578"/>
            <a:ext cx="4266858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1" lang="en-US" sz="4121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Puertas blindadas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4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699423" y="4185999"/>
            <a:ext cx="2889153" cy="2889153"/>
          </a:xfrm>
          <a:custGeom>
            <a:rect b="b" l="l" r="r" t="t"/>
            <a:pathLst>
              <a:path extrusionOk="0" h="2889153" w="2889153">
                <a:moveTo>
                  <a:pt x="0" y="0"/>
                </a:moveTo>
                <a:lnTo>
                  <a:pt x="2889154" y="0"/>
                </a:lnTo>
                <a:lnTo>
                  <a:pt x="2889154" y="2889154"/>
                </a:lnTo>
                <a:lnTo>
                  <a:pt x="0" y="2889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07871" y="504350"/>
            <a:ext cx="3700451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Problemática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0040437" y="8094328"/>
            <a:ext cx="6406753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Falta de integración entre inventario, finanzas y terreno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3128590" y="3862149"/>
            <a:ext cx="5049887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Procesos manuales y poco estandarizados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458096" y="5947067"/>
            <a:ext cx="4983063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Errores en registros y descontrol de stock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1194256" y="5947067"/>
            <a:ext cx="4979789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Retrasos en pedidos y mala coordinación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507457" y="8253655"/>
            <a:ext cx="6884343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Dificultades en el control financiero y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0792392" y="3865959"/>
            <a:ext cx="2673548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Pérdida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9623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8178478" y="2669619"/>
            <a:ext cx="193104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62330"/>
                </a:solidFill>
                <a:latin typeface="Open Sans"/>
                <a:ea typeface="Open Sans"/>
                <a:cs typeface="Open Sans"/>
                <a:sym typeface="Open Sans"/>
              </a:rPr>
              <a:t>Baja 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5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5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249383" y="290473"/>
            <a:ext cx="8345208" cy="14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Procesos actuales de la empresa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t/>
            </a:r>
            <a:endParaRPr b="0" i="0" sz="412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5" title="Levantamiento de proceso inicial I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89739"/>
            <a:ext cx="17983201" cy="781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6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54" name="Google Shape;154;p6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6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973523" y="3219181"/>
            <a:ext cx="8340953" cy="6276567"/>
          </a:xfrm>
          <a:custGeom>
            <a:rect b="b" l="l" r="r" t="t"/>
            <a:pathLst>
              <a:path extrusionOk="0" h="6276567" w="8340953">
                <a:moveTo>
                  <a:pt x="0" y="0"/>
                </a:moveTo>
                <a:lnTo>
                  <a:pt x="8340954" y="0"/>
                </a:lnTo>
                <a:lnTo>
                  <a:pt x="8340954" y="6276567"/>
                </a:lnTo>
                <a:lnTo>
                  <a:pt x="0" y="6276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07871" y="504350"/>
            <a:ext cx="9342473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interno-externo: Pestel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7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64" name="Google Shape;164;p7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7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41024" y="3196017"/>
            <a:ext cx="8096538" cy="6062283"/>
          </a:xfrm>
          <a:custGeom>
            <a:rect b="b" l="l" r="r" t="t"/>
            <a:pathLst>
              <a:path extrusionOk="0" h="6062283" w="8096538">
                <a:moveTo>
                  <a:pt x="0" y="0"/>
                </a:moveTo>
                <a:lnTo>
                  <a:pt x="8096538" y="0"/>
                </a:lnTo>
                <a:lnTo>
                  <a:pt x="8096538" y="6062283"/>
                </a:lnTo>
                <a:lnTo>
                  <a:pt x="0" y="6062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07871" y="504350"/>
            <a:ext cx="11382020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interno-externo: 5 fuerzas de Porter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8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74" name="Google Shape;174;p8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8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607871" y="504350"/>
            <a:ext cx="10771644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interno-externo: Cadena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248941" y="2423911"/>
            <a:ext cx="9203629" cy="6445301"/>
          </a:xfrm>
          <a:custGeom>
            <a:rect b="b" l="l" r="r" t="t"/>
            <a:pathLst>
              <a:path extrusionOk="0" h="6445301" w="9203629">
                <a:moveTo>
                  <a:pt x="0" y="0"/>
                </a:moveTo>
                <a:lnTo>
                  <a:pt x="9203629" y="0"/>
                </a:lnTo>
                <a:lnTo>
                  <a:pt x="9203629" y="6445301"/>
                </a:lnTo>
                <a:lnTo>
                  <a:pt x="0" y="6445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5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9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9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057500" y="2403094"/>
            <a:ext cx="10173000" cy="7617034"/>
          </a:xfrm>
          <a:custGeom>
            <a:rect b="b" l="l" r="r" t="t"/>
            <a:pathLst>
              <a:path extrusionOk="0" h="7617034" w="10173000">
                <a:moveTo>
                  <a:pt x="0" y="0"/>
                </a:moveTo>
                <a:lnTo>
                  <a:pt x="10173000" y="0"/>
                </a:lnTo>
                <a:lnTo>
                  <a:pt x="10173000" y="7617034"/>
                </a:lnTo>
                <a:lnTo>
                  <a:pt x="0" y="76170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607871" y="504350"/>
            <a:ext cx="7660219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interno-externo: Foda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0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194" name="Google Shape;194;p10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0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0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07871" y="4048817"/>
            <a:ext cx="5695928" cy="3521982"/>
          </a:xfrm>
          <a:custGeom>
            <a:rect b="b" l="l" r="r" t="t"/>
            <a:pathLst>
              <a:path extrusionOk="0" h="3521982" w="5695928">
                <a:moveTo>
                  <a:pt x="0" y="0"/>
                </a:moveTo>
                <a:lnTo>
                  <a:pt x="5695928" y="0"/>
                </a:lnTo>
                <a:lnTo>
                  <a:pt x="5695928" y="3521983"/>
                </a:lnTo>
                <a:lnTo>
                  <a:pt x="0" y="3521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2076666" y="3892372"/>
            <a:ext cx="6154724" cy="3805671"/>
          </a:xfrm>
          <a:custGeom>
            <a:rect b="b" l="l" r="r" t="t"/>
            <a:pathLst>
              <a:path extrusionOk="0" h="3805671" w="6154724">
                <a:moveTo>
                  <a:pt x="0" y="0"/>
                </a:moveTo>
                <a:lnTo>
                  <a:pt x="6154724" y="0"/>
                </a:lnTo>
                <a:lnTo>
                  <a:pt x="6154724" y="3805671"/>
                </a:lnTo>
                <a:lnTo>
                  <a:pt x="0" y="3805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303799" y="4006261"/>
            <a:ext cx="5682371" cy="3513599"/>
          </a:xfrm>
          <a:custGeom>
            <a:rect b="b" l="l" r="r" t="t"/>
            <a:pathLst>
              <a:path extrusionOk="0" h="3513599" w="5682371">
                <a:moveTo>
                  <a:pt x="0" y="0"/>
                </a:moveTo>
                <a:lnTo>
                  <a:pt x="5682371" y="0"/>
                </a:lnTo>
                <a:lnTo>
                  <a:pt x="5682371" y="3513600"/>
                </a:lnTo>
                <a:lnTo>
                  <a:pt x="0" y="351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607871" y="504350"/>
            <a:ext cx="4931779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cuantitativo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t/>
            </a:r>
            <a:endParaRPr b="0" i="0" sz="412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760173" y="7669468"/>
            <a:ext cx="3391325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observa una fuerte dependencia del segmento residencial, que concentra más de la mitad de las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7809356" y="7669468"/>
            <a:ext cx="3642177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Aunque la mayoría de los pedidos se completan, existe una brecha importante en los tiempos de entrega.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13917054" y="7669468"/>
            <a:ext cx="3671188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costos se concentran principalmente en seguros y mantenimiento, siendo los mayores gastos operacionales.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1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09" name="Google Shape;209;p11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1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1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076599" y="1761253"/>
            <a:ext cx="15156883" cy="8525747"/>
          </a:xfrm>
          <a:custGeom>
            <a:rect b="b" l="l" r="r" t="t"/>
            <a:pathLst>
              <a:path extrusionOk="0" h="8525747" w="15156883">
                <a:moveTo>
                  <a:pt x="0" y="0"/>
                </a:moveTo>
                <a:lnTo>
                  <a:pt x="15156883" y="0"/>
                </a:lnTo>
                <a:lnTo>
                  <a:pt x="15156883" y="8525747"/>
                </a:lnTo>
                <a:lnTo>
                  <a:pt x="0" y="8525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607871" y="504350"/>
            <a:ext cx="7145053" cy="14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cualitativo: Ishikawa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t/>
            </a:r>
            <a:endParaRPr b="0" i="0" sz="412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2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19" name="Google Shape;219;p12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2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2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558897" y="5143500"/>
            <a:ext cx="7170207" cy="4436565"/>
          </a:xfrm>
          <a:custGeom>
            <a:rect b="b" l="l" r="r" t="t"/>
            <a:pathLst>
              <a:path extrusionOk="0" h="4436565" w="7170207">
                <a:moveTo>
                  <a:pt x="0" y="0"/>
                </a:moveTo>
                <a:lnTo>
                  <a:pt x="7170206" y="0"/>
                </a:lnTo>
                <a:lnTo>
                  <a:pt x="7170206" y="4436565"/>
                </a:lnTo>
                <a:lnTo>
                  <a:pt x="0" y="4436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607871" y="504350"/>
            <a:ext cx="3482241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4875935" y="2927871"/>
            <a:ext cx="85362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1" i="0" sz="17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8948" lvl="1" marL="37789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lang="en-US"/>
              <a:t>Desarrollar</a:t>
            </a:r>
            <a:r>
              <a:rPr lang="en-US"/>
              <a:t> un sistema de gestión de inventario para controlar la disponibilidad de insumos, la planificación de compras en la empresa Puertas Blindadas.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3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30" name="Google Shape;230;p13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3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3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607871" y="504350"/>
            <a:ext cx="3482241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378524" y="2201118"/>
            <a:ext cx="15047378" cy="7982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el análisis interno y externo de la organización con el propósito de comprender su funcionamiento, contexto y necesidades operativas.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Construir el levantamiento de procesos inicial con el propósito de identificar y documentar el flujo actual de gestión de inventario, pedidos y logística.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Analizar cuantitativa y cualitativamente los procesos levantados con el fin de identificar ineficiencias, problemáticas y oportunidades de mejora en la gestión de insumos.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Definir los requerimientos del sistema con el propósito de establecer las funcionalidades y restricciones necesarias para satisfacer las necesidades de la organización.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Plantear los requerimientos de usuario con el fin de representar las necesidades y expectativas de los distintos perfiles que interactúan con el sistema.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Generar los requerimientos funcionales y no funcionales del sistema con el propósito de formalizar el comportamiento y las características de calidad de la solución.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Elaborar los casos de uso extendidos con el propósito de representar las interacciones entre los usuarios y el sistema.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Diseñar la arquitectura y la solución del sistema basada en la metodología Scrum++ con el propósito de asegurar la trazabilidad y organización del desarrollo.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Desarrollar el sistema de gestión de inventario y pedidos con el propósito de implementar una solución que permita controlar los insumos y mejorar la planificación operativa.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Verificar el sistema desarrollado con el propósito de comprobar su correcto funcionamiento y su cumplimiento con los requerimientos definidos, considerando estándares de calidad como ISO/IEC 25010.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Validar el sistema con los usuarios con el propósito de asegurar que la solución satisface las necesidades reales de la organización.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Establecer una evaluación de costos y beneficios con el propósito de determinar el impacto y aporte de la solución implementada.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5829" lvl="1" marL="311659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Char char="•"/>
            </a:pPr>
            <a:r>
              <a:rPr b="0" i="0" lang="en-US" sz="144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Construir el levantamiento de procesos final con el propósito de evidenciar las mejoras generadas por el sistema en la organización.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378524" y="1723153"/>
            <a:ext cx="17712187" cy="323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Objetivos especificos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4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41" name="Google Shape;241;p14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4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4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10628143" y="2661460"/>
            <a:ext cx="7217733" cy="6141332"/>
          </a:xfrm>
          <a:custGeom>
            <a:rect b="b" l="l" r="r" t="t"/>
            <a:pathLst>
              <a:path extrusionOk="0" h="6141332" w="7217733">
                <a:moveTo>
                  <a:pt x="0" y="0"/>
                </a:moveTo>
                <a:lnTo>
                  <a:pt x="7217733" y="0"/>
                </a:lnTo>
                <a:lnTo>
                  <a:pt x="7217733" y="6141333"/>
                </a:lnTo>
                <a:lnTo>
                  <a:pt x="0" y="6141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6724" r="-672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607871" y="504350"/>
            <a:ext cx="4292736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436394" y="6886575"/>
            <a:ext cx="54300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83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Requerimientos funcionales (FR)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 Requerimientos no funcionales (NFR)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latin typeface="Open Sans"/>
                <a:ea typeface="Open Sans"/>
                <a:cs typeface="Open Sans"/>
                <a:sym typeface="Open Sans"/>
              </a:rPr>
              <a:t>83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Requerimientos de usuario (UR)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436394" y="2186940"/>
            <a:ext cx="9684341" cy="3699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requerimientos definen las funcionalidades y condiciones necesarias que debe cumplir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clasifican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 funcionales (RF):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describen lo que el sistema debe hacer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 no funcionales (RNF):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establecen condiciones de funcionamiento (rendimiento, seguridad,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Fueron definidos en base al análisis de la problemática y las necesidades del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5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53" name="Google Shape;253;p15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5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5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607871" y="4796155"/>
            <a:ext cx="7103195" cy="165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FR-01: El sistema debe permitir crear productos con identificador único.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FR-29: El sistema debe aplicar valorización FIFO.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1" i="0" sz="18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7118505" y="4366118"/>
            <a:ext cx="2554890" cy="2554890"/>
          </a:xfrm>
          <a:custGeom>
            <a:rect b="b" l="l" r="r" t="t"/>
            <a:pathLst>
              <a:path extrusionOk="0" h="2554890" w="2554890">
                <a:moveTo>
                  <a:pt x="0" y="0"/>
                </a:moveTo>
                <a:lnTo>
                  <a:pt x="2554889" y="0"/>
                </a:lnTo>
                <a:lnTo>
                  <a:pt x="2554889" y="2554889"/>
                </a:lnTo>
                <a:lnTo>
                  <a:pt x="0" y="2554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607871" y="504350"/>
            <a:ext cx="10077273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Traza de requerimientos a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10570938" y="4796155"/>
            <a:ext cx="7103195" cy="276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 1.1: Creando productos con identificadores únicos.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0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gerencia, quiero registrar nuevos productos en el sistema asignándoles un código SKU único a cada uno, para identificarlos de manera exacta y evitar duplicidades o errores en la gestión del stock”.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 5.1: Aplicación de método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“Como Gerencia, quiero que el sistema descuente lotes antiguos primero, para reflejar el costo real del inventario y las salidas”.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4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607871" y="3478532"/>
            <a:ext cx="5662464" cy="537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10570938" y="3478532"/>
            <a:ext cx="5491162" cy="537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6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67" name="Google Shape;267;p16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6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6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7866555" y="4366118"/>
            <a:ext cx="2554890" cy="2554890"/>
          </a:xfrm>
          <a:custGeom>
            <a:rect b="b" l="l" r="r" t="t"/>
            <a:pathLst>
              <a:path extrusionOk="0" h="2554890" w="2554890">
                <a:moveTo>
                  <a:pt x="0" y="0"/>
                </a:moveTo>
                <a:lnTo>
                  <a:pt x="2554890" y="0"/>
                </a:lnTo>
                <a:lnTo>
                  <a:pt x="2554890" y="2554889"/>
                </a:lnTo>
                <a:lnTo>
                  <a:pt x="0" y="2554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10955309" y="4156567"/>
            <a:ext cx="7103195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1.1: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5" lvl="1" marL="410209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CU-01: Registrando producto con SKU único.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5" lvl="1" marL="410209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CU-02: Buscando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5" lvl="1" marL="410209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CU-03: Consultando ficha de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5" lvl="1" marL="410209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CU-04: Eliminando producto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5.1: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5" lvl="1" marL="410209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CU-36: Aplicando método FIFO.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607871" y="504350"/>
            <a:ext cx="10077273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Traza de requerimientos a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402978" y="4328018"/>
            <a:ext cx="7103195" cy="276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 1.1: Creando productos con identificadores únicos.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0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gerencia, quiero registrar nuevos productos en el sistema asignándoles un código SKU único a cada uno, para identificarlos de manera exacta y evitar duplicidades o errores en la gestión del stock”.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 5.1: Aplicación de método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“Como Gerencia, quiero que el sistema descuente lotes antiguos primero, para reflejar el costo real del inventario y las salidas”.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64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13439812" y="3322463"/>
            <a:ext cx="1937296" cy="537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Casos  CU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468228" y="3160076"/>
            <a:ext cx="54912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7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7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4018323" y="1761253"/>
            <a:ext cx="9381840" cy="8525747"/>
          </a:xfrm>
          <a:custGeom>
            <a:rect b="b" l="l" r="r" t="t"/>
            <a:pathLst>
              <a:path extrusionOk="0" h="8525747" w="9381840">
                <a:moveTo>
                  <a:pt x="0" y="0"/>
                </a:moveTo>
                <a:lnTo>
                  <a:pt x="9381840" y="0"/>
                </a:lnTo>
                <a:lnTo>
                  <a:pt x="9381840" y="8525747"/>
                </a:lnTo>
                <a:lnTo>
                  <a:pt x="0" y="8525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607871" y="504350"/>
            <a:ext cx="7051534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Diagramas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8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291" name="Google Shape;291;p18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8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3345064" y="1761253"/>
            <a:ext cx="10189622" cy="8525747"/>
          </a:xfrm>
          <a:custGeom>
            <a:rect b="b" l="l" r="r" t="t"/>
            <a:pathLst>
              <a:path extrusionOk="0" h="8525747" w="10189622">
                <a:moveTo>
                  <a:pt x="0" y="0"/>
                </a:moveTo>
                <a:lnTo>
                  <a:pt x="10189621" y="0"/>
                </a:lnTo>
                <a:lnTo>
                  <a:pt x="10189621" y="8525747"/>
                </a:lnTo>
                <a:lnTo>
                  <a:pt x="0" y="8525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607871" y="504350"/>
            <a:ext cx="7051534" cy="6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1"/>
              <a:buFont typeface="Arial"/>
              <a:buNone/>
            </a:pPr>
            <a:r>
              <a:rPr b="0" i="0" lang="en-US" sz="412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Diagramas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9"/>
          <p:cNvGrpSpPr/>
          <p:nvPr/>
        </p:nvGrpSpPr>
        <p:grpSpPr>
          <a:xfrm>
            <a:off x="0" y="-144661"/>
            <a:ext cx="14237009" cy="1905914"/>
            <a:chOff x="0" y="-38100"/>
            <a:chExt cx="3749665" cy="501969"/>
          </a:xfrm>
        </p:grpSpPr>
        <p:sp>
          <p:nvSpPr>
            <p:cNvPr id="301" name="Google Shape;301;p19"/>
            <p:cNvSpPr/>
            <p:nvPr/>
          </p:nvSpPr>
          <p:spPr>
            <a:xfrm>
              <a:off x="0" y="0"/>
              <a:ext cx="3749665" cy="463869"/>
            </a:xfrm>
            <a:custGeom>
              <a:rect b="b" l="l" r="r" t="t"/>
              <a:pathLst>
                <a:path extrusionOk="0" h="463869" w="3749665">
                  <a:moveTo>
                    <a:pt x="0" y="0"/>
                  </a:moveTo>
                  <a:lnTo>
                    <a:pt x="3749665" y="0"/>
                  </a:lnTo>
                  <a:lnTo>
                    <a:pt x="3749665" y="463869"/>
                  </a:lnTo>
                  <a:lnTo>
                    <a:pt x="0" y="463869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-38100"/>
              <a:ext cx="3749665" cy="50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9"/>
          <p:cNvSpPr/>
          <p:nvPr/>
        </p:nvSpPr>
        <p:spPr>
          <a:xfrm>
            <a:off x="14408460" y="263595"/>
            <a:ext cx="3650044" cy="1234062"/>
          </a:xfrm>
          <a:custGeom>
            <a:rect b="b" l="l" r="r" t="t"/>
            <a:pathLst>
              <a:path extrusionOk="0" h="1234062" w="3650044">
                <a:moveTo>
                  <a:pt x="0" y="0"/>
                </a:moveTo>
                <a:lnTo>
                  <a:pt x="3650044" y="0"/>
                </a:lnTo>
                <a:lnTo>
                  <a:pt x="3650044" y="1234063"/>
                </a:lnTo>
                <a:lnTo>
                  <a:pt x="0" y="123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2295079" y="4274503"/>
            <a:ext cx="13697843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silvio villagra</dc:creator>
</cp:coreProperties>
</file>